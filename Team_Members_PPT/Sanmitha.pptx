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06" r:id="rId1"/>
  </p:sldMasterIdLst>
  <p:sldIdLst>
    <p:sldId id="256" r:id="rId2"/>
    <p:sldId id="257" r:id="rId3"/>
    <p:sldId id="258" r:id="rId4"/>
    <p:sldId id="259" r:id="rId5"/>
    <p:sldId id="260" r:id="rId6"/>
    <p:sldId id="261" r:id="rId7"/>
    <p:sldId id="262" r:id="rId8"/>
    <p:sldId id="263" r:id="rId9"/>
    <p:sldId id="264" r:id="rId10"/>
    <p:sldId id="267" r:id="rId11"/>
    <p:sldId id="268" r:id="rId12"/>
    <p:sldId id="270" r:id="rId13"/>
    <p:sldId id="269" r:id="rId14"/>
    <p:sldId id="271" r:id="rId15"/>
    <p:sldId id="272" r:id="rId16"/>
    <p:sldId id="274" r:id="rId17"/>
    <p:sldId id="273" r:id="rId18"/>
    <p:sldId id="265" r:id="rId19"/>
    <p:sldId id="266" r:id="rId20"/>
  </p:sldIdLst>
  <p:sldSz cx="18288000" cy="10287000"/>
  <p:notesSz cx="6858000" cy="9144000"/>
  <p:embeddedFontLst>
    <p:embeddedFont>
      <p:font typeface="Canva Sans" panose="020B0604020202020204" charset="0"/>
      <p:regular r:id="rId21"/>
    </p:embeddedFont>
    <p:embeddedFont>
      <p:font typeface="Canva Sans Bold" panose="020B0604020202020204" charset="0"/>
      <p:regular r:id="rId22"/>
    </p:embeddedFont>
    <p:embeddedFont>
      <p:font typeface="Inter Medium" panose="020B0604020202020204" charset="0"/>
      <p:regular r:id="rId23"/>
    </p:embeddedFont>
    <p:embeddedFont>
      <p:font typeface="Trebuchet MS" panose="020B0603020202020204" pitchFamily="34" charset="0"/>
      <p:regular r:id="rId24"/>
      <p:bold r:id="rId25"/>
      <p:italic r:id="rId26"/>
      <p:boldItalic r:id="rId27"/>
    </p:embeddedFont>
    <p:embeddedFont>
      <p:font typeface="Wingdings 3" panose="05040102010807070707" pitchFamily="18" charset="2"/>
      <p:regular r:id="rId2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2260601" y="3606801"/>
            <a:ext cx="11650404" cy="2469453"/>
          </a:xfrm>
        </p:spPr>
        <p:txBody>
          <a:bodyPr anchor="b">
            <a:noAutofit/>
          </a:bodyPr>
          <a:lstStyle>
            <a:lvl1pPr algn="r">
              <a:defRPr sz="81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2260601" y="6076250"/>
            <a:ext cx="11650404" cy="1645349"/>
          </a:xfrm>
        </p:spPr>
        <p:txBody>
          <a:bodyPr anchor="t"/>
          <a:lstStyle>
            <a:lvl1pPr marL="0" indent="0" algn="r">
              <a:buNone/>
              <a:defRPr>
                <a:solidFill>
                  <a:schemeClr val="tx1">
                    <a:lumMod val="50000"/>
                    <a:lumOff val="50000"/>
                  </a:schemeClr>
                </a:solidFill>
              </a:defRPr>
            </a:lvl1pPr>
            <a:lvl2pPr marL="685800" indent="0" algn="ctr">
              <a:buNone/>
              <a:defRPr>
                <a:solidFill>
                  <a:schemeClr val="tx1">
                    <a:tint val="75000"/>
                  </a:schemeClr>
                </a:solidFill>
              </a:defRPr>
            </a:lvl2pPr>
            <a:lvl3pPr marL="1371600" indent="0" algn="ctr">
              <a:buNone/>
              <a:defRPr>
                <a:solidFill>
                  <a:schemeClr val="tx1">
                    <a:tint val="75000"/>
                  </a:schemeClr>
                </a:solidFill>
              </a:defRPr>
            </a:lvl3pPr>
            <a:lvl4pPr marL="2057400" indent="0" algn="ctr">
              <a:buNone/>
              <a:defRPr>
                <a:solidFill>
                  <a:schemeClr val="tx1">
                    <a:tint val="75000"/>
                  </a:schemeClr>
                </a:solidFill>
              </a:defRPr>
            </a:lvl4pPr>
            <a:lvl5pPr marL="2743200" indent="0" algn="ctr">
              <a:buNone/>
              <a:defRPr>
                <a:solidFill>
                  <a:schemeClr val="tx1">
                    <a:tint val="75000"/>
                  </a:schemeClr>
                </a:solidFill>
              </a:defRPr>
            </a:lvl5pPr>
            <a:lvl6pPr marL="3429000" indent="0" algn="ctr">
              <a:buNone/>
              <a:defRPr>
                <a:solidFill>
                  <a:schemeClr val="tx1">
                    <a:tint val="75000"/>
                  </a:schemeClr>
                </a:solidFill>
              </a:defRPr>
            </a:lvl6pPr>
            <a:lvl7pPr marL="4114800" indent="0" algn="ctr">
              <a:buNone/>
              <a:defRPr>
                <a:solidFill>
                  <a:schemeClr val="tx1">
                    <a:tint val="75000"/>
                  </a:schemeClr>
                </a:solidFill>
              </a:defRPr>
            </a:lvl7pPr>
            <a:lvl8pPr marL="4800600" indent="0" algn="ctr">
              <a:buNone/>
              <a:defRPr>
                <a:solidFill>
                  <a:schemeClr val="tx1">
                    <a:tint val="75000"/>
                  </a:schemeClr>
                </a:solidFill>
              </a:defRPr>
            </a:lvl8pPr>
            <a:lvl9pPr marL="54864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57446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397232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6003" y="4051301"/>
            <a:ext cx="12895002" cy="2739872"/>
          </a:xfrm>
        </p:spPr>
        <p:txBody>
          <a:bodyPr anchor="b"/>
          <a:lstStyle>
            <a:lvl1pPr algn="l">
              <a:defRPr sz="60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1290600"/>
          </a:xfrm>
        </p:spPr>
        <p:txBody>
          <a:bodyPr anchor="t"/>
          <a:lstStyle>
            <a:lvl1pPr marL="0" indent="0" algn="l">
              <a:buNone/>
              <a:defRPr sz="30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34305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16002" y="3240884"/>
            <a:ext cx="6276053" cy="58211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34955" y="3240884"/>
            <a:ext cx="6276051" cy="5821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pPr/>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4016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13618" y="3241475"/>
            <a:ext cx="6278435"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013618" y="4105868"/>
            <a:ext cx="6278435"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32575" y="3241475"/>
            <a:ext cx="6278427"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7632577" y="4105868"/>
            <a:ext cx="6278426"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pPr/>
              <a:t>8/11/2026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752298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16001" y="914400"/>
            <a:ext cx="12895002" cy="19812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8/11/2026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223532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628937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1" y="2247906"/>
            <a:ext cx="5781792" cy="1917699"/>
          </a:xfrm>
        </p:spPr>
        <p:txBody>
          <a:bodyPr anchor="b">
            <a:normAutofit/>
          </a:bodyPr>
          <a:lstStyle>
            <a:lvl1pPr>
              <a:defRPr sz="3000"/>
            </a:lvl1pPr>
          </a:lstStyle>
          <a:p>
            <a:r>
              <a:rPr lang="en-US"/>
              <a:t>Click to edit Master title style</a:t>
            </a:r>
            <a:endParaRPr lang="en-US" dirty="0"/>
          </a:p>
        </p:txBody>
      </p:sp>
      <p:sp>
        <p:nvSpPr>
          <p:cNvPr id="3" name="Content Placeholder 2"/>
          <p:cNvSpPr>
            <a:spLocks noGrp="1"/>
          </p:cNvSpPr>
          <p:nvPr>
            <p:ph idx="1"/>
          </p:nvPr>
        </p:nvSpPr>
        <p:spPr>
          <a:xfrm>
            <a:off x="7140692" y="772387"/>
            <a:ext cx="6770312" cy="828965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16001" y="4165604"/>
            <a:ext cx="5781792" cy="3876674"/>
          </a:xfrm>
        </p:spPr>
        <p:txBody>
          <a:bodyPr>
            <a:normAutofit/>
          </a:bodyPr>
          <a:lstStyle>
            <a:lvl1pPr marL="0" indent="0">
              <a:buNone/>
              <a:defRPr sz="2100"/>
            </a:lvl1pPr>
            <a:lvl2pPr marL="685595" indent="0">
              <a:buNone/>
              <a:defRPr sz="2100"/>
            </a:lvl2pPr>
            <a:lvl3pPr marL="1371189" indent="0">
              <a:buNone/>
              <a:defRPr sz="1800"/>
            </a:lvl3pPr>
            <a:lvl4pPr marL="2056784" indent="0">
              <a:buNone/>
              <a:defRPr sz="1500"/>
            </a:lvl4pPr>
            <a:lvl5pPr marL="2742377" indent="0">
              <a:buNone/>
              <a:defRPr sz="1500"/>
            </a:lvl5pPr>
            <a:lvl6pPr marL="3427971" indent="0">
              <a:buNone/>
              <a:defRPr sz="1500"/>
            </a:lvl6pPr>
            <a:lvl7pPr marL="4113566" indent="0">
              <a:buNone/>
              <a:defRPr sz="1500"/>
            </a:lvl7pPr>
            <a:lvl8pPr marL="4799160" indent="0">
              <a:buNone/>
              <a:defRPr sz="1500"/>
            </a:lvl8pPr>
            <a:lvl9pPr marL="5484755"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494108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2" y="7200900"/>
            <a:ext cx="12895001" cy="85010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16001" y="914400"/>
            <a:ext cx="12895002" cy="5768577"/>
          </a:xfrm>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4" name="Text Placeholder 3"/>
          <p:cNvSpPr>
            <a:spLocks noGrp="1"/>
          </p:cNvSpPr>
          <p:nvPr>
            <p:ph type="body" sz="half" idx="2"/>
          </p:nvPr>
        </p:nvSpPr>
        <p:spPr>
          <a:xfrm>
            <a:off x="1016002" y="8051007"/>
            <a:ext cx="12895001" cy="1011036"/>
          </a:xfrm>
        </p:spPr>
        <p:txBody>
          <a:bodyPr>
            <a:normAutofit/>
          </a:bodyPr>
          <a:lstStyle>
            <a:lvl1pPr marL="0" indent="0">
              <a:buNone/>
              <a:defRPr sz="18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55451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3" y="914400"/>
            <a:ext cx="12895002" cy="5105400"/>
          </a:xfrm>
        </p:spPr>
        <p:txBody>
          <a:bodyPr anchor="ctr">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797663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2049209" y="5448300"/>
            <a:ext cx="10836786" cy="571500"/>
          </a:xfrm>
        </p:spPr>
        <p:txBody>
          <a:bodyPr anchor="ctr">
            <a:noAutofit/>
          </a:bodyPr>
          <a:lstStyle>
            <a:lvl1pPr marL="0" indent="0">
              <a:buFontTx/>
              <a:buNone/>
              <a:defRPr sz="2400">
                <a:solidFill>
                  <a:schemeClr val="tx1">
                    <a:lumMod val="50000"/>
                    <a:lumOff val="50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0" name="TextBox 19"/>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latin typeface="Arial"/>
              </a:rPr>
              <a:t>”</a:t>
            </a:r>
            <a:endParaRPr lang="en-US" sz="2700" dirty="0">
              <a:solidFill>
                <a:schemeClr val="accent1">
                  <a:lumMod val="60000"/>
                  <a:lumOff val="40000"/>
                </a:schemeClr>
              </a:solidFill>
              <a:latin typeface="Arial"/>
            </a:endParaRPr>
          </a:p>
        </p:txBody>
      </p:sp>
    </p:spTree>
    <p:extLst>
      <p:ext uri="{BB962C8B-B14F-4D97-AF65-F5344CB8AC3E}">
        <p14:creationId xmlns:p14="http://schemas.microsoft.com/office/powerpoint/2010/main" val="1530136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016003" y="2897982"/>
            <a:ext cx="12895002" cy="3893190"/>
          </a:xfrm>
        </p:spPr>
        <p:txBody>
          <a:bodyPr anchor="b">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282682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tx1">
                    <a:lumMod val="75000"/>
                    <a:lumOff val="25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4" name="TextBox 23"/>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769054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028699" y="914400"/>
            <a:ext cx="12882305"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accent1"/>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296474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928907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951510" y="914399"/>
            <a:ext cx="1957115" cy="787717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1016003" y="914400"/>
            <a:ext cx="10590225" cy="78771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963012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1016001" y="914400"/>
            <a:ext cx="12895002" cy="19812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16001" y="3240884"/>
            <a:ext cx="12895002" cy="5821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807700" y="9062044"/>
            <a:ext cx="1367909" cy="547688"/>
          </a:xfrm>
          <a:prstGeom prst="rect">
            <a:avLst/>
          </a:prstGeom>
        </p:spPr>
        <p:txBody>
          <a:bodyPr vert="horz" lIns="91440" tIns="45720" rIns="91440" bIns="45720" rtlCol="0" anchor="ctr"/>
          <a:lstStyle>
            <a:lvl1pPr algn="r">
              <a:defRPr sz="1350">
                <a:solidFill>
                  <a:schemeClr val="tx1">
                    <a:tint val="75000"/>
                  </a:schemeClr>
                </a:solidFill>
              </a:defRPr>
            </a:lvl1pPr>
          </a:lstStyle>
          <a:p>
            <a:fld id="{1D8BD707-D9CF-40AE-B4C6-C98DA3205C09}" type="datetimeFigureOut">
              <a:rPr lang="en-US" smtClean="0"/>
              <a:pPr/>
              <a:t>8/11/2026</a:t>
            </a:fld>
            <a:endParaRPr lang="en-US"/>
          </a:p>
        </p:txBody>
      </p:sp>
      <p:sp>
        <p:nvSpPr>
          <p:cNvPr id="5" name="Footer Placeholder 4"/>
          <p:cNvSpPr>
            <a:spLocks noGrp="1"/>
          </p:cNvSpPr>
          <p:nvPr>
            <p:ph type="ftr" sz="quarter" idx="3"/>
          </p:nvPr>
        </p:nvSpPr>
        <p:spPr>
          <a:xfrm>
            <a:off x="1016001" y="9062044"/>
            <a:ext cx="9446418" cy="547688"/>
          </a:xfrm>
          <a:prstGeom prst="rect">
            <a:avLst/>
          </a:prstGeom>
        </p:spPr>
        <p:txBody>
          <a:bodyPr vert="horz" lIns="91440" tIns="45720" rIns="91440" bIns="45720" rtlCol="0" anchor="ctr"/>
          <a:lstStyle>
            <a:lvl1pPr algn="l">
              <a:defRPr sz="13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2885995" y="9062044"/>
            <a:ext cx="1025009" cy="547688"/>
          </a:xfrm>
          <a:prstGeom prst="rect">
            <a:avLst/>
          </a:prstGeom>
        </p:spPr>
        <p:txBody>
          <a:bodyPr vert="horz" lIns="91440" tIns="45720" rIns="91440" bIns="45720" rtlCol="0" anchor="ctr"/>
          <a:lstStyle>
            <a:lvl1pPr algn="r">
              <a:defRPr sz="1350">
                <a:solidFill>
                  <a:schemeClr val="accent1"/>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33204539"/>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 id="2147483720" r:id="rId14"/>
    <p:sldLayoutId id="2147483721" r:id="rId15"/>
    <p:sldLayoutId id="2147483722" r:id="rId16"/>
  </p:sldLayoutIdLst>
  <p:txStyles>
    <p:titleStyle>
      <a:lvl1pPr algn="l" defTabSz="6858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514350" indent="-514350" algn="l" defTabSz="685800" rtl="0" eaLnBrk="1" latinLnBrk="0" hangingPunct="1">
        <a:spcBef>
          <a:spcPts val="1500"/>
        </a:spcBef>
        <a:spcAft>
          <a:spcPts val="0"/>
        </a:spcAft>
        <a:buClr>
          <a:schemeClr val="accent1"/>
        </a:buClr>
        <a:buSzPct val="80000"/>
        <a:buFont typeface="Wingdings 3" charset="2"/>
        <a:buChar char=""/>
        <a:defRPr sz="2700" kern="1200">
          <a:solidFill>
            <a:schemeClr val="tx1">
              <a:lumMod val="75000"/>
              <a:lumOff val="25000"/>
            </a:schemeClr>
          </a:solidFill>
          <a:latin typeface="+mn-lt"/>
          <a:ea typeface="+mn-ea"/>
          <a:cs typeface="+mn-cs"/>
        </a:defRPr>
      </a:lvl1pPr>
      <a:lvl2pPr marL="1114425" indent="-428625" algn="l" defTabSz="685800" rtl="0" eaLnBrk="1" latinLnBrk="0" hangingPunct="1">
        <a:spcBef>
          <a:spcPts val="1500"/>
        </a:spcBef>
        <a:spcAft>
          <a:spcPts val="0"/>
        </a:spcAft>
        <a:buClr>
          <a:schemeClr val="accent1"/>
        </a:buClr>
        <a:buSzPct val="80000"/>
        <a:buFont typeface="Wingdings 3" charset="2"/>
        <a:buChar char=""/>
        <a:defRPr sz="2400" kern="1200">
          <a:solidFill>
            <a:schemeClr val="tx1">
              <a:lumMod val="75000"/>
              <a:lumOff val="25000"/>
            </a:schemeClr>
          </a:solidFill>
          <a:latin typeface="+mn-lt"/>
          <a:ea typeface="+mn-ea"/>
          <a:cs typeface="+mn-cs"/>
        </a:defRPr>
      </a:lvl2pPr>
      <a:lvl3pPr marL="1714500" indent="-342900" algn="l" defTabSz="685800" rtl="0" eaLnBrk="1" latinLnBrk="0" hangingPunct="1">
        <a:spcBef>
          <a:spcPts val="1500"/>
        </a:spcBef>
        <a:spcAft>
          <a:spcPts val="0"/>
        </a:spcAft>
        <a:buClr>
          <a:schemeClr val="accent1"/>
        </a:buClr>
        <a:buSzPct val="80000"/>
        <a:buFont typeface="Wingdings 3" charset="2"/>
        <a:buChar char=""/>
        <a:defRPr sz="2100" kern="1200">
          <a:solidFill>
            <a:schemeClr val="tx1">
              <a:lumMod val="75000"/>
              <a:lumOff val="25000"/>
            </a:schemeClr>
          </a:solidFill>
          <a:latin typeface="+mn-lt"/>
          <a:ea typeface="+mn-ea"/>
          <a:cs typeface="+mn-cs"/>
        </a:defRPr>
      </a:lvl3pPr>
      <a:lvl4pPr marL="2400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4pPr>
      <a:lvl5pPr marL="30861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5pPr>
      <a:lvl6pPr marL="37719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6pPr>
      <a:lvl7pPr marL="44577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7pPr>
      <a:lvl8pPr marL="51435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8pPr>
      <a:lvl9pPr marL="5829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2700" kern="1200">
          <a:solidFill>
            <a:schemeClr val="tx1"/>
          </a:solidFill>
          <a:latin typeface="+mn-lt"/>
          <a:ea typeface="+mn-ea"/>
          <a:cs typeface="+mn-cs"/>
        </a:defRPr>
      </a:lvl1pPr>
      <a:lvl2pPr marL="685800" algn="l" defTabSz="685800" rtl="0" eaLnBrk="1" latinLnBrk="0" hangingPunct="1">
        <a:defRPr sz="2700" kern="1200">
          <a:solidFill>
            <a:schemeClr val="tx1"/>
          </a:solidFill>
          <a:latin typeface="+mn-lt"/>
          <a:ea typeface="+mn-ea"/>
          <a:cs typeface="+mn-cs"/>
        </a:defRPr>
      </a:lvl2pPr>
      <a:lvl3pPr marL="1371600" algn="l" defTabSz="685800" rtl="0" eaLnBrk="1" latinLnBrk="0" hangingPunct="1">
        <a:defRPr sz="2700" kern="1200">
          <a:solidFill>
            <a:schemeClr val="tx1"/>
          </a:solidFill>
          <a:latin typeface="+mn-lt"/>
          <a:ea typeface="+mn-ea"/>
          <a:cs typeface="+mn-cs"/>
        </a:defRPr>
      </a:lvl3pPr>
      <a:lvl4pPr marL="2057400" algn="l" defTabSz="685800" rtl="0" eaLnBrk="1" latinLnBrk="0" hangingPunct="1">
        <a:defRPr sz="2700" kern="1200">
          <a:solidFill>
            <a:schemeClr val="tx1"/>
          </a:solidFill>
          <a:latin typeface="+mn-lt"/>
          <a:ea typeface="+mn-ea"/>
          <a:cs typeface="+mn-cs"/>
        </a:defRPr>
      </a:lvl4pPr>
      <a:lvl5pPr marL="2743200" algn="l" defTabSz="685800" rtl="0" eaLnBrk="1" latinLnBrk="0" hangingPunct="1">
        <a:defRPr sz="2700" kern="1200">
          <a:solidFill>
            <a:schemeClr val="tx1"/>
          </a:solidFill>
          <a:latin typeface="+mn-lt"/>
          <a:ea typeface="+mn-ea"/>
          <a:cs typeface="+mn-cs"/>
        </a:defRPr>
      </a:lvl5pPr>
      <a:lvl6pPr marL="3429000" algn="l" defTabSz="685800" rtl="0" eaLnBrk="1" latinLnBrk="0" hangingPunct="1">
        <a:defRPr sz="2700" kern="1200">
          <a:solidFill>
            <a:schemeClr val="tx1"/>
          </a:solidFill>
          <a:latin typeface="+mn-lt"/>
          <a:ea typeface="+mn-ea"/>
          <a:cs typeface="+mn-cs"/>
        </a:defRPr>
      </a:lvl6pPr>
      <a:lvl7pPr marL="4114800" algn="l" defTabSz="685800" rtl="0" eaLnBrk="1" latinLnBrk="0" hangingPunct="1">
        <a:defRPr sz="2700" kern="1200">
          <a:solidFill>
            <a:schemeClr val="tx1"/>
          </a:solidFill>
          <a:latin typeface="+mn-lt"/>
          <a:ea typeface="+mn-ea"/>
          <a:cs typeface="+mn-cs"/>
        </a:defRPr>
      </a:lvl7pPr>
      <a:lvl8pPr marL="4800600" algn="l" defTabSz="685800" rtl="0" eaLnBrk="1" latinLnBrk="0" hangingPunct="1">
        <a:defRPr sz="2700" kern="1200">
          <a:solidFill>
            <a:schemeClr val="tx1"/>
          </a:solidFill>
          <a:latin typeface="+mn-lt"/>
          <a:ea typeface="+mn-ea"/>
          <a:cs typeface="+mn-cs"/>
        </a:defRPr>
      </a:lvl8pPr>
      <a:lvl9pPr marL="5486400" algn="l" defTabSz="6858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401574" y="1526014"/>
            <a:ext cx="14870584" cy="1044275"/>
          </a:xfrm>
          <a:prstGeom prst="rect">
            <a:avLst/>
          </a:prstGeom>
        </p:spPr>
        <p:txBody>
          <a:bodyPr lIns="0" tIns="0" rIns="0" bIns="0" rtlCol="0" anchor="t">
            <a:spAutoFit/>
          </a:bodyPr>
          <a:lstStyle/>
          <a:p>
            <a:pPr algn="ctr">
              <a:lnSpc>
                <a:spcPts val="8591"/>
              </a:lnSpc>
              <a:spcBef>
                <a:spcPct val="0"/>
              </a:spcBef>
            </a:pPr>
            <a:r>
              <a:rPr lang="en-US" sz="6136">
                <a:solidFill>
                  <a:srgbClr val="004AAD"/>
                </a:solidFill>
                <a:latin typeface="Canva Sans"/>
                <a:ea typeface="Canva Sans"/>
                <a:cs typeface="Canva Sans"/>
                <a:sym typeface="Canva Sans"/>
              </a:rPr>
              <a:t>Supply Chain Visibility &amp; Optimization</a:t>
            </a:r>
          </a:p>
        </p:txBody>
      </p:sp>
      <p:sp>
        <p:nvSpPr>
          <p:cNvPr id="3" name="TextBox 3"/>
          <p:cNvSpPr txBox="1"/>
          <p:nvPr/>
        </p:nvSpPr>
        <p:spPr>
          <a:xfrm>
            <a:off x="4435919" y="2917410"/>
            <a:ext cx="9416162" cy="522108"/>
          </a:xfrm>
          <a:prstGeom prst="rect">
            <a:avLst/>
          </a:prstGeom>
        </p:spPr>
        <p:txBody>
          <a:bodyPr lIns="0" tIns="0" rIns="0" bIns="0" rtlCol="0" anchor="t">
            <a:spAutoFit/>
          </a:bodyPr>
          <a:lstStyle/>
          <a:p>
            <a:pPr algn="ctr">
              <a:lnSpc>
                <a:spcPts val="4297"/>
              </a:lnSpc>
              <a:spcBef>
                <a:spcPct val="0"/>
              </a:spcBef>
            </a:pPr>
            <a:r>
              <a:rPr lang="en-US" sz="3069">
                <a:solidFill>
                  <a:srgbClr val="38B6FF"/>
                </a:solidFill>
                <a:latin typeface="Canva Sans"/>
                <a:ea typeface="Canva Sans"/>
                <a:cs typeface="Canva Sans"/>
                <a:sym typeface="Canva Sans"/>
              </a:rPr>
              <a:t>Infosys Springboard Virtual Internship 7.0</a:t>
            </a:r>
          </a:p>
        </p:txBody>
      </p:sp>
      <p:sp>
        <p:nvSpPr>
          <p:cNvPr id="4" name="TextBox 4"/>
          <p:cNvSpPr txBox="1"/>
          <p:nvPr/>
        </p:nvSpPr>
        <p:spPr>
          <a:xfrm>
            <a:off x="5715000" y="3768973"/>
            <a:ext cx="4982371" cy="1384995"/>
          </a:xfrm>
          <a:prstGeom prst="rect">
            <a:avLst/>
          </a:prstGeom>
        </p:spPr>
        <p:txBody>
          <a:bodyPr wrap="square" lIns="0" tIns="0" rIns="0" bIns="0" rtlCol="0" anchor="t">
            <a:spAutoFit/>
          </a:bodyPr>
          <a:lstStyle/>
          <a:p>
            <a:pPr algn="ctr">
              <a:lnSpc>
                <a:spcPts val="3639"/>
              </a:lnSpc>
              <a:spcBef>
                <a:spcPct val="0"/>
              </a:spcBef>
            </a:pPr>
            <a:r>
              <a:rPr lang="en-US" sz="3200" b="1" dirty="0">
                <a:solidFill>
                  <a:srgbClr val="000000"/>
                </a:solidFill>
                <a:latin typeface="Canva Sans"/>
                <a:ea typeface="Canva Sans"/>
                <a:cs typeface="Canva Sans"/>
                <a:sym typeface="Canva Sans"/>
              </a:rPr>
              <a:t>Milestone-4</a:t>
            </a:r>
          </a:p>
          <a:p>
            <a:pPr algn="ctr">
              <a:lnSpc>
                <a:spcPts val="3639"/>
              </a:lnSpc>
              <a:spcBef>
                <a:spcPct val="0"/>
              </a:spcBef>
            </a:pPr>
            <a:endParaRPr lang="en-US" sz="3200" b="1" dirty="0">
              <a:solidFill>
                <a:srgbClr val="000000"/>
              </a:solidFill>
              <a:latin typeface="Canva Sans"/>
              <a:ea typeface="Canva Sans"/>
              <a:cs typeface="Canva Sans"/>
              <a:sym typeface="Canva Sans"/>
            </a:endParaRPr>
          </a:p>
          <a:p>
            <a:pPr algn="ctr">
              <a:lnSpc>
                <a:spcPts val="3639"/>
              </a:lnSpc>
              <a:spcBef>
                <a:spcPct val="0"/>
              </a:spcBef>
            </a:pPr>
            <a:r>
              <a:rPr lang="en-US" sz="3200" b="1" dirty="0">
                <a:solidFill>
                  <a:srgbClr val="000000"/>
                </a:solidFill>
                <a:latin typeface="Canva Sans"/>
                <a:ea typeface="Canva Sans"/>
                <a:cs typeface="Canva Sans"/>
                <a:sym typeface="Canva Sans"/>
              </a:rPr>
              <a:t>Project Presentation</a:t>
            </a:r>
          </a:p>
        </p:txBody>
      </p:sp>
      <p:sp>
        <p:nvSpPr>
          <p:cNvPr id="5" name="TextBox 5"/>
          <p:cNvSpPr txBox="1"/>
          <p:nvPr/>
        </p:nvSpPr>
        <p:spPr>
          <a:xfrm>
            <a:off x="2281221" y="5231452"/>
            <a:ext cx="5033980" cy="855747"/>
          </a:xfrm>
          <a:prstGeom prst="rect">
            <a:avLst/>
          </a:prstGeom>
        </p:spPr>
        <p:txBody>
          <a:bodyPr wrap="square" lIns="0" tIns="0" rIns="0" bIns="0" rtlCol="0" anchor="t">
            <a:spAutoFit/>
          </a:bodyPr>
          <a:lstStyle/>
          <a:p>
            <a:pPr algn="ctr">
              <a:lnSpc>
                <a:spcPts val="3359"/>
              </a:lnSpc>
              <a:spcBef>
                <a:spcPct val="0"/>
              </a:spcBef>
            </a:pPr>
            <a:endParaRPr lang="en-US" sz="2800" b="1" dirty="0">
              <a:solidFill>
                <a:srgbClr val="000000"/>
              </a:solidFill>
              <a:latin typeface="Canva Sans"/>
              <a:ea typeface="Canva Sans"/>
              <a:cs typeface="Canva Sans"/>
              <a:sym typeface="Canva Sans"/>
            </a:endParaRPr>
          </a:p>
          <a:p>
            <a:pPr algn="ctr">
              <a:lnSpc>
                <a:spcPts val="3359"/>
              </a:lnSpc>
              <a:spcBef>
                <a:spcPct val="0"/>
              </a:spcBef>
            </a:pPr>
            <a:r>
              <a:rPr lang="en-US" sz="2800" b="1" dirty="0">
                <a:solidFill>
                  <a:srgbClr val="000000"/>
                </a:solidFill>
                <a:latin typeface="Canva Sans"/>
                <a:ea typeface="Canva Sans"/>
                <a:cs typeface="Canva Sans"/>
                <a:sym typeface="Canva Sans"/>
              </a:rPr>
              <a:t>Prepared by:       SANMITHA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4977982" y="8670499"/>
            <a:ext cx="1820145" cy="372745"/>
          </a:xfrm>
          <a:prstGeom prst="rect">
            <a:avLst/>
          </a:prstGeom>
        </p:spPr>
        <p:txBody>
          <a:bodyPr lIns="0" tIns="0" rIns="0" bIns="0" rtlCol="0" anchor="t">
            <a:spAutoFit/>
          </a:bodyPr>
          <a:lstStyle/>
          <a:p>
            <a:pPr algn="ctr">
              <a:lnSpc>
                <a:spcPts val="3080"/>
              </a:lnSpc>
              <a:spcBef>
                <a:spcPct val="0"/>
              </a:spcBef>
            </a:pPr>
            <a:r>
              <a:rPr lang="en-US" sz="2200" b="1">
                <a:solidFill>
                  <a:srgbClr val="FFFFFF"/>
                </a:solidFill>
                <a:latin typeface="Inter Medium"/>
                <a:ea typeface="Inter Medium"/>
                <a:cs typeface="Inter Medium"/>
                <a:sym typeface="Inter Medium"/>
              </a:rPr>
              <a:t>PAGE 02</a:t>
            </a:r>
          </a:p>
        </p:txBody>
      </p:sp>
      <p:sp>
        <p:nvSpPr>
          <p:cNvPr id="3" name="TextBox 3"/>
          <p:cNvSpPr txBox="1"/>
          <p:nvPr/>
        </p:nvSpPr>
        <p:spPr>
          <a:xfrm>
            <a:off x="1530165" y="921224"/>
            <a:ext cx="2218730" cy="596900"/>
          </a:xfrm>
          <a:prstGeom prst="rect">
            <a:avLst/>
          </a:prstGeom>
        </p:spPr>
        <p:txBody>
          <a:bodyPr lIns="0" tIns="0" rIns="0" bIns="0" rtlCol="0" anchor="t">
            <a:spAutoFit/>
          </a:bodyPr>
          <a:lstStyle/>
          <a:p>
            <a:pPr algn="ctr">
              <a:lnSpc>
                <a:spcPts val="4900"/>
              </a:lnSpc>
              <a:spcBef>
                <a:spcPct val="0"/>
              </a:spcBef>
            </a:pPr>
            <a:r>
              <a:rPr lang="en-US" sz="3500" b="1" dirty="0">
                <a:solidFill>
                  <a:srgbClr val="000000"/>
                </a:solidFill>
                <a:latin typeface="Canva Sans Bold"/>
                <a:ea typeface="Canva Sans Bold"/>
                <a:cs typeface="Canva Sans Bold"/>
                <a:sym typeface="Canva Sans Bold"/>
              </a:rPr>
              <a:t>Objective</a:t>
            </a:r>
          </a:p>
        </p:txBody>
      </p:sp>
      <p:sp>
        <p:nvSpPr>
          <p:cNvPr id="4" name="TextBox 4"/>
          <p:cNvSpPr txBox="1"/>
          <p:nvPr/>
        </p:nvSpPr>
        <p:spPr>
          <a:xfrm>
            <a:off x="1028700" y="2727332"/>
            <a:ext cx="14573845" cy="4950560"/>
          </a:xfrm>
          <a:prstGeom prst="rect">
            <a:avLst/>
          </a:prstGeom>
        </p:spPr>
        <p:txBody>
          <a:bodyPr lIns="0" tIns="0" rIns="0" bIns="0" rtlCol="0" anchor="t">
            <a:spAutoFit/>
          </a:bodyPr>
          <a:lstStyle/>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improve end-to-end visibility across the supply chain using data analytics.</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identify operational bottlenecks affecting inventory movement and order fulfillment.</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optimize logistics, inventory management, and delivery performance.</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support data-driven decision-making through interactive dashboards and reports.</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enhance customer satisfaction by reducing delays and improving supply chain efficiency.</a:t>
            </a:r>
          </a:p>
          <a:p>
            <a:pPr algn="l">
              <a:lnSpc>
                <a:spcPts val="4118"/>
              </a:lnSpc>
              <a:spcBef>
                <a:spcPct val="0"/>
              </a:spcBef>
            </a:pPr>
            <a:endParaRPr lang="en-US" sz="2499">
              <a:solidFill>
                <a:srgbClr val="000000"/>
              </a:solidFill>
              <a:latin typeface="Canva Sans"/>
              <a:ea typeface="Canva Sans"/>
              <a:cs typeface="Canva Sans"/>
              <a:sym typeface="Canva Sans"/>
            </a:endParaRPr>
          </a:p>
          <a:p>
            <a:pPr algn="l">
              <a:lnSpc>
                <a:spcPts val="4118"/>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92754" y="940587"/>
            <a:ext cx="4958152" cy="1835150"/>
          </a:xfrm>
          <a:prstGeom prst="rect">
            <a:avLst/>
          </a:prstGeom>
        </p:spPr>
        <p:txBody>
          <a:bodyPr lIns="0" tIns="0" rIns="0" bIns="0" rtlCol="0" anchor="t">
            <a:spAutoFit/>
          </a:bodyPr>
          <a:lstStyle/>
          <a:p>
            <a:pPr algn="ctr">
              <a:lnSpc>
                <a:spcPts val="4900"/>
              </a:lnSpc>
            </a:pPr>
            <a:r>
              <a:rPr lang="en-US" sz="3500" b="1">
                <a:solidFill>
                  <a:srgbClr val="000000"/>
                </a:solidFill>
                <a:latin typeface="Canva Sans Bold"/>
                <a:ea typeface="Canva Sans Bold"/>
                <a:cs typeface="Canva Sans Bold"/>
                <a:sym typeface="Canva Sans Bold"/>
              </a:rPr>
              <a:t>Introduction</a:t>
            </a:r>
          </a:p>
          <a:p>
            <a:pPr algn="ctr">
              <a:lnSpc>
                <a:spcPts val="4900"/>
              </a:lnSpc>
            </a:pPr>
            <a:endParaRPr lang="en-US" sz="3500" b="1">
              <a:solidFill>
                <a:srgbClr val="000000"/>
              </a:solidFill>
              <a:latin typeface="Canva Sans Bold"/>
              <a:ea typeface="Canva Sans Bold"/>
              <a:cs typeface="Canva Sans Bold"/>
              <a:sym typeface="Canva Sans Bold"/>
            </a:endParaRPr>
          </a:p>
          <a:p>
            <a:pPr algn="ctr">
              <a:lnSpc>
                <a:spcPts val="4900"/>
              </a:lnSpc>
              <a:spcBef>
                <a:spcPct val="0"/>
              </a:spcBef>
            </a:pPr>
            <a:endParaRPr lang="en-US" sz="3500" b="1">
              <a:solidFill>
                <a:srgbClr val="000000"/>
              </a:solidFill>
              <a:latin typeface="Canva Sans Bold"/>
              <a:ea typeface="Canva Sans Bold"/>
              <a:cs typeface="Canva Sans Bold"/>
              <a:sym typeface="Canva Sans Bold"/>
            </a:endParaRPr>
          </a:p>
        </p:txBody>
      </p:sp>
      <p:sp>
        <p:nvSpPr>
          <p:cNvPr id="3" name="TextBox 3"/>
          <p:cNvSpPr txBox="1"/>
          <p:nvPr/>
        </p:nvSpPr>
        <p:spPr>
          <a:xfrm>
            <a:off x="192754" y="2049608"/>
            <a:ext cx="17742684" cy="874712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000000"/>
                </a:solidFill>
                <a:latin typeface="Canva Sans"/>
                <a:ea typeface="Canva Sans"/>
                <a:cs typeface="Canva Sans"/>
                <a:sym typeface="Canva Sans"/>
              </a:rPr>
              <a:t>Supply Chain Visibility refers to the ability to monitor products, inventory, and shipments across every stage of the supply chain in real time. Organizations often face challenges such as delayed deliveries, inaccurate inventory records, and disconnected data sources.</a:t>
            </a:r>
          </a:p>
          <a:p>
            <a:pPr algn="just">
              <a:lnSpc>
                <a:spcPts val="3499"/>
              </a:lnSpc>
            </a:pPr>
            <a:endParaRPr lang="en-US" sz="2499">
              <a:solidFill>
                <a:srgbClr val="000000"/>
              </a:solidFill>
              <a:latin typeface="Canva Sans"/>
              <a:ea typeface="Canva Sans"/>
              <a:cs typeface="Canva Sans"/>
              <a:sym typeface="Canva Sans"/>
            </a:endParaRPr>
          </a:p>
          <a:p>
            <a:pPr marL="539749" lvl="1" indent="-269875" algn="just">
              <a:lnSpc>
                <a:spcPts val="3499"/>
              </a:lnSpc>
              <a:buFont typeface="Arial"/>
              <a:buChar char="•"/>
            </a:pPr>
            <a:r>
              <a:rPr lang="en-US" sz="2499">
                <a:solidFill>
                  <a:srgbClr val="000000"/>
                </a:solidFill>
                <a:latin typeface="Canva Sans"/>
                <a:ea typeface="Canva Sans"/>
                <a:cs typeface="Canva Sans"/>
                <a:sym typeface="Canva Sans"/>
              </a:rPr>
              <a:t>This project focuses on collecting, integrating, cleaning, and analyzing supply chain data to provide meaningful insights that improve operational efficiency, reduce costs, and enable better business decisions.</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Organizations often face challenges such as delayed deliveries, inventory inaccuracies, and disconnected data sources.</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Lack of visibility can result in higher operational costs, stock shortages, and inefficient decision-making.</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Data preprocessing and modeling help identify bottlenecks, optimize logistics, and monitor key performance indicators (KPIs).</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The ultimate goal is to support data-driven decision-making, reduce costs, and enhance customer satisfaction.</a:t>
            </a:r>
          </a:p>
          <a:p>
            <a:pPr algn="l">
              <a:lnSpc>
                <a:spcPts val="3499"/>
              </a:lnSpc>
            </a:pPr>
            <a:endParaRPr lang="en-US" sz="2499">
              <a:solidFill>
                <a:srgbClr val="000000"/>
              </a:solidFill>
              <a:latin typeface="Canva Sans"/>
              <a:ea typeface="Canva Sans"/>
              <a:cs typeface="Canva Sans"/>
              <a:sym typeface="Canva Sans"/>
            </a:endParaRPr>
          </a:p>
          <a:p>
            <a:pPr algn="just">
              <a:lnSpc>
                <a:spcPts val="3499"/>
              </a:lnSpc>
            </a:pPr>
            <a:endParaRPr lang="en-US" sz="2499">
              <a:solidFill>
                <a:srgbClr val="000000"/>
              </a:solidFill>
              <a:latin typeface="Canva Sans"/>
              <a:ea typeface="Canva Sans"/>
              <a:cs typeface="Canva Sans"/>
              <a:sym typeface="Canva Sans"/>
            </a:endParaRPr>
          </a:p>
          <a:p>
            <a:pPr algn="just">
              <a:lnSpc>
                <a:spcPts val="3499"/>
              </a:lnSpc>
            </a:pPr>
            <a:endParaRPr lang="en-US" sz="2499">
              <a:solidFill>
                <a:srgbClr val="000000"/>
              </a:solidFill>
              <a:latin typeface="Canva Sans"/>
              <a:ea typeface="Canva Sans"/>
              <a:cs typeface="Canva Sans"/>
              <a:sym typeface="Canva Sans"/>
            </a:endParaRPr>
          </a:p>
          <a:p>
            <a:pPr algn="just">
              <a:lnSpc>
                <a:spcPts val="3499"/>
              </a:lnSpc>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64931" y="1988377"/>
            <a:ext cx="15894369" cy="2516046"/>
          </a:xfrm>
          <a:custGeom>
            <a:avLst/>
            <a:gdLst/>
            <a:ahLst/>
            <a:cxnLst/>
            <a:rect l="l" t="t" r="r" b="b"/>
            <a:pathLst>
              <a:path w="15894369" h="2516046">
                <a:moveTo>
                  <a:pt x="0" y="0"/>
                </a:moveTo>
                <a:lnTo>
                  <a:pt x="15894369" y="0"/>
                </a:lnTo>
                <a:lnTo>
                  <a:pt x="15894369" y="2516047"/>
                </a:lnTo>
                <a:lnTo>
                  <a:pt x="0" y="2516047"/>
                </a:lnTo>
                <a:lnTo>
                  <a:pt x="0" y="0"/>
                </a:lnTo>
                <a:close/>
              </a:path>
            </a:pathLst>
          </a:custGeom>
          <a:blipFill>
            <a:blip r:embed="rId2"/>
            <a:stretch>
              <a:fillRect t="-4485" b="-4485"/>
            </a:stretch>
          </a:blipFill>
        </p:spPr>
      </p:sp>
      <p:sp>
        <p:nvSpPr>
          <p:cNvPr id="3" name="TextBox 3"/>
          <p:cNvSpPr txBox="1"/>
          <p:nvPr/>
        </p:nvSpPr>
        <p:spPr>
          <a:xfrm>
            <a:off x="1100338" y="731878"/>
            <a:ext cx="4695514" cy="587376"/>
          </a:xfrm>
          <a:prstGeom prst="rect">
            <a:avLst/>
          </a:prstGeom>
        </p:spPr>
        <p:txBody>
          <a:bodyPr lIns="0" tIns="0" rIns="0" bIns="0" rtlCol="0" anchor="t">
            <a:spAutoFit/>
          </a:bodyPr>
          <a:lstStyle/>
          <a:p>
            <a:pPr algn="ctr">
              <a:lnSpc>
                <a:spcPts val="4899"/>
              </a:lnSpc>
              <a:spcBef>
                <a:spcPct val="0"/>
              </a:spcBef>
            </a:pPr>
            <a:r>
              <a:rPr lang="en-US" sz="3499" b="1" u="sng">
                <a:solidFill>
                  <a:srgbClr val="000000"/>
                </a:solidFill>
                <a:latin typeface="Canva Sans Bold"/>
                <a:ea typeface="Canva Sans Bold"/>
                <a:cs typeface="Canva Sans Bold"/>
                <a:sym typeface="Canva Sans Bold"/>
              </a:rPr>
              <a:t>Workflow Diagram</a:t>
            </a:r>
          </a:p>
        </p:txBody>
      </p:sp>
      <p:sp>
        <p:nvSpPr>
          <p:cNvPr id="4" name="TextBox 4"/>
          <p:cNvSpPr txBox="1"/>
          <p:nvPr/>
        </p:nvSpPr>
        <p:spPr>
          <a:xfrm>
            <a:off x="1100338" y="4892675"/>
            <a:ext cx="14945915" cy="4365625"/>
          </a:xfrm>
          <a:prstGeom prst="rect">
            <a:avLst/>
          </a:prstGeom>
        </p:spPr>
        <p:txBody>
          <a:bodyPr lIns="0" tIns="0" rIns="0" bIns="0" rtlCol="0" anchor="t">
            <a:spAutoFit/>
          </a:bodyPr>
          <a:lstStyle/>
          <a:p>
            <a:pPr algn="l">
              <a:lnSpc>
                <a:spcPts val="3499"/>
              </a:lnSpc>
            </a:pPr>
            <a:endParaRPr/>
          </a:p>
          <a:p>
            <a:pPr algn="l">
              <a:lnSpc>
                <a:spcPts val="3499"/>
              </a:lnSpc>
            </a:pPr>
            <a:r>
              <a:rPr lang="en-US" sz="2499" b="1" u="sng">
                <a:solidFill>
                  <a:srgbClr val="000000"/>
                </a:solidFill>
                <a:latin typeface="Canva Sans Bold"/>
                <a:ea typeface="Canva Sans Bold"/>
                <a:cs typeface="Canva Sans Bold"/>
                <a:sym typeface="Canva Sans Bold"/>
              </a:rPr>
              <a:t>Description:</a:t>
            </a:r>
          </a:p>
          <a:p>
            <a:pPr algn="l">
              <a:lnSpc>
                <a:spcPts val="3499"/>
              </a:lnSpc>
            </a:pPr>
            <a:endParaRPr lang="en-US" sz="2499" b="1" u="sng">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Collect supply chain data from multiple sources.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Integrate the data into a unified dataset.</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Clean and transform the data for analysis.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Build analytical models and dashboards.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Generate actionable insights for optimization.</a:t>
            </a: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16890" y="232838"/>
            <a:ext cx="15861796" cy="8678017"/>
          </a:xfrm>
          <a:prstGeom prst="rect">
            <a:avLst/>
          </a:prstGeom>
        </p:spPr>
        <p:txBody>
          <a:bodyPr lIns="0" tIns="0" rIns="0" bIns="0" rtlCol="0" anchor="t">
            <a:spAutoFit/>
          </a:bodyPr>
          <a:lstStyle/>
          <a:p>
            <a:pPr algn="l">
              <a:lnSpc>
                <a:spcPts val="4199"/>
              </a:lnSpc>
              <a:spcBef>
                <a:spcPct val="0"/>
              </a:spcBef>
            </a:pPr>
            <a:r>
              <a:rPr lang="en-US" sz="2999" b="1" u="sng" dirty="0">
                <a:solidFill>
                  <a:srgbClr val="000000"/>
                </a:solidFill>
                <a:latin typeface="Canva Sans Bold"/>
                <a:ea typeface="Canva Sans Bold"/>
                <a:cs typeface="Canva Sans Bold"/>
                <a:sym typeface="Canva Sans Bold"/>
              </a:rPr>
              <a:t> </a:t>
            </a:r>
          </a:p>
          <a:p>
            <a:pPr algn="l">
              <a:lnSpc>
                <a:spcPts val="4199"/>
              </a:lnSpc>
              <a:spcBef>
                <a:spcPct val="0"/>
              </a:spcBef>
            </a:pPr>
            <a:r>
              <a:rPr lang="en-US" sz="2999" b="1" u="sng" dirty="0">
                <a:solidFill>
                  <a:srgbClr val="000000"/>
                </a:solidFill>
                <a:latin typeface="Canva Sans Bold"/>
                <a:ea typeface="Canva Sans Bold"/>
                <a:cs typeface="Canva Sans Bold"/>
                <a:sym typeface="Canva Sans Bold"/>
              </a:rPr>
              <a:t>Problem Understanding</a:t>
            </a:r>
          </a:p>
          <a:p>
            <a:pPr algn="l">
              <a:lnSpc>
                <a:spcPts val="3499"/>
              </a:lnSpc>
              <a:spcBef>
                <a:spcPct val="0"/>
              </a:spcBef>
            </a:pPr>
            <a:endParaRPr lang="en-US" sz="2999" b="1" u="sng" dirty="0">
              <a:solidFill>
                <a:srgbClr val="000000"/>
              </a:solidFill>
              <a:latin typeface="Canva Sans Bold"/>
              <a:ea typeface="Canva Sans Bold"/>
              <a:cs typeface="Canva Sans Bold"/>
              <a:sym typeface="Canva Sans Bold"/>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Existing Challenges</a:t>
            </a:r>
          </a:p>
          <a:p>
            <a:pPr algn="l">
              <a:lnSpc>
                <a:spcPts val="3499"/>
              </a:lnSpc>
              <a:spcBef>
                <a:spcPct val="0"/>
              </a:spcBef>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Limited visibility into shipment and inventory status.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Delays caused by inefficient transportation planning.</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Data stored across multiple disconnected systems.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Difficulty identifying inventory shortages and excess stock.</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Lack of real-time monitoring for supply chain performance.</a:t>
            </a: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pPr>
            <a:r>
              <a:rPr lang="en-US" sz="2499" b="1" dirty="0">
                <a:solidFill>
                  <a:srgbClr val="000000"/>
                </a:solidFill>
                <a:latin typeface="Canva Sans Bold"/>
                <a:ea typeface="Canva Sans Bold"/>
                <a:cs typeface="Canva Sans Bold"/>
                <a:sym typeface="Canva Sans Bold"/>
              </a:rPr>
              <a:t>Business Impact</a:t>
            </a:r>
          </a:p>
          <a:p>
            <a:pPr algn="l">
              <a:lnSpc>
                <a:spcPts val="3499"/>
              </a:lnSpc>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Increased operational costs.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Delayed customer deliveries.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Reduced inventory accuracy.</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Poor decision-making due to fragmented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10320" y="297078"/>
            <a:ext cx="17413330" cy="10114307"/>
          </a:xfrm>
          <a:prstGeom prst="rect">
            <a:avLst/>
          </a:prstGeom>
        </p:spPr>
        <p:txBody>
          <a:bodyPr lIns="0" tIns="0" rIns="0" bIns="0" rtlCol="0" anchor="t">
            <a:spAutoFit/>
          </a:bodyPr>
          <a:lstStyle/>
          <a:p>
            <a:pPr algn="l">
              <a:lnSpc>
                <a:spcPts val="4199"/>
              </a:lnSpc>
            </a:pPr>
            <a:r>
              <a:rPr lang="en-US" sz="2999" b="1" u="sng" dirty="0">
                <a:solidFill>
                  <a:srgbClr val="000000"/>
                </a:solidFill>
                <a:latin typeface="Canva Sans Bold"/>
                <a:ea typeface="Canva Sans Bold"/>
                <a:cs typeface="Canva Sans Bold"/>
                <a:sym typeface="Canva Sans Bold"/>
              </a:rPr>
              <a:t> </a:t>
            </a:r>
          </a:p>
          <a:p>
            <a:pPr algn="l">
              <a:lnSpc>
                <a:spcPts val="4199"/>
              </a:lnSpc>
            </a:pPr>
            <a:r>
              <a:rPr lang="en-US" sz="2999" b="1" u="sng" dirty="0">
                <a:solidFill>
                  <a:srgbClr val="000000"/>
                </a:solidFill>
                <a:latin typeface="Canva Sans Bold"/>
                <a:ea typeface="Canva Sans Bold"/>
                <a:cs typeface="Canva Sans Bold"/>
                <a:sym typeface="Canva Sans Bold"/>
              </a:rPr>
              <a:t>Data Collection &amp; Understanding</a:t>
            </a:r>
          </a:p>
          <a:p>
            <a:pPr algn="l">
              <a:lnSpc>
                <a:spcPts val="4199"/>
              </a:lnSpc>
            </a:pPr>
            <a:endParaRPr lang="en-US" sz="2999" b="1" u="sng" dirty="0">
              <a:solidFill>
                <a:srgbClr val="000000"/>
              </a:solidFill>
              <a:latin typeface="Canva Sans Bold"/>
              <a:ea typeface="Canva Sans Bold"/>
              <a:cs typeface="Canva Sans Bold"/>
              <a:sym typeface="Canva Sans Bold"/>
            </a:endParaRPr>
          </a:p>
          <a:p>
            <a:pPr algn="l">
              <a:lnSpc>
                <a:spcPts val="3499"/>
              </a:lnSpc>
            </a:pPr>
            <a:r>
              <a:rPr lang="en-US" sz="2499" b="1" dirty="0">
                <a:solidFill>
                  <a:srgbClr val="000000"/>
                </a:solidFill>
                <a:latin typeface="Canva Sans Bold"/>
                <a:ea typeface="Canva Sans Bold"/>
                <a:cs typeface="Canva Sans Bold"/>
                <a:sym typeface="Canva Sans Bold"/>
              </a:rPr>
              <a:t>Data Collection</a:t>
            </a:r>
          </a:p>
          <a:p>
            <a:pPr algn="l">
              <a:lnSpc>
                <a:spcPts val="3499"/>
              </a:lnSpc>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Dataset collected from Kaggle.</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Contains 2,000 records and 21 attributes.</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Includes order, inventory, logistics, and delivery information.</a:t>
            </a: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r>
              <a:rPr lang="en-US" sz="2499" b="1" dirty="0">
                <a:solidFill>
                  <a:srgbClr val="000000"/>
                </a:solidFill>
                <a:latin typeface="Canva Sans Bold"/>
                <a:ea typeface="Canva Sans Bold"/>
                <a:cs typeface="Canva Sans Bold"/>
                <a:sym typeface="Canva Sans Bold"/>
              </a:rPr>
              <a:t>Data Understanding</a:t>
            </a:r>
          </a:p>
          <a:p>
            <a:pPr algn="l">
              <a:lnSpc>
                <a:spcPts val="3499"/>
              </a:lnSpc>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Study data structure and attributes.</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Identify missing values and duplicates.</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Understand business relationships.</a:t>
            </a: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Objective</a:t>
            </a:r>
          </a:p>
          <a:p>
            <a:pPr algn="l">
              <a:lnSpc>
                <a:spcPts val="3499"/>
              </a:lnSpc>
              <a:spcBef>
                <a:spcPct val="0"/>
              </a:spcBef>
            </a:pPr>
            <a:r>
              <a:rPr lang="en-US" sz="2499" dirty="0">
                <a:solidFill>
                  <a:srgbClr val="000000"/>
                </a:solidFill>
                <a:latin typeface="Canva Sans"/>
                <a:ea typeface="Canva Sans"/>
                <a:cs typeface="Canva Sans"/>
                <a:sym typeface="Canva Sans"/>
              </a:rPr>
              <a:t>Understand the structure, quality, and relationships within the collected supply chain data before analysis.</a:t>
            </a: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endParaRPr lang="en-US" sz="2499" dirty="0">
              <a:solidFill>
                <a:srgbClr val="000000"/>
              </a:solidFill>
              <a:latin typeface="Canva Sans"/>
              <a:ea typeface="Canva Sans"/>
              <a:cs typeface="Canva Sans"/>
              <a:sym typeface="Canva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04168" y="1037759"/>
            <a:ext cx="16085344" cy="7536623"/>
          </a:xfrm>
          <a:prstGeom prst="rect">
            <a:avLst/>
          </a:prstGeom>
        </p:spPr>
        <p:txBody>
          <a:bodyPr lIns="0" tIns="0" rIns="0" bIns="0" rtlCol="0" anchor="t">
            <a:spAutoFit/>
          </a:bodyPr>
          <a:lstStyle/>
          <a:p>
            <a:pPr algn="l">
              <a:lnSpc>
                <a:spcPts val="4200"/>
              </a:lnSpc>
            </a:pPr>
            <a:r>
              <a:rPr lang="en-US" sz="3000" b="1" u="sng">
                <a:solidFill>
                  <a:srgbClr val="000000"/>
                </a:solidFill>
                <a:latin typeface="Canva Sans Bold"/>
                <a:ea typeface="Canva Sans Bold"/>
                <a:cs typeface="Canva Sans Bold"/>
                <a:sym typeface="Canva Sans Bold"/>
              </a:rPr>
              <a:t>Data Connection</a:t>
            </a:r>
          </a:p>
          <a:p>
            <a:pPr algn="l">
              <a:lnSpc>
                <a:spcPts val="4206"/>
              </a:lnSpc>
            </a:pPr>
            <a:endParaRPr lang="en-US" sz="3000" b="1" u="sng">
              <a:solidFill>
                <a:srgbClr val="000000"/>
              </a:solidFill>
              <a:latin typeface="Canva Sans Bold"/>
              <a:ea typeface="Canva Sans Bold"/>
              <a:cs typeface="Canva Sans Bold"/>
              <a:sym typeface="Canva Sans Bold"/>
            </a:endParaRPr>
          </a:p>
          <a:p>
            <a:pPr algn="l">
              <a:lnSpc>
                <a:spcPts val="4206"/>
              </a:lnSpc>
            </a:pPr>
            <a:r>
              <a:rPr lang="en-US" sz="3004" b="1">
                <a:solidFill>
                  <a:srgbClr val="000000"/>
                </a:solidFill>
                <a:latin typeface="Canva Sans Bold"/>
                <a:ea typeface="Canva Sans Bold"/>
                <a:cs typeface="Canva Sans Bold"/>
                <a:sym typeface="Canva Sans Bold"/>
              </a:rPr>
              <a:t>Process:</a:t>
            </a:r>
          </a:p>
          <a:p>
            <a:pPr algn="l">
              <a:lnSpc>
                <a:spcPts val="4206"/>
              </a:lnSpc>
            </a:pPr>
            <a:endParaRPr lang="en-US" sz="3004" b="1">
              <a:solidFill>
                <a:srgbClr val="000000"/>
              </a:solidFill>
              <a:latin typeface="Canva Sans Bold"/>
              <a:ea typeface="Canva Sans Bold"/>
              <a:cs typeface="Canva Sans Bold"/>
              <a:sym typeface="Canva Sans Bold"/>
            </a:endParaRP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Import datasets from multiple sources.</a:t>
            </a: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Merge inventory, logistics, supplier, and sales data.</a:t>
            </a: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Establish relationships between common fields such as Product ID and Order ID.</a:t>
            </a: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Create a centralised dataset for reporting and analysis.</a:t>
            </a:r>
          </a:p>
          <a:p>
            <a:pPr algn="l">
              <a:lnSpc>
                <a:spcPts val="4206"/>
              </a:lnSpc>
              <a:spcBef>
                <a:spcPct val="0"/>
              </a:spcBef>
            </a:pPr>
            <a:endParaRPr lang="en-US" sz="3004">
              <a:solidFill>
                <a:srgbClr val="000000"/>
              </a:solidFill>
              <a:latin typeface="Canva Sans"/>
              <a:ea typeface="Canva Sans"/>
              <a:cs typeface="Canva Sans"/>
              <a:sym typeface="Canva Sans"/>
            </a:endParaRPr>
          </a:p>
          <a:p>
            <a:pPr algn="l">
              <a:lnSpc>
                <a:spcPts val="4206"/>
              </a:lnSpc>
              <a:spcBef>
                <a:spcPct val="0"/>
              </a:spcBef>
            </a:pPr>
            <a:endParaRPr lang="en-US" sz="3004">
              <a:solidFill>
                <a:srgbClr val="000000"/>
              </a:solidFill>
              <a:latin typeface="Canva Sans"/>
              <a:ea typeface="Canva Sans"/>
              <a:cs typeface="Canva Sans"/>
              <a:sym typeface="Canva Sans"/>
            </a:endParaRPr>
          </a:p>
          <a:p>
            <a:pPr algn="l">
              <a:lnSpc>
                <a:spcPts val="4206"/>
              </a:lnSpc>
              <a:spcBef>
                <a:spcPct val="0"/>
              </a:spcBef>
            </a:pPr>
            <a:r>
              <a:rPr lang="en-US" sz="3004" b="1">
                <a:solidFill>
                  <a:srgbClr val="000000"/>
                </a:solidFill>
                <a:latin typeface="Canva Sans Bold"/>
                <a:ea typeface="Canva Sans Bold"/>
                <a:cs typeface="Canva Sans Bold"/>
                <a:sym typeface="Canva Sans Bold"/>
              </a:rPr>
              <a:t>Outcome:</a:t>
            </a:r>
          </a:p>
          <a:p>
            <a:pPr algn="l">
              <a:lnSpc>
                <a:spcPts val="4206"/>
              </a:lnSpc>
              <a:spcBef>
                <a:spcPct val="0"/>
              </a:spcBef>
            </a:pPr>
            <a:endParaRPr lang="en-US" sz="3004" b="1">
              <a:solidFill>
                <a:srgbClr val="000000"/>
              </a:solidFill>
              <a:latin typeface="Canva Sans Bold"/>
              <a:ea typeface="Canva Sans Bold"/>
              <a:cs typeface="Canva Sans Bold"/>
              <a:sym typeface="Canva Sans Bold"/>
            </a:endParaRPr>
          </a:p>
          <a:p>
            <a:pPr algn="l">
              <a:lnSpc>
                <a:spcPts val="4206"/>
              </a:lnSpc>
              <a:spcBef>
                <a:spcPct val="0"/>
              </a:spcBef>
            </a:pPr>
            <a:r>
              <a:rPr lang="en-US" sz="3004">
                <a:solidFill>
                  <a:srgbClr val="000000"/>
                </a:solidFill>
                <a:latin typeface="Canva Sans"/>
                <a:ea typeface="Canva Sans"/>
                <a:cs typeface="Canva Sans"/>
                <a:sym typeface="Canva Sans"/>
              </a:rPr>
              <a:t>A unified and reliable dataset that provides a complete view of supply chain operations.</a:t>
            </a:r>
          </a:p>
          <a:p>
            <a:pPr algn="l">
              <a:lnSpc>
                <a:spcPts val="4991"/>
              </a:lnSpc>
              <a:spcBef>
                <a:spcPct val="0"/>
              </a:spcBef>
            </a:pPr>
            <a:endParaRPr lang="en-US" sz="3004">
              <a:solidFill>
                <a:srgbClr val="000000"/>
              </a:solidFill>
              <a:latin typeface="Canva Sans"/>
              <a:ea typeface="Canva Sans"/>
              <a:cs typeface="Canva Sans"/>
              <a:sym typeface="Canva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82591" y="589183"/>
            <a:ext cx="15237321" cy="8119854"/>
          </a:xfrm>
          <a:prstGeom prst="rect">
            <a:avLst/>
          </a:prstGeom>
        </p:spPr>
        <p:txBody>
          <a:bodyPr lIns="0" tIns="0" rIns="0" bIns="0" rtlCol="0" anchor="t">
            <a:spAutoFit/>
          </a:bodyPr>
          <a:lstStyle/>
          <a:p>
            <a:pPr algn="l">
              <a:lnSpc>
                <a:spcPts val="4200"/>
              </a:lnSpc>
            </a:pPr>
            <a:r>
              <a:rPr lang="en-US" sz="3000" b="1" u="sng">
                <a:solidFill>
                  <a:srgbClr val="000000"/>
                </a:solidFill>
                <a:latin typeface="Canva Sans Bold"/>
                <a:ea typeface="Canva Sans Bold"/>
                <a:cs typeface="Canva Sans Bold"/>
                <a:sym typeface="Canva Sans Bold"/>
              </a:rPr>
              <a:t>Data Preprocessing</a:t>
            </a:r>
          </a:p>
          <a:p>
            <a:pPr algn="l">
              <a:lnSpc>
                <a:spcPts val="4200"/>
              </a:lnSpc>
            </a:pPr>
            <a:endParaRPr lang="en-US" sz="3000" b="1" u="sng">
              <a:solidFill>
                <a:srgbClr val="000000"/>
              </a:solidFill>
              <a:latin typeface="Canva Sans Bold"/>
              <a:ea typeface="Canva Sans Bold"/>
              <a:cs typeface="Canva Sans Bold"/>
              <a:sym typeface="Canva Sans Bold"/>
            </a:endParaRPr>
          </a:p>
          <a:p>
            <a:pPr algn="l">
              <a:lnSpc>
                <a:spcPts val="3499"/>
              </a:lnSpc>
            </a:pPr>
            <a:endParaRPr lang="en-US" sz="3000" b="1" u="sng">
              <a:solidFill>
                <a:srgbClr val="000000"/>
              </a:solidFill>
              <a:latin typeface="Canva Sans Bold"/>
              <a:ea typeface="Canva Sans Bold"/>
              <a:cs typeface="Canva Sans Bold"/>
              <a:sym typeface="Canva Sans Bold"/>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Activities Performed</a:t>
            </a:r>
          </a:p>
          <a:p>
            <a:pPr algn="l">
              <a:lnSpc>
                <a:spcPts val="3499"/>
              </a:lnSpc>
              <a:spcBef>
                <a:spcPct val="0"/>
              </a:spcBef>
            </a:pPr>
            <a:endParaRPr lang="en-US" sz="2499" b="1">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Remove duplicate records.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Handle missing and inconsistent values.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Standardise date and location formats.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Create calculated fields such as Delivery Time and Inventory Turnover.</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Validate data quality for accurate reporting.</a:t>
            </a: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Result</a:t>
            </a:r>
          </a:p>
          <a:p>
            <a:pPr algn="l">
              <a:lnSpc>
                <a:spcPts val="3499"/>
              </a:lnSpc>
              <a:spcBef>
                <a:spcPct val="0"/>
              </a:spcBef>
            </a:pPr>
            <a:r>
              <a:rPr lang="en-US" sz="2499">
                <a:solidFill>
                  <a:srgbClr val="000000"/>
                </a:solidFill>
                <a:latin typeface="Canva Sans"/>
                <a:ea typeface="Canva Sans"/>
                <a:cs typeface="Canva Sans"/>
                <a:sym typeface="Canva Sans"/>
              </a:rPr>
              <a:t>A clean and analysis-ready dataset that improves the accuracy of dashboards and business insights.</a:t>
            </a:r>
          </a:p>
          <a:p>
            <a:pPr algn="l">
              <a:lnSpc>
                <a:spcPts val="3698"/>
              </a:lnSpc>
              <a:spcBef>
                <a:spcPct val="0"/>
              </a:spcBef>
            </a:pPr>
            <a:endParaRPr lang="en-US" sz="2499">
              <a:solidFill>
                <a:srgbClr val="000000"/>
              </a:solidFill>
              <a:latin typeface="Canva Sans"/>
              <a:ea typeface="Canva Sans"/>
              <a:cs typeface="Canva Sans"/>
              <a:sym typeface="Canva Sans"/>
            </a:endParaRPr>
          </a:p>
          <a:p>
            <a:pPr algn="l">
              <a:lnSpc>
                <a:spcPts val="3698"/>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15170" y="528921"/>
            <a:ext cx="16704913" cy="8971555"/>
          </a:xfrm>
          <a:prstGeom prst="rect">
            <a:avLst/>
          </a:prstGeom>
        </p:spPr>
        <p:txBody>
          <a:bodyPr lIns="0" tIns="0" rIns="0" bIns="0" rtlCol="0" anchor="t">
            <a:spAutoFit/>
          </a:bodyPr>
          <a:lstStyle/>
          <a:p>
            <a:pPr algn="l">
              <a:lnSpc>
                <a:spcPts val="5444"/>
              </a:lnSpc>
            </a:pPr>
            <a:r>
              <a:rPr lang="en-US" sz="3889" b="1" u="sng" dirty="0">
                <a:solidFill>
                  <a:srgbClr val="000000"/>
                </a:solidFill>
                <a:latin typeface="Canva Sans Bold"/>
                <a:ea typeface="Canva Sans Bold"/>
                <a:cs typeface="Canva Sans Bold"/>
                <a:sym typeface="Canva Sans Bold"/>
              </a:rPr>
              <a:t>Data Modeling</a:t>
            </a:r>
          </a:p>
          <a:p>
            <a:pPr algn="l">
              <a:lnSpc>
                <a:spcPts val="5164"/>
              </a:lnSpc>
            </a:pPr>
            <a:endParaRPr lang="en-US" sz="3889" b="1" u="sng" dirty="0">
              <a:solidFill>
                <a:srgbClr val="000000"/>
              </a:solidFill>
              <a:latin typeface="Canva Sans Bold"/>
              <a:ea typeface="Canva Sans Bold"/>
              <a:cs typeface="Canva Sans Bold"/>
              <a:sym typeface="Canva Sans Bold"/>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Analysis Performed</a:t>
            </a:r>
          </a:p>
          <a:p>
            <a:pPr algn="l">
              <a:lnSpc>
                <a:spcPts val="3499"/>
              </a:lnSpc>
              <a:spcBef>
                <a:spcPct val="0"/>
              </a:spcBef>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err="1">
                <a:solidFill>
                  <a:srgbClr val="000000"/>
                </a:solidFill>
                <a:latin typeface="Canva Sans"/>
                <a:ea typeface="Canva Sans"/>
                <a:cs typeface="Canva Sans"/>
                <a:sym typeface="Canva Sans"/>
              </a:rPr>
              <a:t>Analyse</a:t>
            </a:r>
            <a:r>
              <a:rPr lang="en-US" sz="2499" dirty="0">
                <a:solidFill>
                  <a:srgbClr val="000000"/>
                </a:solidFill>
                <a:latin typeface="Canva Sans"/>
                <a:ea typeface="Canva Sans"/>
                <a:cs typeface="Canva Sans"/>
                <a:sym typeface="Canva Sans"/>
              </a:rPr>
              <a:t> inventory trends across warehouses.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Measure supplier and delivery performance.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Compare planned versus actual delivery times.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Identify high-cost transportation routes.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Track key performance indicators (KPIs).</a:t>
            </a: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Expected KPIs</a:t>
            </a:r>
          </a:p>
          <a:p>
            <a:pPr algn="l">
              <a:lnSpc>
                <a:spcPts val="3499"/>
              </a:lnSpc>
              <a:spcBef>
                <a:spcPct val="0"/>
              </a:spcBef>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On-Time Delivery Rate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Average Delivery Time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Inventory Turnover</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Order Fulfillment Rate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Transportation Cost</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Stock Availability</a:t>
            </a:r>
          </a:p>
          <a:p>
            <a:pPr algn="l">
              <a:lnSpc>
                <a:spcPts val="5164"/>
              </a:lnSpc>
              <a:spcBef>
                <a:spcPct val="0"/>
              </a:spcBef>
            </a:pPr>
            <a:endParaRPr lang="en-US" sz="2499" dirty="0">
              <a:solidFill>
                <a:srgbClr val="000000"/>
              </a:solidFill>
              <a:latin typeface="Canva Sans"/>
              <a:ea typeface="Canva Sans"/>
              <a:cs typeface="Canva Sans"/>
              <a:sym typeface="Canva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66800" y="723900"/>
            <a:ext cx="3982753" cy="584775"/>
          </a:xfrm>
          <a:prstGeom prst="rect">
            <a:avLst/>
          </a:prstGeom>
          <a:noFill/>
        </p:spPr>
        <p:txBody>
          <a:bodyPr wrap="square" rtlCol="0">
            <a:spAutoFit/>
          </a:bodyPr>
          <a:lstStyle/>
          <a:p>
            <a:r>
              <a:rPr lang="en-IN" sz="3200" b="1" dirty="0">
                <a:latin typeface="Times New Roman" panose="02020603050405020304" pitchFamily="18" charset="0"/>
                <a:cs typeface="Times New Roman" panose="02020603050405020304" pitchFamily="18" charset="0"/>
              </a:rPr>
              <a:t>Data Visualization</a:t>
            </a:r>
          </a:p>
        </p:txBody>
      </p:sp>
      <p:sp>
        <p:nvSpPr>
          <p:cNvPr id="3" name="Rectangle 2"/>
          <p:cNvSpPr/>
          <p:nvPr/>
        </p:nvSpPr>
        <p:spPr>
          <a:xfrm>
            <a:off x="1066800" y="1714500"/>
            <a:ext cx="15773400" cy="7094250"/>
          </a:xfrm>
          <a:prstGeom prst="rect">
            <a:avLst/>
          </a:prstGeom>
        </p:spPr>
        <p:txBody>
          <a:bodyPr wrap="square">
            <a:spAutoFit/>
          </a:bodyPr>
          <a:lstStyle/>
          <a:p>
            <a:pPr algn="just"/>
            <a:r>
              <a:rPr lang="en-US" sz="2800" b="1" dirty="0">
                <a:latin typeface="Times New Roman" panose="02020603050405020304" pitchFamily="18" charset="0"/>
                <a:cs typeface="Times New Roman" panose="02020603050405020304" pitchFamily="18" charset="0"/>
              </a:rPr>
              <a:t>Purpose </a:t>
            </a:r>
          </a:p>
          <a:p>
            <a:pPr algn="just"/>
            <a:endParaRPr lang="en-US" sz="2800" b="1" dirty="0">
              <a:latin typeface="Times New Roman" panose="02020603050405020304" pitchFamily="18" charset="0"/>
              <a:cs typeface="Times New Roman" panose="02020603050405020304" pitchFamily="18" charset="0"/>
            </a:endParaRPr>
          </a:p>
          <a:p>
            <a:pPr algn="just"/>
            <a:r>
              <a:rPr lang="en-US" sz="2500" dirty="0">
                <a:latin typeface="Times New Roman" panose="02020603050405020304" pitchFamily="18" charset="0"/>
                <a:cs typeface="Times New Roman" panose="02020603050405020304" pitchFamily="18" charset="0"/>
              </a:rPr>
              <a:t>To present supply chain data in a visual and interactive format, making it easier to analyze key performance indicators (KPIs) and identify operational trends.</a:t>
            </a:r>
          </a:p>
          <a:p>
            <a:pPr algn="just"/>
            <a:endParaRPr lang="en-US" sz="2500" dirty="0">
              <a:latin typeface="Times New Roman" panose="02020603050405020304" pitchFamily="18" charset="0"/>
              <a:cs typeface="Times New Roman" panose="02020603050405020304" pitchFamily="18" charset="0"/>
            </a:endParaRPr>
          </a:p>
          <a:p>
            <a:pPr algn="just"/>
            <a:r>
              <a:rPr lang="en-US" sz="2800" b="1" dirty="0">
                <a:latin typeface="Times New Roman" panose="02020603050405020304" pitchFamily="18" charset="0"/>
                <a:cs typeface="Times New Roman" panose="02020603050405020304" pitchFamily="18" charset="0"/>
              </a:rPr>
              <a:t>Activities Performed </a:t>
            </a:r>
          </a:p>
          <a:p>
            <a:pPr algn="just"/>
            <a:endParaRPr lang="en-US" sz="2800" b="1" dirty="0">
              <a:latin typeface="Times New Roman" panose="02020603050405020304" pitchFamily="18" charset="0"/>
              <a:cs typeface="Times New Roman" panose="02020603050405020304" pitchFamily="18" charset="0"/>
            </a:endParaRP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Imported the cleaned dataset into Power BI. </a:t>
            </a: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Created interactive dashboards using various charts and KPI cards. </a:t>
            </a: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Applied filters and slicers for dynamic data exploration. </a:t>
            </a: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Visualized transportation costs, delivery performance, supplier efficiency, and product category analysis. </a:t>
            </a:r>
          </a:p>
          <a:p>
            <a:pPr algn="just">
              <a:buFont typeface="Arial" panose="020B0604020202020204" pitchFamily="34" charset="0"/>
              <a:buChar char="•"/>
            </a:pPr>
            <a:endParaRPr lang="en-US" sz="2800" dirty="0">
              <a:latin typeface="Times New Roman" panose="02020603050405020304" pitchFamily="18" charset="0"/>
              <a:cs typeface="Times New Roman" panose="02020603050405020304" pitchFamily="18" charset="0"/>
            </a:endParaRPr>
          </a:p>
          <a:p>
            <a:pPr algn="just"/>
            <a:r>
              <a:rPr lang="en-US" sz="2800" b="1" dirty="0">
                <a:latin typeface="Times New Roman" panose="02020603050405020304" pitchFamily="18" charset="0"/>
                <a:cs typeface="Times New Roman" panose="02020603050405020304" pitchFamily="18" charset="0"/>
              </a:rPr>
              <a:t>Outcome</a:t>
            </a:r>
          </a:p>
          <a:p>
            <a:pPr algn="just"/>
            <a:r>
              <a:rPr lang="en-US" sz="2500" dirty="0">
                <a:latin typeface="Times New Roman" panose="02020603050405020304" pitchFamily="18" charset="0"/>
                <a:cs typeface="Times New Roman" panose="02020603050405020304" pitchFamily="18" charset="0"/>
              </a:rPr>
              <a:t>The Power BI dashboard provides a comprehensive overview of supply chain operations by transforming raw data into meaningful visual insights. It enables users to monitor business performance, identify operational bottlenecks, compare key metrics, and support data-driven decision-making. The interactive dashboard improves reporting efficiency and helps management make informed strategic decisions.</a:t>
            </a:r>
          </a:p>
        </p:txBody>
      </p:sp>
    </p:spTree>
    <p:extLst>
      <p:ext uri="{BB962C8B-B14F-4D97-AF65-F5344CB8AC3E}">
        <p14:creationId xmlns:p14="http://schemas.microsoft.com/office/powerpoint/2010/main" val="18924641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73CD5DA-401A-0380-3409-F02670E830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104900"/>
            <a:ext cx="12967844" cy="7239000"/>
          </a:xfrm>
          <a:prstGeom prst="rect">
            <a:avLst/>
          </a:prstGeom>
        </p:spPr>
      </p:pic>
    </p:spTree>
    <p:extLst>
      <p:ext uri="{BB962C8B-B14F-4D97-AF65-F5344CB8AC3E}">
        <p14:creationId xmlns:p14="http://schemas.microsoft.com/office/powerpoint/2010/main" val="2501457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91E0A3-6FCB-B10C-FC06-6336A4D3FB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409700"/>
            <a:ext cx="13291326" cy="7467600"/>
          </a:xfrm>
          <a:prstGeom prst="rect">
            <a:avLst/>
          </a:prstGeom>
        </p:spPr>
      </p:pic>
    </p:spTree>
    <p:extLst>
      <p:ext uri="{BB962C8B-B14F-4D97-AF65-F5344CB8AC3E}">
        <p14:creationId xmlns:p14="http://schemas.microsoft.com/office/powerpoint/2010/main" val="2660479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E130A7B-46B3-AF7F-02EA-3DE285CCFC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 y="1028700"/>
            <a:ext cx="13106400" cy="7334049"/>
          </a:xfrm>
          <a:prstGeom prst="rect">
            <a:avLst/>
          </a:prstGeom>
        </p:spPr>
      </p:pic>
    </p:spTree>
    <p:extLst>
      <p:ext uri="{BB962C8B-B14F-4D97-AF65-F5344CB8AC3E}">
        <p14:creationId xmlns:p14="http://schemas.microsoft.com/office/powerpoint/2010/main" val="3151914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C559EBF-2364-8EA9-226B-4E451767FE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6400" y="1633537"/>
            <a:ext cx="12268200" cy="7180048"/>
          </a:xfrm>
          <a:prstGeom prst="rect">
            <a:avLst/>
          </a:prstGeom>
        </p:spPr>
      </p:pic>
    </p:spTree>
    <p:extLst>
      <p:ext uri="{BB962C8B-B14F-4D97-AF65-F5344CB8AC3E}">
        <p14:creationId xmlns:p14="http://schemas.microsoft.com/office/powerpoint/2010/main" val="1734561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3C2C6B-6103-7839-B912-F13E123AC3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600" y="1485900"/>
            <a:ext cx="11985931" cy="7043738"/>
          </a:xfrm>
          <a:prstGeom prst="rect">
            <a:avLst/>
          </a:prstGeom>
        </p:spPr>
      </p:pic>
    </p:spTree>
    <p:extLst>
      <p:ext uri="{BB962C8B-B14F-4D97-AF65-F5344CB8AC3E}">
        <p14:creationId xmlns:p14="http://schemas.microsoft.com/office/powerpoint/2010/main" val="1502240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8E13AB4-2CE7-F012-8C4D-A2EA64B8A0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90800" y="1562100"/>
            <a:ext cx="10515600" cy="6400799"/>
          </a:xfrm>
          <a:prstGeom prst="rect">
            <a:avLst/>
          </a:prstGeom>
        </p:spPr>
      </p:pic>
    </p:spTree>
    <p:extLst>
      <p:ext uri="{BB962C8B-B14F-4D97-AF65-F5344CB8AC3E}">
        <p14:creationId xmlns:p14="http://schemas.microsoft.com/office/powerpoint/2010/main" val="27394978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4ECC4A-65BE-A4F4-001B-E7EF9AD1FE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05000" y="1714500"/>
            <a:ext cx="11712816" cy="6400800"/>
          </a:xfrm>
          <a:prstGeom prst="rect">
            <a:avLst/>
          </a:prstGeom>
        </p:spPr>
      </p:pic>
    </p:spTree>
    <p:extLst>
      <p:ext uri="{BB962C8B-B14F-4D97-AF65-F5344CB8AC3E}">
        <p14:creationId xmlns:p14="http://schemas.microsoft.com/office/powerpoint/2010/main" val="392002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65380" y="829109"/>
            <a:ext cx="17232730" cy="8180359"/>
          </a:xfrm>
          <a:prstGeom prst="rect">
            <a:avLst/>
          </a:prstGeom>
        </p:spPr>
        <p:txBody>
          <a:bodyPr lIns="0" tIns="0" rIns="0" bIns="0" rtlCol="0" anchor="t">
            <a:spAutoFit/>
          </a:bodyPr>
          <a:lstStyle/>
          <a:p>
            <a:pPr algn="l">
              <a:lnSpc>
                <a:spcPts val="4899"/>
              </a:lnSpc>
              <a:spcBef>
                <a:spcPct val="0"/>
              </a:spcBef>
            </a:pPr>
            <a:r>
              <a:rPr lang="en-US" sz="3499" b="1" u="sng">
                <a:solidFill>
                  <a:srgbClr val="000000"/>
                </a:solidFill>
                <a:latin typeface="Canva Sans Bold"/>
                <a:ea typeface="Canva Sans Bold"/>
                <a:cs typeface="Canva Sans Bold"/>
                <a:sym typeface="Canva Sans Bold"/>
              </a:rPr>
              <a:t>Conclusion</a:t>
            </a:r>
          </a:p>
          <a:p>
            <a:pPr algn="l">
              <a:lnSpc>
                <a:spcPts val="5778"/>
              </a:lnSpc>
              <a:spcBef>
                <a:spcPct val="0"/>
              </a:spcBef>
            </a:pPr>
            <a:endParaRPr lang="en-US" sz="3499" b="1" u="sng">
              <a:solidFill>
                <a:srgbClr val="000000"/>
              </a:solidFill>
              <a:latin typeface="Canva Sans Bold"/>
              <a:ea typeface="Canva Sans Bold"/>
              <a:cs typeface="Canva Sans Bold"/>
              <a:sym typeface="Canva Sans Bold"/>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Project Outcomes</a:t>
            </a:r>
          </a:p>
          <a:p>
            <a:pPr algn="l">
              <a:lnSpc>
                <a:spcPts val="3499"/>
              </a:lnSpc>
              <a:spcBef>
                <a:spcPct val="0"/>
              </a:spcBef>
            </a:pPr>
            <a:endParaRPr lang="en-US" sz="2499" b="1">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Improved visibility throughout the supply chain.</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Better inventory monitoring and control.</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Faster identification of operational bottlenecks.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Enhanced decision-making using data-driven insights.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Reduced logistics costs and improved customer satisfaction.</a:t>
            </a: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Future Scope</a:t>
            </a:r>
          </a:p>
          <a:p>
            <a:pPr algn="l">
              <a:lnSpc>
                <a:spcPts val="3499"/>
              </a:lnSpc>
              <a:spcBef>
                <a:spcPct val="0"/>
              </a:spcBef>
            </a:pPr>
            <a:endParaRPr lang="en-US" sz="2499" b="1">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Integrate IoT-based real-time shipment tracking.</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Apply machine learning for demand forecasting.</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Automate supply chain alerts and recommendations.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Develop predictive analytics dashboards.</a:t>
            </a:r>
          </a:p>
          <a:p>
            <a:pPr algn="l">
              <a:lnSpc>
                <a:spcPts val="5778"/>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331817" y="2794132"/>
            <a:ext cx="9747983" cy="2606226"/>
          </a:xfrm>
          <a:prstGeom prst="rect">
            <a:avLst/>
          </a:prstGeom>
        </p:spPr>
        <p:txBody>
          <a:bodyPr lIns="0" tIns="0" rIns="0" bIns="0" rtlCol="0" anchor="t">
            <a:spAutoFit/>
          </a:bodyPr>
          <a:lstStyle/>
          <a:p>
            <a:pPr algn="ctr">
              <a:lnSpc>
                <a:spcPts val="21412"/>
              </a:lnSpc>
              <a:spcBef>
                <a:spcPct val="0"/>
              </a:spcBef>
            </a:pPr>
            <a:r>
              <a:rPr lang="en-US" sz="15294" b="1">
                <a:solidFill>
                  <a:srgbClr val="000000"/>
                </a:solidFill>
                <a:latin typeface="Canva Sans Bold"/>
                <a:ea typeface="Canva Sans Bold"/>
                <a:cs typeface="Canva Sans Bold"/>
                <a:sym typeface="Canva Sans Bold"/>
              </a:rPr>
              <a:t>Thank You</a:t>
            </a:r>
          </a:p>
        </p:txBody>
      </p:sp>
    </p:spTree>
  </p:cSld>
  <p:clrMapOvr>
    <a:masterClrMapping/>
  </p:clrMapOvr>
</p:sld>
</file>

<file path=ppt/theme/theme1.xml><?xml version="1.0" encoding="utf-8"?>
<a:theme xmlns:a="http://schemas.openxmlformats.org/drawingml/2006/main" name="Facet">
  <a:themeElements>
    <a:clrScheme name="Yellow">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3180</TotalTime>
  <Words>759</Words>
  <Application>Microsoft Office PowerPoint</Application>
  <PresentationFormat>Custom</PresentationFormat>
  <Paragraphs>158</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Canva Sans</vt:lpstr>
      <vt:lpstr>Arial</vt:lpstr>
      <vt:lpstr>Canva Sans Bold</vt:lpstr>
      <vt:lpstr>Inter Medium</vt:lpstr>
      <vt:lpstr>Wingdings 3</vt:lpstr>
      <vt:lpstr>Times New Roman</vt:lpstr>
      <vt:lpstr>Trebuchet MS</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Infosys  INTERNSHIP Milestone 1 presentation</dc:title>
  <dc:creator>Student</dc:creator>
  <cp:lastModifiedBy>Sanmitha Kulal</cp:lastModifiedBy>
  <cp:revision>6</cp:revision>
  <dcterms:created xsi:type="dcterms:W3CDTF">2006-08-16T00:00:00Z</dcterms:created>
  <dcterms:modified xsi:type="dcterms:W3CDTF">2026-08-11T11:10:19Z</dcterms:modified>
  <dc:identifier>DAHOw308CdU</dc:identifier>
</cp:coreProperties>
</file>