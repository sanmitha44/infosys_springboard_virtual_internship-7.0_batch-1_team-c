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7" r:id="rId3"/>
    <p:sldId id="258" r:id="rId4"/>
    <p:sldId id="259" r:id="rId5"/>
    <p:sldId id="260" r:id="rId6"/>
    <p:sldId id="261" r:id="rId7"/>
    <p:sldId id="267" r:id="rId8"/>
    <p:sldId id="262" r:id="rId9"/>
    <p:sldId id="263" r:id="rId10"/>
    <p:sldId id="268" r:id="rId11"/>
    <p:sldId id="286" r:id="rId12"/>
    <p:sldId id="309" r:id="rId13"/>
    <p:sldId id="308" r:id="rId14"/>
    <p:sldId id="310" r:id="rId15"/>
    <p:sldId id="327" r:id="rId16"/>
    <p:sldId id="328" r:id="rId17"/>
    <p:sldId id="285" r:id="rId18"/>
    <p:sldId id="269" r:id="rId19"/>
    <p:sldId id="270" r:id="rId20"/>
    <p:sldId id="271" r:id="rId21"/>
    <p:sldId id="272" r:id="rId22"/>
    <p:sldId id="273" r:id="rId23"/>
    <p:sldId id="274" r:id="rId24"/>
    <p:sldId id="275" r:id="rId25"/>
    <p:sldId id="278" r:id="rId26"/>
    <p:sldId id="279" r:id="rId27"/>
    <p:sldId id="280" r:id="rId28"/>
    <p:sldId id="281" r:id="rId29"/>
    <p:sldId id="282" r:id="rId30"/>
    <p:sldId id="283"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kant Upadhyay" userId="73514c74ba6955ec" providerId="LiveId" clId="{B57576D9-9520-4456-8125-E93D9586F69E}"/>
    <pc:docChg chg="custSel addSld delSld modSld sldOrd">
      <pc:chgData name="Suryakant Upadhyay" userId="73514c74ba6955ec" providerId="LiveId" clId="{B57576D9-9520-4456-8125-E93D9586F69E}" dt="2026-08-14T13:34:37.807" v="377" actId="47"/>
      <pc:docMkLst>
        <pc:docMk/>
      </pc:docMkLst>
      <pc:sldChg chg="add">
        <pc:chgData name="Suryakant Upadhyay" userId="73514c74ba6955ec" providerId="LiveId" clId="{B57576D9-9520-4456-8125-E93D9586F69E}" dt="2026-08-01T18:47:33.303" v="1"/>
        <pc:sldMkLst>
          <pc:docMk/>
          <pc:sldMk cId="2834630648" sldId="257"/>
        </pc:sldMkLst>
      </pc:sldChg>
      <pc:sldChg chg="add">
        <pc:chgData name="Suryakant Upadhyay" userId="73514c74ba6955ec" providerId="LiveId" clId="{B57576D9-9520-4456-8125-E93D9586F69E}" dt="2026-08-01T18:47:33.303" v="1"/>
        <pc:sldMkLst>
          <pc:docMk/>
          <pc:sldMk cId="1448506286" sldId="258"/>
        </pc:sldMkLst>
      </pc:sldChg>
      <pc:sldChg chg="add">
        <pc:chgData name="Suryakant Upadhyay" userId="73514c74ba6955ec" providerId="LiveId" clId="{B57576D9-9520-4456-8125-E93D9586F69E}" dt="2026-08-01T18:47:33.303" v="1"/>
        <pc:sldMkLst>
          <pc:docMk/>
          <pc:sldMk cId="858145667" sldId="259"/>
        </pc:sldMkLst>
      </pc:sldChg>
      <pc:sldChg chg="add">
        <pc:chgData name="Suryakant Upadhyay" userId="73514c74ba6955ec" providerId="LiveId" clId="{B57576D9-9520-4456-8125-E93D9586F69E}" dt="2026-08-01T18:47:33.303" v="1"/>
        <pc:sldMkLst>
          <pc:docMk/>
          <pc:sldMk cId="4058130009" sldId="260"/>
        </pc:sldMkLst>
      </pc:sldChg>
      <pc:sldChg chg="add">
        <pc:chgData name="Suryakant Upadhyay" userId="73514c74ba6955ec" providerId="LiveId" clId="{B57576D9-9520-4456-8125-E93D9586F69E}" dt="2026-08-01T18:47:33.303" v="1"/>
        <pc:sldMkLst>
          <pc:docMk/>
          <pc:sldMk cId="899186708" sldId="261"/>
        </pc:sldMkLst>
      </pc:sldChg>
      <pc:sldChg chg="add">
        <pc:chgData name="Suryakant Upadhyay" userId="73514c74ba6955ec" providerId="LiveId" clId="{B57576D9-9520-4456-8125-E93D9586F69E}" dt="2026-08-01T18:47:33.303" v="1"/>
        <pc:sldMkLst>
          <pc:docMk/>
          <pc:sldMk cId="2942778491" sldId="262"/>
        </pc:sldMkLst>
      </pc:sldChg>
      <pc:sldChg chg="add">
        <pc:chgData name="Suryakant Upadhyay" userId="73514c74ba6955ec" providerId="LiveId" clId="{B57576D9-9520-4456-8125-E93D9586F69E}" dt="2026-08-01T18:47:33.303" v="1"/>
        <pc:sldMkLst>
          <pc:docMk/>
          <pc:sldMk cId="4079907099" sldId="263"/>
        </pc:sldMkLst>
      </pc:sldChg>
      <pc:sldChg chg="modSp add mod">
        <pc:chgData name="Suryakant Upadhyay" userId="73514c74ba6955ec" providerId="LiveId" clId="{B57576D9-9520-4456-8125-E93D9586F69E}" dt="2026-08-03T13:46:21.737" v="154" actId="20577"/>
        <pc:sldMkLst>
          <pc:docMk/>
          <pc:sldMk cId="1501798780" sldId="266"/>
        </pc:sldMkLst>
        <pc:spChg chg="mod">
          <ac:chgData name="Suryakant Upadhyay" userId="73514c74ba6955ec" providerId="LiveId" clId="{B57576D9-9520-4456-8125-E93D9586F69E}" dt="2026-08-03T13:46:21.737" v="154" actId="20577"/>
          <ac:spMkLst>
            <pc:docMk/>
            <pc:sldMk cId="1501798780" sldId="266"/>
            <ac:spMk id="3" creationId="{4089308F-5B55-E127-2A07-E88CF3376420}"/>
          </ac:spMkLst>
        </pc:spChg>
      </pc:sldChg>
      <pc:sldChg chg="add">
        <pc:chgData name="Suryakant Upadhyay" userId="73514c74ba6955ec" providerId="LiveId" clId="{B57576D9-9520-4456-8125-E93D9586F69E}" dt="2026-08-01T18:47:33.303" v="1"/>
        <pc:sldMkLst>
          <pc:docMk/>
          <pc:sldMk cId="1059091316" sldId="267"/>
        </pc:sldMkLst>
      </pc:sldChg>
      <pc:sldChg chg="addSp delSp modSp add mod">
        <pc:chgData name="Suryakant Upadhyay" userId="73514c74ba6955ec" providerId="LiveId" clId="{B57576D9-9520-4456-8125-E93D9586F69E}" dt="2026-08-04T13:30:45.869" v="159" actId="1076"/>
        <pc:sldMkLst>
          <pc:docMk/>
          <pc:sldMk cId="36035379" sldId="268"/>
        </pc:sldMkLst>
        <pc:picChg chg="add mod">
          <ac:chgData name="Suryakant Upadhyay" userId="73514c74ba6955ec" providerId="LiveId" clId="{B57576D9-9520-4456-8125-E93D9586F69E}" dt="2026-08-04T13:30:45.869" v="159" actId="1076"/>
          <ac:picMkLst>
            <pc:docMk/>
            <pc:sldMk cId="36035379" sldId="268"/>
            <ac:picMk id="4" creationId="{9B4BC006-D127-B08B-432A-9D9865C2407C}"/>
          </ac:picMkLst>
        </pc:picChg>
      </pc:sldChg>
      <pc:sldChg chg="add">
        <pc:chgData name="Suryakant Upadhyay" userId="73514c74ba6955ec" providerId="LiveId" clId="{B57576D9-9520-4456-8125-E93D9586F69E}" dt="2026-08-01T18:47:33.303" v="1"/>
        <pc:sldMkLst>
          <pc:docMk/>
          <pc:sldMk cId="2273915199" sldId="269"/>
        </pc:sldMkLst>
      </pc:sldChg>
      <pc:sldChg chg="add">
        <pc:chgData name="Suryakant Upadhyay" userId="73514c74ba6955ec" providerId="LiveId" clId="{B57576D9-9520-4456-8125-E93D9586F69E}" dt="2026-08-01T18:47:33.303" v="1"/>
        <pc:sldMkLst>
          <pc:docMk/>
          <pc:sldMk cId="1321361063" sldId="270"/>
        </pc:sldMkLst>
      </pc:sldChg>
      <pc:sldChg chg="add">
        <pc:chgData name="Suryakant Upadhyay" userId="73514c74ba6955ec" providerId="LiveId" clId="{B57576D9-9520-4456-8125-E93D9586F69E}" dt="2026-08-01T18:47:33.303" v="1"/>
        <pc:sldMkLst>
          <pc:docMk/>
          <pc:sldMk cId="1224653161" sldId="271"/>
        </pc:sldMkLst>
      </pc:sldChg>
      <pc:sldChg chg="add">
        <pc:chgData name="Suryakant Upadhyay" userId="73514c74ba6955ec" providerId="LiveId" clId="{B57576D9-9520-4456-8125-E93D9586F69E}" dt="2026-08-01T18:47:33.303" v="1"/>
        <pc:sldMkLst>
          <pc:docMk/>
          <pc:sldMk cId="4251583444" sldId="272"/>
        </pc:sldMkLst>
      </pc:sldChg>
      <pc:sldChg chg="add">
        <pc:chgData name="Suryakant Upadhyay" userId="73514c74ba6955ec" providerId="LiveId" clId="{B57576D9-9520-4456-8125-E93D9586F69E}" dt="2026-08-01T18:47:33.303" v="1"/>
        <pc:sldMkLst>
          <pc:docMk/>
          <pc:sldMk cId="1223786670" sldId="273"/>
        </pc:sldMkLst>
      </pc:sldChg>
      <pc:sldChg chg="add">
        <pc:chgData name="Suryakant Upadhyay" userId="73514c74ba6955ec" providerId="LiveId" clId="{B57576D9-9520-4456-8125-E93D9586F69E}" dt="2026-08-01T18:47:33.303" v="1"/>
        <pc:sldMkLst>
          <pc:docMk/>
          <pc:sldMk cId="486399498" sldId="274"/>
        </pc:sldMkLst>
      </pc:sldChg>
      <pc:sldChg chg="add">
        <pc:chgData name="Suryakant Upadhyay" userId="73514c74ba6955ec" providerId="LiveId" clId="{B57576D9-9520-4456-8125-E93D9586F69E}" dt="2026-08-01T18:47:33.303" v="1"/>
        <pc:sldMkLst>
          <pc:docMk/>
          <pc:sldMk cId="1505591183" sldId="275"/>
        </pc:sldMkLst>
      </pc:sldChg>
      <pc:sldChg chg="add">
        <pc:chgData name="Suryakant Upadhyay" userId="73514c74ba6955ec" providerId="LiveId" clId="{B57576D9-9520-4456-8125-E93D9586F69E}" dt="2026-08-01T18:47:33.303" v="1"/>
        <pc:sldMkLst>
          <pc:docMk/>
          <pc:sldMk cId="3177649576" sldId="278"/>
        </pc:sldMkLst>
      </pc:sldChg>
      <pc:sldChg chg="add">
        <pc:chgData name="Suryakant Upadhyay" userId="73514c74ba6955ec" providerId="LiveId" clId="{B57576D9-9520-4456-8125-E93D9586F69E}" dt="2026-08-01T18:47:33.303" v="1"/>
        <pc:sldMkLst>
          <pc:docMk/>
          <pc:sldMk cId="1410333046" sldId="279"/>
        </pc:sldMkLst>
      </pc:sldChg>
      <pc:sldChg chg="add">
        <pc:chgData name="Suryakant Upadhyay" userId="73514c74ba6955ec" providerId="LiveId" clId="{B57576D9-9520-4456-8125-E93D9586F69E}" dt="2026-08-01T18:47:33.303" v="1"/>
        <pc:sldMkLst>
          <pc:docMk/>
          <pc:sldMk cId="903906212" sldId="280"/>
        </pc:sldMkLst>
      </pc:sldChg>
      <pc:sldChg chg="add">
        <pc:chgData name="Suryakant Upadhyay" userId="73514c74ba6955ec" providerId="LiveId" clId="{B57576D9-9520-4456-8125-E93D9586F69E}" dt="2026-08-01T18:47:33.303" v="1"/>
        <pc:sldMkLst>
          <pc:docMk/>
          <pc:sldMk cId="1046526426" sldId="281"/>
        </pc:sldMkLst>
      </pc:sldChg>
      <pc:sldChg chg="add">
        <pc:chgData name="Suryakant Upadhyay" userId="73514c74ba6955ec" providerId="LiveId" clId="{B57576D9-9520-4456-8125-E93D9586F69E}" dt="2026-08-01T18:47:33.303" v="1"/>
        <pc:sldMkLst>
          <pc:docMk/>
          <pc:sldMk cId="2373314321" sldId="282"/>
        </pc:sldMkLst>
      </pc:sldChg>
      <pc:sldChg chg="modSp add mod">
        <pc:chgData name="Suryakant Upadhyay" userId="73514c74ba6955ec" providerId="LiveId" clId="{B57576D9-9520-4456-8125-E93D9586F69E}" dt="2026-08-01T19:02:37.543" v="52" actId="20577"/>
        <pc:sldMkLst>
          <pc:docMk/>
          <pc:sldMk cId="3841855751" sldId="283"/>
        </pc:sldMkLst>
        <pc:spChg chg="mod">
          <ac:chgData name="Suryakant Upadhyay" userId="73514c74ba6955ec" providerId="LiveId" clId="{B57576D9-9520-4456-8125-E93D9586F69E}" dt="2026-08-01T19:02:37.543" v="52" actId="20577"/>
          <ac:spMkLst>
            <pc:docMk/>
            <pc:sldMk cId="3841855751" sldId="283"/>
            <ac:spMk id="4" creationId="{91D7EE8F-6731-B97A-F39A-D33194B513CB}"/>
          </ac:spMkLst>
        </pc:spChg>
      </pc:sldChg>
      <pc:sldChg chg="add">
        <pc:chgData name="Suryakant Upadhyay" userId="73514c74ba6955ec" providerId="LiveId" clId="{B57576D9-9520-4456-8125-E93D9586F69E}" dt="2026-08-01T18:47:33.303" v="1"/>
        <pc:sldMkLst>
          <pc:docMk/>
          <pc:sldMk cId="3553981878" sldId="285"/>
        </pc:sldMkLst>
      </pc:sldChg>
      <pc:sldChg chg="addSp delSp modSp add mod">
        <pc:chgData name="Suryakant Upadhyay" userId="73514c74ba6955ec" providerId="LiveId" clId="{B57576D9-9520-4456-8125-E93D9586F69E}" dt="2026-08-04T13:31:23.491" v="163" actId="1076"/>
        <pc:sldMkLst>
          <pc:docMk/>
          <pc:sldMk cId="3768542377" sldId="286"/>
        </pc:sldMkLst>
        <pc:picChg chg="add mod">
          <ac:chgData name="Suryakant Upadhyay" userId="73514c74ba6955ec" providerId="LiveId" clId="{B57576D9-9520-4456-8125-E93D9586F69E}" dt="2026-08-04T13:31:23.491" v="163" actId="1076"/>
          <ac:picMkLst>
            <pc:docMk/>
            <pc:sldMk cId="3768542377" sldId="286"/>
            <ac:picMk id="4" creationId="{AF899137-82A5-A482-7A6C-8941CE6F0B99}"/>
          </ac:picMkLst>
        </pc:picChg>
      </pc:sldChg>
      <pc:sldChg chg="addSp modSp new mod">
        <pc:chgData name="Suryakant Upadhyay" userId="73514c74ba6955ec" providerId="LiveId" clId="{B57576D9-9520-4456-8125-E93D9586F69E}" dt="2026-08-01T18:53:45.521" v="20" actId="255"/>
        <pc:sldMkLst>
          <pc:docMk/>
          <pc:sldMk cId="796112711" sldId="287"/>
        </pc:sldMkLst>
        <pc:spChg chg="add mod">
          <ac:chgData name="Suryakant Upadhyay" userId="73514c74ba6955ec" providerId="LiveId" clId="{B57576D9-9520-4456-8125-E93D9586F69E}" dt="2026-08-01T18:52:06.473" v="15" actId="1076"/>
          <ac:spMkLst>
            <pc:docMk/>
            <pc:sldMk cId="796112711" sldId="287"/>
            <ac:spMk id="3" creationId="{F23D0839-836E-440C-353B-D3580E7A2D62}"/>
          </ac:spMkLst>
        </pc:spChg>
        <pc:spChg chg="add mod">
          <ac:chgData name="Suryakant Upadhyay" userId="73514c74ba6955ec" providerId="LiveId" clId="{B57576D9-9520-4456-8125-E93D9586F69E}" dt="2026-08-01T18:53:45.521" v="20" actId="255"/>
          <ac:spMkLst>
            <pc:docMk/>
            <pc:sldMk cId="796112711" sldId="287"/>
            <ac:spMk id="5" creationId="{9114299F-0BE5-EA93-F379-7E652AF4768F}"/>
          </ac:spMkLst>
        </pc:spChg>
      </pc:sldChg>
      <pc:sldChg chg="addSp modSp new mod">
        <pc:chgData name="Suryakant Upadhyay" userId="73514c74ba6955ec" providerId="LiveId" clId="{B57576D9-9520-4456-8125-E93D9586F69E}" dt="2026-08-01T18:54:55.618" v="25" actId="255"/>
        <pc:sldMkLst>
          <pc:docMk/>
          <pc:sldMk cId="1964207275" sldId="288"/>
        </pc:sldMkLst>
        <pc:spChg chg="add mod">
          <ac:chgData name="Suryakant Upadhyay" userId="73514c74ba6955ec" providerId="LiveId" clId="{B57576D9-9520-4456-8125-E93D9586F69E}" dt="2026-08-01T18:54:55.618" v="25" actId="255"/>
          <ac:spMkLst>
            <pc:docMk/>
            <pc:sldMk cId="1964207275" sldId="288"/>
            <ac:spMk id="3" creationId="{93126ECD-01CF-FE61-81A8-BBB4507A1035}"/>
          </ac:spMkLst>
        </pc:spChg>
      </pc:sldChg>
      <pc:sldChg chg="addSp modSp new mod">
        <pc:chgData name="Suryakant Upadhyay" userId="73514c74ba6955ec" providerId="LiveId" clId="{B57576D9-9520-4456-8125-E93D9586F69E}" dt="2026-08-01T18:56:52.420" v="30" actId="255"/>
        <pc:sldMkLst>
          <pc:docMk/>
          <pc:sldMk cId="3983506077" sldId="289"/>
        </pc:sldMkLst>
        <pc:spChg chg="add mod">
          <ac:chgData name="Suryakant Upadhyay" userId="73514c74ba6955ec" providerId="LiveId" clId="{B57576D9-9520-4456-8125-E93D9586F69E}" dt="2026-08-01T18:56:52.420" v="30" actId="255"/>
          <ac:spMkLst>
            <pc:docMk/>
            <pc:sldMk cId="3983506077" sldId="289"/>
            <ac:spMk id="3" creationId="{D323D552-F1AB-0C14-A921-093919FC7F12}"/>
          </ac:spMkLst>
        </pc:spChg>
      </pc:sldChg>
      <pc:sldChg chg="addSp modSp new mod">
        <pc:chgData name="Suryakant Upadhyay" userId="73514c74ba6955ec" providerId="LiveId" clId="{B57576D9-9520-4456-8125-E93D9586F69E}" dt="2026-08-01T18:57:42.070" v="35" actId="1076"/>
        <pc:sldMkLst>
          <pc:docMk/>
          <pc:sldMk cId="1106743521" sldId="290"/>
        </pc:sldMkLst>
        <pc:spChg chg="add mod">
          <ac:chgData name="Suryakant Upadhyay" userId="73514c74ba6955ec" providerId="LiveId" clId="{B57576D9-9520-4456-8125-E93D9586F69E}" dt="2026-08-01T18:57:42.070" v="35" actId="1076"/>
          <ac:spMkLst>
            <pc:docMk/>
            <pc:sldMk cId="1106743521" sldId="290"/>
            <ac:spMk id="3" creationId="{0CBF338C-1D3B-7DF9-3F44-067B7D508B30}"/>
          </ac:spMkLst>
        </pc:spChg>
      </pc:sldChg>
      <pc:sldChg chg="addSp modSp new mod">
        <pc:chgData name="Suryakant Upadhyay" userId="73514c74ba6955ec" providerId="LiveId" clId="{B57576D9-9520-4456-8125-E93D9586F69E}" dt="2026-08-01T18:58:24.748" v="40" actId="1076"/>
        <pc:sldMkLst>
          <pc:docMk/>
          <pc:sldMk cId="114775308" sldId="291"/>
        </pc:sldMkLst>
        <pc:spChg chg="add mod">
          <ac:chgData name="Suryakant Upadhyay" userId="73514c74ba6955ec" providerId="LiveId" clId="{B57576D9-9520-4456-8125-E93D9586F69E}" dt="2026-08-01T18:58:24.748" v="40" actId="1076"/>
          <ac:spMkLst>
            <pc:docMk/>
            <pc:sldMk cId="114775308" sldId="291"/>
            <ac:spMk id="3" creationId="{C8C0FAB6-8132-D21C-7F94-F340D861DEAC}"/>
          </ac:spMkLst>
        </pc:spChg>
      </pc:sldChg>
      <pc:sldChg chg="addSp modSp new mod">
        <pc:chgData name="Suryakant Upadhyay" userId="73514c74ba6955ec" providerId="LiveId" clId="{B57576D9-9520-4456-8125-E93D9586F69E}" dt="2026-08-01T19:00:12.701" v="44" actId="1076"/>
        <pc:sldMkLst>
          <pc:docMk/>
          <pc:sldMk cId="1845898592" sldId="292"/>
        </pc:sldMkLst>
        <pc:spChg chg="add mod">
          <ac:chgData name="Suryakant Upadhyay" userId="73514c74ba6955ec" providerId="LiveId" clId="{B57576D9-9520-4456-8125-E93D9586F69E}" dt="2026-08-01T19:00:12.701" v="44" actId="1076"/>
          <ac:spMkLst>
            <pc:docMk/>
            <pc:sldMk cId="1845898592" sldId="292"/>
            <ac:spMk id="3" creationId="{A97A112C-8652-5891-9120-31BB695E4246}"/>
          </ac:spMkLst>
        </pc:spChg>
      </pc:sldChg>
      <pc:sldChg chg="addSp modSp new mod">
        <pc:chgData name="Suryakant Upadhyay" userId="73514c74ba6955ec" providerId="LiveId" clId="{B57576D9-9520-4456-8125-E93D9586F69E}" dt="2026-08-01T19:01:32.003" v="49" actId="1076"/>
        <pc:sldMkLst>
          <pc:docMk/>
          <pc:sldMk cId="223218739" sldId="293"/>
        </pc:sldMkLst>
        <pc:spChg chg="add mod">
          <ac:chgData name="Suryakant Upadhyay" userId="73514c74ba6955ec" providerId="LiveId" clId="{B57576D9-9520-4456-8125-E93D9586F69E}" dt="2026-08-01T19:01:32.003" v="49" actId="1076"/>
          <ac:spMkLst>
            <pc:docMk/>
            <pc:sldMk cId="223218739" sldId="293"/>
            <ac:spMk id="3" creationId="{A09D0B6C-9B65-D040-FFA1-67E22B746151}"/>
          </ac:spMkLst>
        </pc:spChg>
      </pc:sldChg>
      <pc:sldChg chg="addSp modSp new mod">
        <pc:chgData name="Suryakant Upadhyay" userId="73514c74ba6955ec" providerId="LiveId" clId="{B57576D9-9520-4456-8125-E93D9586F69E}" dt="2026-08-01T19:10:18.466" v="66" actId="1076"/>
        <pc:sldMkLst>
          <pc:docMk/>
          <pc:sldMk cId="2011485258" sldId="294"/>
        </pc:sldMkLst>
        <pc:spChg chg="add mod">
          <ac:chgData name="Suryakant Upadhyay" userId="73514c74ba6955ec" providerId="LiveId" clId="{B57576D9-9520-4456-8125-E93D9586F69E}" dt="2026-08-01T19:06:17.989" v="61" actId="1076"/>
          <ac:spMkLst>
            <pc:docMk/>
            <pc:sldMk cId="2011485258" sldId="294"/>
            <ac:spMk id="3" creationId="{A367CA4B-3EC4-18F0-FC19-68BDB4B672AE}"/>
          </ac:spMkLst>
        </pc:spChg>
        <pc:spChg chg="add mod">
          <ac:chgData name="Suryakant Upadhyay" userId="73514c74ba6955ec" providerId="LiveId" clId="{B57576D9-9520-4456-8125-E93D9586F69E}" dt="2026-08-01T19:10:18.466" v="66" actId="1076"/>
          <ac:spMkLst>
            <pc:docMk/>
            <pc:sldMk cId="2011485258" sldId="294"/>
            <ac:spMk id="5" creationId="{D916FFF7-C2B2-4C3D-8FD2-0EB8C8C376D2}"/>
          </ac:spMkLst>
        </pc:spChg>
      </pc:sldChg>
      <pc:sldChg chg="addSp modSp new mod">
        <pc:chgData name="Suryakant Upadhyay" userId="73514c74ba6955ec" providerId="LiveId" clId="{B57576D9-9520-4456-8125-E93D9586F69E}" dt="2026-08-01T19:11:22.968" v="76" actId="1076"/>
        <pc:sldMkLst>
          <pc:docMk/>
          <pc:sldMk cId="838620792" sldId="295"/>
        </pc:sldMkLst>
        <pc:spChg chg="add mod">
          <ac:chgData name="Suryakant Upadhyay" userId="73514c74ba6955ec" providerId="LiveId" clId="{B57576D9-9520-4456-8125-E93D9586F69E}" dt="2026-08-01T19:11:22.968" v="76" actId="1076"/>
          <ac:spMkLst>
            <pc:docMk/>
            <pc:sldMk cId="838620792" sldId="295"/>
            <ac:spMk id="3" creationId="{AA15AFBA-303B-AF83-705C-E82988A9F738}"/>
          </ac:spMkLst>
        </pc:spChg>
      </pc:sldChg>
      <pc:sldChg chg="addSp modSp new mod">
        <pc:chgData name="Suryakant Upadhyay" userId="73514c74ba6955ec" providerId="LiveId" clId="{B57576D9-9520-4456-8125-E93D9586F69E}" dt="2026-08-01T19:13:14.290" v="81" actId="1076"/>
        <pc:sldMkLst>
          <pc:docMk/>
          <pc:sldMk cId="2518313470" sldId="296"/>
        </pc:sldMkLst>
        <pc:spChg chg="add mod">
          <ac:chgData name="Suryakant Upadhyay" userId="73514c74ba6955ec" providerId="LiveId" clId="{B57576D9-9520-4456-8125-E93D9586F69E}" dt="2026-08-01T19:13:14.290" v="81" actId="1076"/>
          <ac:spMkLst>
            <pc:docMk/>
            <pc:sldMk cId="2518313470" sldId="296"/>
            <ac:spMk id="3" creationId="{0DEB92EB-92F0-56BA-9462-F11C7D6BBB37}"/>
          </ac:spMkLst>
        </pc:spChg>
      </pc:sldChg>
      <pc:sldChg chg="addSp modSp new mod">
        <pc:chgData name="Suryakant Upadhyay" userId="73514c74ba6955ec" providerId="LiveId" clId="{B57576D9-9520-4456-8125-E93D9586F69E}" dt="2026-08-02T03:42:52.848" v="86" actId="255"/>
        <pc:sldMkLst>
          <pc:docMk/>
          <pc:sldMk cId="1199011209" sldId="297"/>
        </pc:sldMkLst>
        <pc:spChg chg="add mod">
          <ac:chgData name="Suryakant Upadhyay" userId="73514c74ba6955ec" providerId="LiveId" clId="{B57576D9-9520-4456-8125-E93D9586F69E}" dt="2026-08-02T03:42:52.848" v="86" actId="255"/>
          <ac:spMkLst>
            <pc:docMk/>
            <pc:sldMk cId="1199011209" sldId="297"/>
            <ac:spMk id="3" creationId="{3FAAE78B-7F05-DC52-1DFA-7DB5025A1BF3}"/>
          </ac:spMkLst>
        </pc:spChg>
      </pc:sldChg>
      <pc:sldChg chg="addSp modSp new mod">
        <pc:chgData name="Suryakant Upadhyay" userId="73514c74ba6955ec" providerId="LiveId" clId="{B57576D9-9520-4456-8125-E93D9586F69E}" dt="2026-08-02T03:43:44.473" v="91" actId="1076"/>
        <pc:sldMkLst>
          <pc:docMk/>
          <pc:sldMk cId="1486906443" sldId="298"/>
        </pc:sldMkLst>
        <pc:spChg chg="add mod">
          <ac:chgData name="Suryakant Upadhyay" userId="73514c74ba6955ec" providerId="LiveId" clId="{B57576D9-9520-4456-8125-E93D9586F69E}" dt="2026-08-02T03:43:44.473" v="91" actId="1076"/>
          <ac:spMkLst>
            <pc:docMk/>
            <pc:sldMk cId="1486906443" sldId="298"/>
            <ac:spMk id="3" creationId="{D5F8F2D3-7B6C-FDCA-A048-F026DC1F68A7}"/>
          </ac:spMkLst>
        </pc:spChg>
      </pc:sldChg>
      <pc:sldChg chg="addSp modSp new mod">
        <pc:chgData name="Suryakant Upadhyay" userId="73514c74ba6955ec" providerId="LiveId" clId="{B57576D9-9520-4456-8125-E93D9586F69E}" dt="2026-08-02T03:44:55.456" v="98" actId="1076"/>
        <pc:sldMkLst>
          <pc:docMk/>
          <pc:sldMk cId="1093821737" sldId="299"/>
        </pc:sldMkLst>
        <pc:spChg chg="add mod">
          <ac:chgData name="Suryakant Upadhyay" userId="73514c74ba6955ec" providerId="LiveId" clId="{B57576D9-9520-4456-8125-E93D9586F69E}" dt="2026-08-02T03:44:55.456" v="98" actId="1076"/>
          <ac:spMkLst>
            <pc:docMk/>
            <pc:sldMk cId="1093821737" sldId="299"/>
            <ac:spMk id="3" creationId="{028F2EAE-DCEE-F19E-957A-61DAC23875EA}"/>
          </ac:spMkLst>
        </pc:spChg>
      </pc:sldChg>
      <pc:sldChg chg="addSp modSp new mod">
        <pc:chgData name="Suryakant Upadhyay" userId="73514c74ba6955ec" providerId="LiveId" clId="{B57576D9-9520-4456-8125-E93D9586F69E}" dt="2026-08-02T03:46:30.310" v="106" actId="1076"/>
        <pc:sldMkLst>
          <pc:docMk/>
          <pc:sldMk cId="1860355060" sldId="300"/>
        </pc:sldMkLst>
        <pc:spChg chg="add mod">
          <ac:chgData name="Suryakant Upadhyay" userId="73514c74ba6955ec" providerId="LiveId" clId="{B57576D9-9520-4456-8125-E93D9586F69E}" dt="2026-08-02T03:46:30.310" v="106" actId="1076"/>
          <ac:spMkLst>
            <pc:docMk/>
            <pc:sldMk cId="1860355060" sldId="300"/>
            <ac:spMk id="3" creationId="{901DBBAB-7BCC-9956-0BE0-7BFEAB017AAB}"/>
          </ac:spMkLst>
        </pc:spChg>
      </pc:sldChg>
      <pc:sldChg chg="addSp modSp new mod">
        <pc:chgData name="Suryakant Upadhyay" userId="73514c74ba6955ec" providerId="LiveId" clId="{B57576D9-9520-4456-8125-E93D9586F69E}" dt="2026-08-02T11:35:24.954" v="118" actId="1076"/>
        <pc:sldMkLst>
          <pc:docMk/>
          <pc:sldMk cId="975028060" sldId="301"/>
        </pc:sldMkLst>
        <pc:spChg chg="add mod">
          <ac:chgData name="Suryakant Upadhyay" userId="73514c74ba6955ec" providerId="LiveId" clId="{B57576D9-9520-4456-8125-E93D9586F69E}" dt="2026-08-02T11:34:21.694" v="112" actId="1076"/>
          <ac:spMkLst>
            <pc:docMk/>
            <pc:sldMk cId="975028060" sldId="301"/>
            <ac:spMk id="3" creationId="{5CDC7F83-D5AE-6960-0713-FD0B2ACE334E}"/>
          </ac:spMkLst>
        </pc:spChg>
        <pc:spChg chg="add mod">
          <ac:chgData name="Suryakant Upadhyay" userId="73514c74ba6955ec" providerId="LiveId" clId="{B57576D9-9520-4456-8125-E93D9586F69E}" dt="2026-08-02T11:35:24.954" v="118" actId="1076"/>
          <ac:spMkLst>
            <pc:docMk/>
            <pc:sldMk cId="975028060" sldId="301"/>
            <ac:spMk id="5" creationId="{CD86DE1D-B6C1-C784-4BCA-9E3B147B6831}"/>
          </ac:spMkLst>
        </pc:spChg>
      </pc:sldChg>
      <pc:sldChg chg="addSp modSp new mod">
        <pc:chgData name="Suryakant Upadhyay" userId="73514c74ba6955ec" providerId="LiveId" clId="{B57576D9-9520-4456-8125-E93D9586F69E}" dt="2026-08-02T11:36:12.581" v="128" actId="1076"/>
        <pc:sldMkLst>
          <pc:docMk/>
          <pc:sldMk cId="1648843009" sldId="302"/>
        </pc:sldMkLst>
        <pc:spChg chg="add mod">
          <ac:chgData name="Suryakant Upadhyay" userId="73514c74ba6955ec" providerId="LiveId" clId="{B57576D9-9520-4456-8125-E93D9586F69E}" dt="2026-08-02T11:36:12.581" v="128" actId="1076"/>
          <ac:spMkLst>
            <pc:docMk/>
            <pc:sldMk cId="1648843009" sldId="302"/>
            <ac:spMk id="3" creationId="{DEC56838-8870-072C-F178-BE5C5E684309}"/>
          </ac:spMkLst>
        </pc:spChg>
      </pc:sldChg>
      <pc:sldChg chg="addSp modSp new mod">
        <pc:chgData name="Suryakant Upadhyay" userId="73514c74ba6955ec" providerId="LiveId" clId="{B57576D9-9520-4456-8125-E93D9586F69E}" dt="2026-08-02T11:41:25.871" v="134" actId="1076"/>
        <pc:sldMkLst>
          <pc:docMk/>
          <pc:sldMk cId="1308395920" sldId="303"/>
        </pc:sldMkLst>
        <pc:spChg chg="add mod">
          <ac:chgData name="Suryakant Upadhyay" userId="73514c74ba6955ec" providerId="LiveId" clId="{B57576D9-9520-4456-8125-E93D9586F69E}" dt="2026-08-02T11:41:25.871" v="134" actId="1076"/>
          <ac:spMkLst>
            <pc:docMk/>
            <pc:sldMk cId="1308395920" sldId="303"/>
            <ac:spMk id="3" creationId="{57A3FC6D-0725-63A3-0CBC-5BD31B05A5E6}"/>
          </ac:spMkLst>
        </pc:spChg>
      </pc:sldChg>
      <pc:sldChg chg="addSp modSp new mod">
        <pc:chgData name="Suryakant Upadhyay" userId="73514c74ba6955ec" providerId="LiveId" clId="{B57576D9-9520-4456-8125-E93D9586F69E}" dt="2026-08-02T11:54:36.214" v="141" actId="1076"/>
        <pc:sldMkLst>
          <pc:docMk/>
          <pc:sldMk cId="1951811144" sldId="304"/>
        </pc:sldMkLst>
        <pc:spChg chg="add mod">
          <ac:chgData name="Suryakant Upadhyay" userId="73514c74ba6955ec" providerId="LiveId" clId="{B57576D9-9520-4456-8125-E93D9586F69E}" dt="2026-08-02T11:54:36.214" v="141" actId="1076"/>
          <ac:spMkLst>
            <pc:docMk/>
            <pc:sldMk cId="1951811144" sldId="304"/>
            <ac:spMk id="3" creationId="{B8874E98-803A-FC0B-1EC8-30AB3A4ECA5C}"/>
          </ac:spMkLst>
        </pc:spChg>
      </pc:sldChg>
      <pc:sldChg chg="addSp modSp new mod">
        <pc:chgData name="Suryakant Upadhyay" userId="73514c74ba6955ec" providerId="LiveId" clId="{B57576D9-9520-4456-8125-E93D9586F69E}" dt="2026-08-02T11:55:45.973" v="148" actId="1076"/>
        <pc:sldMkLst>
          <pc:docMk/>
          <pc:sldMk cId="1347305900" sldId="305"/>
        </pc:sldMkLst>
        <pc:spChg chg="add mod">
          <ac:chgData name="Suryakant Upadhyay" userId="73514c74ba6955ec" providerId="LiveId" clId="{B57576D9-9520-4456-8125-E93D9586F69E}" dt="2026-08-02T11:55:45.973" v="148" actId="1076"/>
          <ac:spMkLst>
            <pc:docMk/>
            <pc:sldMk cId="1347305900" sldId="305"/>
            <ac:spMk id="3" creationId="{FD7FA2B4-16BD-7AC0-23A2-2DF95EA2CD5D}"/>
          </ac:spMkLst>
        </pc:spChg>
      </pc:sldChg>
      <pc:sldChg chg="addSp modSp new mod">
        <pc:chgData name="Suryakant Upadhyay" userId="73514c74ba6955ec" providerId="LiveId" clId="{B57576D9-9520-4456-8125-E93D9586F69E}" dt="2026-08-04T13:38:35.760" v="185" actId="255"/>
        <pc:sldMkLst>
          <pc:docMk/>
          <pc:sldMk cId="1337065640" sldId="306"/>
        </pc:sldMkLst>
        <pc:spChg chg="add mod">
          <ac:chgData name="Suryakant Upadhyay" userId="73514c74ba6955ec" providerId="LiveId" clId="{B57576D9-9520-4456-8125-E93D9586F69E}" dt="2026-08-04T13:38:35.760" v="185" actId="255"/>
          <ac:spMkLst>
            <pc:docMk/>
            <pc:sldMk cId="1337065640" sldId="306"/>
            <ac:spMk id="3" creationId="{A7C7FE94-62A5-D97A-4EC9-7F2F81D7E39B}"/>
          </ac:spMkLst>
        </pc:spChg>
      </pc:sldChg>
      <pc:sldChg chg="addSp modSp new mod">
        <pc:chgData name="Suryakant Upadhyay" userId="73514c74ba6955ec" providerId="LiveId" clId="{B57576D9-9520-4456-8125-E93D9586F69E}" dt="2026-08-04T13:39:13.789" v="191" actId="1076"/>
        <pc:sldMkLst>
          <pc:docMk/>
          <pc:sldMk cId="3891185798" sldId="307"/>
        </pc:sldMkLst>
        <pc:spChg chg="add mod">
          <ac:chgData name="Suryakant Upadhyay" userId="73514c74ba6955ec" providerId="LiveId" clId="{B57576D9-9520-4456-8125-E93D9586F69E}" dt="2026-08-04T13:39:13.789" v="191" actId="1076"/>
          <ac:spMkLst>
            <pc:docMk/>
            <pc:sldMk cId="3891185798" sldId="307"/>
            <ac:spMk id="3" creationId="{09040552-0E4F-33AB-5211-E28AB96B4CA5}"/>
          </ac:spMkLst>
        </pc:spChg>
      </pc:sldChg>
      <pc:sldChg chg="addSp modSp new mod">
        <pc:chgData name="Suryakant Upadhyay" userId="73514c74ba6955ec" providerId="LiveId" clId="{B57576D9-9520-4456-8125-E93D9586F69E}" dt="2026-08-04T13:35:33.223" v="175" actId="1076"/>
        <pc:sldMkLst>
          <pc:docMk/>
          <pc:sldMk cId="443145243" sldId="308"/>
        </pc:sldMkLst>
        <pc:picChg chg="add mod">
          <ac:chgData name="Suryakant Upadhyay" userId="73514c74ba6955ec" providerId="LiveId" clId="{B57576D9-9520-4456-8125-E93D9586F69E}" dt="2026-08-04T13:35:33.223" v="175" actId="1076"/>
          <ac:picMkLst>
            <pc:docMk/>
            <pc:sldMk cId="443145243" sldId="308"/>
            <ac:picMk id="3" creationId="{50E4EAEC-5DAA-8DF5-5F0F-714D40EBC77D}"/>
          </ac:picMkLst>
        </pc:picChg>
      </pc:sldChg>
      <pc:sldChg chg="addSp modSp new mod ord">
        <pc:chgData name="Suryakant Upadhyay" userId="73514c74ba6955ec" providerId="LiveId" clId="{B57576D9-9520-4456-8125-E93D9586F69E}" dt="2026-08-04T13:32:13.156" v="172"/>
        <pc:sldMkLst>
          <pc:docMk/>
          <pc:sldMk cId="1114255013" sldId="309"/>
        </pc:sldMkLst>
        <pc:picChg chg="add mod">
          <ac:chgData name="Suryakant Upadhyay" userId="73514c74ba6955ec" providerId="LiveId" clId="{B57576D9-9520-4456-8125-E93D9586F69E}" dt="2026-08-04T13:32:03.445" v="168" actId="1076"/>
          <ac:picMkLst>
            <pc:docMk/>
            <pc:sldMk cId="1114255013" sldId="309"/>
            <ac:picMk id="3" creationId="{CB87F755-007D-F29C-31DC-69F8ACD0F51B}"/>
          </ac:picMkLst>
        </pc:picChg>
      </pc:sldChg>
      <pc:sldChg chg="addSp modSp new mod">
        <pc:chgData name="Suryakant Upadhyay" userId="73514c74ba6955ec" providerId="LiveId" clId="{B57576D9-9520-4456-8125-E93D9586F69E}" dt="2026-08-04T13:36:09.193" v="179" actId="1076"/>
        <pc:sldMkLst>
          <pc:docMk/>
          <pc:sldMk cId="1961344064" sldId="310"/>
        </pc:sldMkLst>
        <pc:picChg chg="add mod">
          <ac:chgData name="Suryakant Upadhyay" userId="73514c74ba6955ec" providerId="LiveId" clId="{B57576D9-9520-4456-8125-E93D9586F69E}" dt="2026-08-04T13:36:09.193" v="179" actId="1076"/>
          <ac:picMkLst>
            <pc:docMk/>
            <pc:sldMk cId="1961344064" sldId="310"/>
            <ac:picMk id="3" creationId="{1C7AF43A-D663-19A3-4843-70F7BCAC7C93}"/>
          </ac:picMkLst>
        </pc:picChg>
      </pc:sldChg>
      <pc:sldChg chg="addSp modSp new del mod">
        <pc:chgData name="Suryakant Upadhyay" userId="73514c74ba6955ec" providerId="LiveId" clId="{B57576D9-9520-4456-8125-E93D9586F69E}" dt="2026-08-14T13:34:37.807" v="377" actId="47"/>
        <pc:sldMkLst>
          <pc:docMk/>
          <pc:sldMk cId="553273760" sldId="311"/>
        </pc:sldMkLst>
      </pc:sldChg>
      <pc:sldChg chg="addSp modSp new mod">
        <pc:chgData name="Suryakant Upadhyay" userId="73514c74ba6955ec" providerId="LiveId" clId="{B57576D9-9520-4456-8125-E93D9586F69E}" dt="2026-08-14T10:02:41.700" v="225" actId="1076"/>
        <pc:sldMkLst>
          <pc:docMk/>
          <pc:sldMk cId="1510414969" sldId="312"/>
        </pc:sldMkLst>
        <pc:spChg chg="add mod">
          <ac:chgData name="Suryakant Upadhyay" userId="73514c74ba6955ec" providerId="LiveId" clId="{B57576D9-9520-4456-8125-E93D9586F69E}" dt="2026-08-14T10:00:14.728" v="216" actId="14100"/>
          <ac:spMkLst>
            <pc:docMk/>
            <pc:sldMk cId="1510414969" sldId="312"/>
            <ac:spMk id="3" creationId="{FCB0170E-B518-7BAB-571C-884803C47105}"/>
          </ac:spMkLst>
        </pc:spChg>
        <pc:spChg chg="add mod">
          <ac:chgData name="Suryakant Upadhyay" userId="73514c74ba6955ec" providerId="LiveId" clId="{B57576D9-9520-4456-8125-E93D9586F69E}" dt="2026-08-14T10:02:41.700" v="225" actId="1076"/>
          <ac:spMkLst>
            <pc:docMk/>
            <pc:sldMk cId="1510414969" sldId="312"/>
            <ac:spMk id="5" creationId="{0A12A8C7-715C-D192-F3AC-6E25F37121B1}"/>
          </ac:spMkLst>
        </pc:spChg>
      </pc:sldChg>
      <pc:sldChg chg="addSp modSp new mod">
        <pc:chgData name="Suryakant Upadhyay" userId="73514c74ba6955ec" providerId="LiveId" clId="{B57576D9-9520-4456-8125-E93D9586F69E}" dt="2026-08-14T10:06:17.240" v="236" actId="1076"/>
        <pc:sldMkLst>
          <pc:docMk/>
          <pc:sldMk cId="2439249666" sldId="313"/>
        </pc:sldMkLst>
        <pc:spChg chg="add mod">
          <ac:chgData name="Suryakant Upadhyay" userId="73514c74ba6955ec" providerId="LiveId" clId="{B57576D9-9520-4456-8125-E93D9586F69E}" dt="2026-08-14T10:06:17.240" v="236" actId="1076"/>
          <ac:spMkLst>
            <pc:docMk/>
            <pc:sldMk cId="2439249666" sldId="313"/>
            <ac:spMk id="3" creationId="{1162ED8D-3673-1371-42B0-8743EDCD6488}"/>
          </ac:spMkLst>
        </pc:spChg>
      </pc:sldChg>
      <pc:sldChg chg="addSp modSp new mod">
        <pc:chgData name="Suryakant Upadhyay" userId="73514c74ba6955ec" providerId="LiveId" clId="{B57576D9-9520-4456-8125-E93D9586F69E}" dt="2026-08-14T10:07:46.298" v="243" actId="255"/>
        <pc:sldMkLst>
          <pc:docMk/>
          <pc:sldMk cId="1945318807" sldId="314"/>
        </pc:sldMkLst>
        <pc:spChg chg="add mod">
          <ac:chgData name="Suryakant Upadhyay" userId="73514c74ba6955ec" providerId="LiveId" clId="{B57576D9-9520-4456-8125-E93D9586F69E}" dt="2026-08-14T10:07:46.298" v="243" actId="255"/>
          <ac:spMkLst>
            <pc:docMk/>
            <pc:sldMk cId="1945318807" sldId="314"/>
            <ac:spMk id="3" creationId="{E77A983F-5A9F-1573-B64C-ABC6F139108C}"/>
          </ac:spMkLst>
        </pc:spChg>
      </pc:sldChg>
      <pc:sldChg chg="addSp modSp new mod">
        <pc:chgData name="Suryakant Upadhyay" userId="73514c74ba6955ec" providerId="LiveId" clId="{B57576D9-9520-4456-8125-E93D9586F69E}" dt="2026-08-14T10:08:27.390" v="251" actId="14100"/>
        <pc:sldMkLst>
          <pc:docMk/>
          <pc:sldMk cId="102221511" sldId="315"/>
        </pc:sldMkLst>
        <pc:spChg chg="add mod">
          <ac:chgData name="Suryakant Upadhyay" userId="73514c74ba6955ec" providerId="LiveId" clId="{B57576D9-9520-4456-8125-E93D9586F69E}" dt="2026-08-14T10:08:27.390" v="251" actId="14100"/>
          <ac:spMkLst>
            <pc:docMk/>
            <pc:sldMk cId="102221511" sldId="315"/>
            <ac:spMk id="3" creationId="{A5A8D4F2-0CCF-3023-EC92-DC061BE1CC92}"/>
          </ac:spMkLst>
        </pc:spChg>
      </pc:sldChg>
      <pc:sldChg chg="addSp modSp new mod">
        <pc:chgData name="Suryakant Upadhyay" userId="73514c74ba6955ec" providerId="LiveId" clId="{B57576D9-9520-4456-8125-E93D9586F69E}" dt="2026-08-14T10:09:17.059" v="261" actId="1076"/>
        <pc:sldMkLst>
          <pc:docMk/>
          <pc:sldMk cId="644144597" sldId="316"/>
        </pc:sldMkLst>
        <pc:spChg chg="add mod">
          <ac:chgData name="Suryakant Upadhyay" userId="73514c74ba6955ec" providerId="LiveId" clId="{B57576D9-9520-4456-8125-E93D9586F69E}" dt="2026-08-14T10:09:17.059" v="261" actId="1076"/>
          <ac:spMkLst>
            <pc:docMk/>
            <pc:sldMk cId="644144597" sldId="316"/>
            <ac:spMk id="3" creationId="{99D6904F-AAAE-8663-2BC7-BAB53E2A6B5E}"/>
          </ac:spMkLst>
        </pc:spChg>
      </pc:sldChg>
      <pc:sldChg chg="addSp modSp new mod">
        <pc:chgData name="Suryakant Upadhyay" userId="73514c74ba6955ec" providerId="LiveId" clId="{B57576D9-9520-4456-8125-E93D9586F69E}" dt="2026-08-14T10:11:26.755" v="269" actId="1076"/>
        <pc:sldMkLst>
          <pc:docMk/>
          <pc:sldMk cId="1261279380" sldId="317"/>
        </pc:sldMkLst>
        <pc:spChg chg="add mod">
          <ac:chgData name="Suryakant Upadhyay" userId="73514c74ba6955ec" providerId="LiveId" clId="{B57576D9-9520-4456-8125-E93D9586F69E}" dt="2026-08-14T10:11:26.755" v="269" actId="1076"/>
          <ac:spMkLst>
            <pc:docMk/>
            <pc:sldMk cId="1261279380" sldId="317"/>
            <ac:spMk id="3" creationId="{5D6D445E-A3E7-C647-4711-C0799F490386}"/>
          </ac:spMkLst>
        </pc:spChg>
      </pc:sldChg>
      <pc:sldChg chg="addSp modSp new mod">
        <pc:chgData name="Suryakant Upadhyay" userId="73514c74ba6955ec" providerId="LiveId" clId="{B57576D9-9520-4456-8125-E93D9586F69E}" dt="2026-08-14T10:12:40.301" v="280" actId="1076"/>
        <pc:sldMkLst>
          <pc:docMk/>
          <pc:sldMk cId="1103270501" sldId="318"/>
        </pc:sldMkLst>
        <pc:spChg chg="add mod">
          <ac:chgData name="Suryakant Upadhyay" userId="73514c74ba6955ec" providerId="LiveId" clId="{B57576D9-9520-4456-8125-E93D9586F69E}" dt="2026-08-14T10:12:40.301" v="280" actId="1076"/>
          <ac:spMkLst>
            <pc:docMk/>
            <pc:sldMk cId="1103270501" sldId="318"/>
            <ac:spMk id="3" creationId="{2EA64E10-CAFD-49BE-43EB-BF6B31E8681B}"/>
          </ac:spMkLst>
        </pc:spChg>
      </pc:sldChg>
      <pc:sldChg chg="addSp modSp new mod">
        <pc:chgData name="Suryakant Upadhyay" userId="73514c74ba6955ec" providerId="LiveId" clId="{B57576D9-9520-4456-8125-E93D9586F69E}" dt="2026-08-14T10:15:55.471" v="303" actId="1076"/>
        <pc:sldMkLst>
          <pc:docMk/>
          <pc:sldMk cId="3991588234" sldId="319"/>
        </pc:sldMkLst>
        <pc:spChg chg="add mod">
          <ac:chgData name="Suryakant Upadhyay" userId="73514c74ba6955ec" providerId="LiveId" clId="{B57576D9-9520-4456-8125-E93D9586F69E}" dt="2026-08-14T10:13:54.638" v="297" actId="1076"/>
          <ac:spMkLst>
            <pc:docMk/>
            <pc:sldMk cId="3991588234" sldId="319"/>
            <ac:spMk id="3" creationId="{26E7AC4F-A6F0-3B45-5D85-38223F24F266}"/>
          </ac:spMkLst>
        </pc:spChg>
        <pc:spChg chg="add mod">
          <ac:chgData name="Suryakant Upadhyay" userId="73514c74ba6955ec" providerId="LiveId" clId="{B57576D9-9520-4456-8125-E93D9586F69E}" dt="2026-08-14T10:15:55.471" v="303" actId="1076"/>
          <ac:spMkLst>
            <pc:docMk/>
            <pc:sldMk cId="3991588234" sldId="319"/>
            <ac:spMk id="5" creationId="{0ADED6F2-47BD-1A5E-D28F-3038ABF94949}"/>
          </ac:spMkLst>
        </pc:spChg>
      </pc:sldChg>
      <pc:sldChg chg="addSp modSp new mod">
        <pc:chgData name="Suryakant Upadhyay" userId="73514c74ba6955ec" providerId="LiveId" clId="{B57576D9-9520-4456-8125-E93D9586F69E}" dt="2026-08-14T10:16:41.070" v="312" actId="1076"/>
        <pc:sldMkLst>
          <pc:docMk/>
          <pc:sldMk cId="1416880398" sldId="320"/>
        </pc:sldMkLst>
        <pc:spChg chg="add mod">
          <ac:chgData name="Suryakant Upadhyay" userId="73514c74ba6955ec" providerId="LiveId" clId="{B57576D9-9520-4456-8125-E93D9586F69E}" dt="2026-08-14T10:16:41.070" v="312" actId="1076"/>
          <ac:spMkLst>
            <pc:docMk/>
            <pc:sldMk cId="1416880398" sldId="320"/>
            <ac:spMk id="3" creationId="{F4BBE78F-545D-AA3A-17CC-32293E0236B2}"/>
          </ac:spMkLst>
        </pc:spChg>
      </pc:sldChg>
      <pc:sldChg chg="addSp modSp new mod">
        <pc:chgData name="Suryakant Upadhyay" userId="73514c74ba6955ec" providerId="LiveId" clId="{B57576D9-9520-4456-8125-E93D9586F69E}" dt="2026-08-14T10:17:20.440" v="324" actId="1076"/>
        <pc:sldMkLst>
          <pc:docMk/>
          <pc:sldMk cId="1108872448" sldId="321"/>
        </pc:sldMkLst>
        <pc:spChg chg="add mod">
          <ac:chgData name="Suryakant Upadhyay" userId="73514c74ba6955ec" providerId="LiveId" clId="{B57576D9-9520-4456-8125-E93D9586F69E}" dt="2026-08-14T10:17:20.440" v="324" actId="1076"/>
          <ac:spMkLst>
            <pc:docMk/>
            <pc:sldMk cId="1108872448" sldId="321"/>
            <ac:spMk id="3" creationId="{83216F96-100F-33B5-A6DA-B89EE7699FEA}"/>
          </ac:spMkLst>
        </pc:spChg>
      </pc:sldChg>
      <pc:sldChg chg="addSp modSp new mod">
        <pc:chgData name="Suryakant Upadhyay" userId="73514c74ba6955ec" providerId="LiveId" clId="{B57576D9-9520-4456-8125-E93D9586F69E}" dt="2026-08-14T10:18:12.599" v="333" actId="1076"/>
        <pc:sldMkLst>
          <pc:docMk/>
          <pc:sldMk cId="3885302929" sldId="322"/>
        </pc:sldMkLst>
        <pc:spChg chg="add mod">
          <ac:chgData name="Suryakant Upadhyay" userId="73514c74ba6955ec" providerId="LiveId" clId="{B57576D9-9520-4456-8125-E93D9586F69E}" dt="2026-08-14T10:18:12.599" v="333" actId="1076"/>
          <ac:spMkLst>
            <pc:docMk/>
            <pc:sldMk cId="3885302929" sldId="322"/>
            <ac:spMk id="3" creationId="{240164C2-6F93-2DD6-42C8-22C7F9107522}"/>
          </ac:spMkLst>
        </pc:spChg>
      </pc:sldChg>
      <pc:sldChg chg="addSp modSp new mod">
        <pc:chgData name="Suryakant Upadhyay" userId="73514c74ba6955ec" providerId="LiveId" clId="{B57576D9-9520-4456-8125-E93D9586F69E}" dt="2026-08-14T10:19:10.245" v="342" actId="1076"/>
        <pc:sldMkLst>
          <pc:docMk/>
          <pc:sldMk cId="373094323" sldId="323"/>
        </pc:sldMkLst>
        <pc:spChg chg="add mod">
          <ac:chgData name="Suryakant Upadhyay" userId="73514c74ba6955ec" providerId="LiveId" clId="{B57576D9-9520-4456-8125-E93D9586F69E}" dt="2026-08-14T10:19:10.245" v="342" actId="1076"/>
          <ac:spMkLst>
            <pc:docMk/>
            <pc:sldMk cId="373094323" sldId="323"/>
            <ac:spMk id="3" creationId="{99383D7E-426C-6C3A-D708-357B6FC28B4E}"/>
          </ac:spMkLst>
        </pc:spChg>
      </pc:sldChg>
      <pc:sldChg chg="addSp modSp new mod">
        <pc:chgData name="Suryakant Upadhyay" userId="73514c74ba6955ec" providerId="LiveId" clId="{B57576D9-9520-4456-8125-E93D9586F69E}" dt="2026-08-14T10:19:53.038" v="351" actId="1076"/>
        <pc:sldMkLst>
          <pc:docMk/>
          <pc:sldMk cId="2398262487" sldId="324"/>
        </pc:sldMkLst>
        <pc:spChg chg="add mod">
          <ac:chgData name="Suryakant Upadhyay" userId="73514c74ba6955ec" providerId="LiveId" clId="{B57576D9-9520-4456-8125-E93D9586F69E}" dt="2026-08-14T10:19:53.038" v="351" actId="1076"/>
          <ac:spMkLst>
            <pc:docMk/>
            <pc:sldMk cId="2398262487" sldId="324"/>
            <ac:spMk id="3" creationId="{96E434F7-411E-F216-1A21-E2BE90A8E141}"/>
          </ac:spMkLst>
        </pc:spChg>
      </pc:sldChg>
      <pc:sldChg chg="addSp modSp new mod">
        <pc:chgData name="Suryakant Upadhyay" userId="73514c74ba6955ec" providerId="LiveId" clId="{B57576D9-9520-4456-8125-E93D9586F69E}" dt="2026-08-14T10:20:34.472" v="362" actId="1076"/>
        <pc:sldMkLst>
          <pc:docMk/>
          <pc:sldMk cId="2537265430" sldId="325"/>
        </pc:sldMkLst>
        <pc:spChg chg="add mod">
          <ac:chgData name="Suryakant Upadhyay" userId="73514c74ba6955ec" providerId="LiveId" clId="{B57576D9-9520-4456-8125-E93D9586F69E}" dt="2026-08-14T10:20:34.472" v="362" actId="1076"/>
          <ac:spMkLst>
            <pc:docMk/>
            <pc:sldMk cId="2537265430" sldId="325"/>
            <ac:spMk id="3" creationId="{C1BB32F6-54D3-2D91-6A13-5BF4FA2F613A}"/>
          </ac:spMkLst>
        </pc:spChg>
      </pc:sldChg>
      <pc:sldChg chg="addSp modSp new mod">
        <pc:chgData name="Suryakant Upadhyay" userId="73514c74ba6955ec" providerId="LiveId" clId="{B57576D9-9520-4456-8125-E93D9586F69E}" dt="2026-08-14T10:21:52.963" v="367" actId="1076"/>
        <pc:sldMkLst>
          <pc:docMk/>
          <pc:sldMk cId="3945106142" sldId="326"/>
        </pc:sldMkLst>
        <pc:spChg chg="add mod">
          <ac:chgData name="Suryakant Upadhyay" userId="73514c74ba6955ec" providerId="LiveId" clId="{B57576D9-9520-4456-8125-E93D9586F69E}" dt="2026-08-14T10:21:52.963" v="367" actId="1076"/>
          <ac:spMkLst>
            <pc:docMk/>
            <pc:sldMk cId="3945106142" sldId="326"/>
            <ac:spMk id="3" creationId="{E4BF7E29-C10D-DB0A-5807-FA893957F00E}"/>
          </ac:spMkLst>
        </pc:spChg>
      </pc:sldChg>
      <pc:sldChg chg="addSp modSp new mod">
        <pc:chgData name="Suryakant Upadhyay" userId="73514c74ba6955ec" providerId="LiveId" clId="{B57576D9-9520-4456-8125-E93D9586F69E}" dt="2026-08-14T10:23:52.347" v="376" actId="1076"/>
        <pc:sldMkLst>
          <pc:docMk/>
          <pc:sldMk cId="1009098507" sldId="327"/>
        </pc:sldMkLst>
        <pc:picChg chg="add mod">
          <ac:chgData name="Suryakant Upadhyay" userId="73514c74ba6955ec" providerId="LiveId" clId="{B57576D9-9520-4456-8125-E93D9586F69E}" dt="2026-08-14T10:23:52.347" v="376" actId="1076"/>
          <ac:picMkLst>
            <pc:docMk/>
            <pc:sldMk cId="1009098507" sldId="327"/>
            <ac:picMk id="3" creationId="{2E8C60F9-37DE-3321-6195-DFCBFEBE3A31}"/>
          </ac:picMkLst>
        </pc:picChg>
      </pc:sldChg>
      <pc:sldChg chg="addSp modSp new mod">
        <pc:chgData name="Suryakant Upadhyay" userId="73514c74ba6955ec" providerId="LiveId" clId="{B57576D9-9520-4456-8125-E93D9586F69E}" dt="2026-08-14T10:23:19.699" v="373" actId="1076"/>
        <pc:sldMkLst>
          <pc:docMk/>
          <pc:sldMk cId="2529341908" sldId="328"/>
        </pc:sldMkLst>
        <pc:picChg chg="add mod">
          <ac:chgData name="Suryakant Upadhyay" userId="73514c74ba6955ec" providerId="LiveId" clId="{B57576D9-9520-4456-8125-E93D9586F69E}" dt="2026-08-14T10:23:19.699" v="373" actId="1076"/>
          <ac:picMkLst>
            <pc:docMk/>
            <pc:sldMk cId="2529341908" sldId="328"/>
            <ac:picMk id="3" creationId="{2D237DC8-26F4-C4AE-B66F-37ECFBBE175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3796059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3953235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862863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C2E2F2-279C-4B31-B733-B376204AF1EE}" type="datetimeFigureOut">
              <a:rPr lang="en-NZ" smtClean="0"/>
              <a:t>14/08/2026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3173779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C2E2F2-279C-4B31-B733-B376204AF1EE}" type="datetimeFigureOut">
              <a:rPr lang="en-NZ" smtClean="0"/>
              <a:t>14/08/2026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3654724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3"/>
          <p:cNvSpPr>
            <a:spLocks noGrp="1"/>
          </p:cNvSpPr>
          <p:nvPr>
            <p:ph type="ftr" sz="quarter" idx="11"/>
          </p:nvPr>
        </p:nvSpPr>
        <p:spPr/>
        <p:txBody>
          <a:bodyPr/>
          <a:lstStyle/>
          <a:p>
            <a:endParaRPr lang="en-NZ"/>
          </a:p>
        </p:txBody>
      </p:sp>
      <p:sp>
        <p:nvSpPr>
          <p:cNvPr id="6" name="Slide Number Placeholder 4"/>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2478660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2"/>
          <p:cNvSpPr>
            <a:spLocks noGrp="1"/>
          </p:cNvSpPr>
          <p:nvPr>
            <p:ph type="ftr" sz="quarter" idx="11"/>
          </p:nvPr>
        </p:nvSpPr>
        <p:spPr/>
        <p:txBody>
          <a:bodyPr/>
          <a:lstStyle/>
          <a:p>
            <a:endParaRPr lang="en-NZ"/>
          </a:p>
        </p:txBody>
      </p:sp>
      <p:sp>
        <p:nvSpPr>
          <p:cNvPr id="6" name="Slide Number Placeholder 3"/>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2904148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5"/>
          <p:cNvSpPr>
            <a:spLocks noGrp="1"/>
          </p:cNvSpPr>
          <p:nvPr>
            <p:ph type="ftr" sz="quarter" idx="11"/>
          </p:nvPr>
        </p:nvSpPr>
        <p:spPr/>
        <p:txBody>
          <a:bodyPr/>
          <a:lstStyle/>
          <a:p>
            <a:endParaRPr lang="en-NZ"/>
          </a:p>
        </p:txBody>
      </p:sp>
      <p:sp>
        <p:nvSpPr>
          <p:cNvPr id="6" name="Slide Number Placeholder 6"/>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2722323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2E2F2-279C-4B31-B733-B376204AF1EE}" type="datetimeFigureOut">
              <a:rPr lang="en-NZ" smtClean="0"/>
              <a:t>14/08/2026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690052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C2E2F2-279C-4B31-B733-B376204AF1EE}" type="datetimeFigureOut">
              <a:rPr lang="en-NZ" smtClean="0"/>
              <a:t>14/08/2026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545493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103622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96097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3356291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893685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137489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1024532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C2E2F2-279C-4B31-B733-B376204AF1EE}" type="datetimeFigureOut">
              <a:rPr lang="en-NZ" smtClean="0"/>
              <a:t>14/08/2026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2F4E5CB-9C02-4FF6-A9D0-8564B550A9EA}" type="slidenum">
              <a:rPr lang="en-NZ" smtClean="0"/>
              <a:t>‹#›</a:t>
            </a:fld>
            <a:endParaRPr lang="en-NZ"/>
          </a:p>
        </p:txBody>
      </p:sp>
    </p:spTree>
    <p:extLst>
      <p:ext uri="{BB962C8B-B14F-4D97-AF65-F5344CB8AC3E}">
        <p14:creationId xmlns:p14="http://schemas.microsoft.com/office/powerpoint/2010/main" val="6094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EC2E2F2-279C-4B31-B733-B376204AF1EE}" type="datetimeFigureOut">
              <a:rPr lang="en-NZ" smtClean="0"/>
              <a:t>14/08/2026</a:t>
            </a:fld>
            <a:endParaRPr lang="en-NZ"/>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NZ"/>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2F4E5CB-9C02-4FF6-A9D0-8564B550A9EA}" type="slidenum">
              <a:rPr lang="en-NZ" smtClean="0"/>
              <a:t>‹#›</a:t>
            </a:fld>
            <a:endParaRPr lang="en-NZ"/>
          </a:p>
        </p:txBody>
      </p:sp>
    </p:spTree>
    <p:extLst>
      <p:ext uri="{BB962C8B-B14F-4D97-AF65-F5344CB8AC3E}">
        <p14:creationId xmlns:p14="http://schemas.microsoft.com/office/powerpoint/2010/main" val="9840990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89308F-5B55-E127-2A07-E88CF3376420}"/>
              </a:ext>
            </a:extLst>
          </p:cNvPr>
          <p:cNvSpPr txBox="1"/>
          <p:nvPr/>
        </p:nvSpPr>
        <p:spPr>
          <a:xfrm>
            <a:off x="1569027" y="914400"/>
            <a:ext cx="8102311" cy="2769989"/>
          </a:xfrm>
          <a:prstGeom prst="rect">
            <a:avLst/>
          </a:prstGeom>
          <a:noFill/>
        </p:spPr>
        <p:txBody>
          <a:bodyPr wrap="square">
            <a:spAutoFit/>
          </a:bodyPr>
          <a:lstStyle/>
          <a:p>
            <a:pPr>
              <a:buNone/>
            </a:pPr>
            <a:r>
              <a:rPr lang="en-NZ" sz="3200" b="1" dirty="0"/>
              <a:t>Supply Chain Visibility &amp; Optimization</a:t>
            </a:r>
          </a:p>
          <a:p>
            <a:pPr>
              <a:buNone/>
            </a:pPr>
            <a:r>
              <a:rPr lang="en-NZ" sz="3200" b="1" dirty="0"/>
              <a:t>Infosys Springboard Virtual Internship 7.0</a:t>
            </a:r>
          </a:p>
          <a:p>
            <a:pPr>
              <a:buNone/>
            </a:pPr>
            <a:r>
              <a:rPr lang="en-NZ" sz="3200" b="1"/>
              <a:t>Milestone 3</a:t>
            </a:r>
            <a:endParaRPr lang="en-NZ" sz="3200" b="1" dirty="0"/>
          </a:p>
          <a:p>
            <a:pPr>
              <a:buNone/>
            </a:pPr>
            <a:endParaRPr lang="en-NZ" sz="3200" dirty="0"/>
          </a:p>
          <a:p>
            <a:pPr>
              <a:buNone/>
            </a:pPr>
            <a:r>
              <a:rPr lang="en-NZ" sz="2800" b="1" dirty="0"/>
              <a:t>Domain:</a:t>
            </a:r>
            <a:r>
              <a:rPr lang="en-NZ" sz="2800" dirty="0"/>
              <a:t> Data Visualization</a:t>
            </a:r>
          </a:p>
          <a:p>
            <a:pPr>
              <a:buNone/>
            </a:pPr>
            <a:r>
              <a:rPr lang="en-NZ" b="1" dirty="0"/>
              <a:t>Prepared by:</a:t>
            </a:r>
            <a:r>
              <a:rPr lang="en-NZ" dirty="0"/>
              <a:t> Suryakant Upadhyay</a:t>
            </a:r>
          </a:p>
        </p:txBody>
      </p:sp>
    </p:spTree>
    <p:extLst>
      <p:ext uri="{BB962C8B-B14F-4D97-AF65-F5344CB8AC3E}">
        <p14:creationId xmlns:p14="http://schemas.microsoft.com/office/powerpoint/2010/main" val="1501798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8BCC-6772-E004-B4EF-B7A0A2CAB0E2}"/>
              </a:ext>
            </a:extLst>
          </p:cNvPr>
          <p:cNvSpPr txBox="1"/>
          <p:nvPr/>
        </p:nvSpPr>
        <p:spPr>
          <a:xfrm>
            <a:off x="1457697" y="643553"/>
            <a:ext cx="7704573" cy="5201424"/>
          </a:xfrm>
          <a:prstGeom prst="rect">
            <a:avLst/>
          </a:prstGeom>
          <a:noFill/>
        </p:spPr>
        <p:txBody>
          <a:bodyPr wrap="square">
            <a:spAutoFit/>
          </a:bodyPr>
          <a:lstStyle/>
          <a:p>
            <a:pPr>
              <a:buNone/>
            </a:pPr>
            <a:r>
              <a:rPr lang="en-NZ" sz="4000" b="1" dirty="0"/>
              <a:t>Objective</a:t>
            </a:r>
          </a:p>
          <a:p>
            <a:pPr>
              <a:buNone/>
            </a:pPr>
            <a:endParaRPr lang="en-NZ"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NZ"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Understand the concepts of </a:t>
            </a:r>
            <a:r>
              <a:rPr lang="en-NZ" b="1" dirty="0">
                <a:latin typeface="Times New Roman" panose="02020603050405020304" pitchFamily="18" charset="0"/>
                <a:cs typeface="Times New Roman" panose="02020603050405020304" pitchFamily="18" charset="0"/>
              </a:rPr>
              <a:t>Supply Chain Visibility and Optimization</a:t>
            </a:r>
            <a:r>
              <a:rPr lang="en-NZ" dirty="0">
                <a:latin typeface="Times New Roman" panose="02020603050405020304" pitchFamily="18" charset="0"/>
                <a:cs typeface="Times New Roman" panose="02020603050405020304" pitchFamily="18" charset="0"/>
              </a:rPr>
              <a:t> and their role in improving business operations. </a:t>
            </a:r>
          </a:p>
          <a:p>
            <a:pPr marL="171450" indent="-1714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Identify key challenges such as delivery delays, inventory shortages, and logistics inefficiencies. </a:t>
            </a:r>
          </a:p>
          <a:p>
            <a:pPr marL="171450" indent="-1714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Collect, understand, and prepare the supply chain dataset for accurate analysis and visualization. </a:t>
            </a:r>
          </a:p>
          <a:p>
            <a:pPr marL="171450" indent="-1714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Build a strong foundation for creating interactive dashboards and business reports in Power BI. </a:t>
            </a:r>
          </a:p>
          <a:p>
            <a:pPr marL="171450" indent="-1714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Support data-driven decision-making by transforming raw data into meaningful business insights. </a:t>
            </a:r>
          </a:p>
          <a:p>
            <a:pPr>
              <a:buNone/>
            </a:pPr>
            <a:endParaRPr lang="en-NZ"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63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512242-11C6-222C-EE7B-8339942CC0F4}"/>
              </a:ext>
            </a:extLst>
          </p:cNvPr>
          <p:cNvSpPr txBox="1"/>
          <p:nvPr/>
        </p:nvSpPr>
        <p:spPr>
          <a:xfrm>
            <a:off x="1261982" y="337533"/>
            <a:ext cx="7754814" cy="4924425"/>
          </a:xfrm>
          <a:prstGeom prst="rect">
            <a:avLst/>
          </a:prstGeom>
          <a:noFill/>
        </p:spPr>
        <p:txBody>
          <a:bodyPr wrap="square">
            <a:spAutoFit/>
          </a:bodyPr>
          <a:lstStyle/>
          <a:p>
            <a:r>
              <a:rPr lang="en-NZ" sz="4000" b="1" dirty="0"/>
              <a:t>Introduction</a:t>
            </a:r>
          </a:p>
          <a:p>
            <a:endParaRPr lang="en-NZ" sz="4000" b="1" dirty="0"/>
          </a:p>
          <a:p>
            <a:pPr marL="285750" indent="-285750">
              <a:buFont typeface="Arial" panose="020B0604020202020204" pitchFamily="34" charset="0"/>
              <a:buChar char="•"/>
            </a:pPr>
            <a:r>
              <a:rPr lang="en-NZ" dirty="0"/>
              <a:t>Supply chain management involves the movement of products from suppliers to customers through procurement, transportation, warehousing, and delivery.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Supply chain visibility helps organizations monitor inventory, shipments, and order status in real time to improve operational control.</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 Supply chain optimization focuses on reducing operational costs, improving delivery performance, and increasing overall efficiency.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Data visualization converts complex supply chain data into interactive dashboards that support faster and better business decisions.</a:t>
            </a:r>
            <a:endParaRPr lang="en-NZ"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8506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DCADF7-3F0B-00F9-384F-BC7288977158}"/>
              </a:ext>
            </a:extLst>
          </p:cNvPr>
          <p:cNvSpPr txBox="1"/>
          <p:nvPr/>
        </p:nvSpPr>
        <p:spPr>
          <a:xfrm>
            <a:off x="862445" y="2625165"/>
            <a:ext cx="3387436" cy="923330"/>
          </a:xfrm>
          <a:prstGeom prst="rect">
            <a:avLst/>
          </a:prstGeom>
          <a:noFill/>
        </p:spPr>
        <p:txBody>
          <a:bodyPr wrap="square">
            <a:spAutoFit/>
          </a:bodyPr>
          <a:lstStyle/>
          <a:p>
            <a:r>
              <a:rPr lang="en-NZ" sz="5400" dirty="0"/>
              <a:t>Workflow</a:t>
            </a:r>
          </a:p>
        </p:txBody>
      </p:sp>
      <p:pic>
        <p:nvPicPr>
          <p:cNvPr id="4" name="Picture 3">
            <a:extLst>
              <a:ext uri="{FF2B5EF4-FFF2-40B4-BE49-F238E27FC236}">
                <a16:creationId xmlns:a16="http://schemas.microsoft.com/office/drawing/2014/main" id="{E8F305FD-0758-1142-31B1-076B6E0C9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6746" y="477982"/>
            <a:ext cx="4094018" cy="6141027"/>
          </a:xfrm>
          <a:prstGeom prst="rect">
            <a:avLst/>
          </a:prstGeom>
        </p:spPr>
      </p:pic>
    </p:spTree>
    <p:extLst>
      <p:ext uri="{BB962C8B-B14F-4D97-AF65-F5344CB8AC3E}">
        <p14:creationId xmlns:p14="http://schemas.microsoft.com/office/powerpoint/2010/main" val="85814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C4C56-0417-5210-B619-8D641239D1D5}"/>
              </a:ext>
            </a:extLst>
          </p:cNvPr>
          <p:cNvSpPr txBox="1"/>
          <p:nvPr/>
        </p:nvSpPr>
        <p:spPr>
          <a:xfrm>
            <a:off x="1256044" y="653143"/>
            <a:ext cx="7885443" cy="5201424"/>
          </a:xfrm>
          <a:prstGeom prst="rect">
            <a:avLst/>
          </a:prstGeom>
          <a:noFill/>
        </p:spPr>
        <p:txBody>
          <a:bodyPr wrap="square">
            <a:spAutoFit/>
          </a:bodyPr>
          <a:lstStyle/>
          <a:p>
            <a:r>
              <a:rPr lang="en-NZ" sz="4000" b="1" dirty="0"/>
              <a:t>Problem Understanding</a:t>
            </a:r>
          </a:p>
          <a:p>
            <a:endParaRPr lang="en-NZ" sz="4000" dirty="0"/>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Many organizations experience delayed deliveries, inventory shortages, and excess stock, affecting overall supply chain performance.</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 High transportation and storage costs reduce operational efficiency and increase business expenses.</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 Limited visibility across the supply chain makes it difficult to identify bottlenecks and respond quickly to issues.</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 Poor supplier performance and inefficient logistics can negatively impact customer satisfaction and service quality.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The objective of this project is to </a:t>
            </a:r>
            <a:r>
              <a:rPr lang="en-NZ" dirty="0" err="1">
                <a:latin typeface="Times New Roman" panose="02020603050405020304" pitchFamily="18" charset="0"/>
                <a:cs typeface="Times New Roman" panose="02020603050405020304" pitchFamily="18" charset="0"/>
              </a:rPr>
              <a:t>analyze</a:t>
            </a:r>
            <a:r>
              <a:rPr lang="en-NZ" dirty="0">
                <a:latin typeface="Times New Roman" panose="02020603050405020304" pitchFamily="18" charset="0"/>
                <a:cs typeface="Times New Roman" panose="02020603050405020304" pitchFamily="18" charset="0"/>
              </a:rPr>
              <a:t> these challenges and provide data-driven insights for optimization.</a:t>
            </a:r>
          </a:p>
        </p:txBody>
      </p:sp>
    </p:spTree>
    <p:extLst>
      <p:ext uri="{BB962C8B-B14F-4D97-AF65-F5344CB8AC3E}">
        <p14:creationId xmlns:p14="http://schemas.microsoft.com/office/powerpoint/2010/main" val="4058130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A65941-8581-EED7-34E6-10A120A680DD}"/>
              </a:ext>
            </a:extLst>
          </p:cNvPr>
          <p:cNvSpPr txBox="1"/>
          <p:nvPr/>
        </p:nvSpPr>
        <p:spPr>
          <a:xfrm>
            <a:off x="1688123" y="162002"/>
            <a:ext cx="8639069" cy="707886"/>
          </a:xfrm>
          <a:prstGeom prst="rect">
            <a:avLst/>
          </a:prstGeom>
          <a:noFill/>
        </p:spPr>
        <p:txBody>
          <a:bodyPr wrap="square">
            <a:spAutoFit/>
          </a:bodyPr>
          <a:lstStyle/>
          <a:p>
            <a:r>
              <a:rPr lang="en-NZ" sz="4000" dirty="0"/>
              <a:t>Data Collection &amp; Understanding</a:t>
            </a:r>
          </a:p>
        </p:txBody>
      </p:sp>
      <p:sp>
        <p:nvSpPr>
          <p:cNvPr id="5" name="TextBox 4">
            <a:extLst>
              <a:ext uri="{FF2B5EF4-FFF2-40B4-BE49-F238E27FC236}">
                <a16:creationId xmlns:a16="http://schemas.microsoft.com/office/drawing/2014/main" id="{ACA9D104-17D3-A694-BA4C-4D60F6D8ED39}"/>
              </a:ext>
            </a:extLst>
          </p:cNvPr>
          <p:cNvSpPr txBox="1"/>
          <p:nvPr/>
        </p:nvSpPr>
        <p:spPr>
          <a:xfrm>
            <a:off x="1688123" y="1612257"/>
            <a:ext cx="6094324" cy="4154984"/>
          </a:xfrm>
          <a:prstGeom prst="rect">
            <a:avLst/>
          </a:prstGeom>
          <a:noFill/>
        </p:spPr>
        <p:txBody>
          <a:bodyPr wrap="square">
            <a:spAutoFit/>
          </a:bodyPr>
          <a:lstStyle/>
          <a:p>
            <a:pPr>
              <a:buNone/>
            </a:pPr>
            <a:r>
              <a:rPr lang="en-NZ" sz="2400" b="1" dirty="0"/>
              <a:t>Data Collection</a:t>
            </a:r>
          </a:p>
          <a:p>
            <a:pPr>
              <a:buNone/>
            </a:pPr>
            <a:endParaRPr lang="en-NZ" sz="2400" b="1" dirty="0"/>
          </a:p>
          <a:p>
            <a:pPr marL="285750" indent="-285750">
              <a:buFont typeface="Arial" panose="020B0604020202020204" pitchFamily="34" charset="0"/>
              <a:buChar char="•"/>
            </a:pPr>
            <a:r>
              <a:rPr lang="en-NZ" dirty="0"/>
              <a:t>The dataset used in this project was collected from </a:t>
            </a:r>
            <a:r>
              <a:rPr lang="en-NZ" b="1" dirty="0"/>
              <a:t>Kaggle</a:t>
            </a:r>
            <a:r>
              <a:rPr lang="en-NZ" dirty="0"/>
              <a:t>, a widely used platform for data science projects.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It contains </a:t>
            </a:r>
            <a:r>
              <a:rPr lang="en-NZ" b="1" dirty="0"/>
              <a:t>2,000 records and 21 attributes</a:t>
            </a:r>
            <a:r>
              <a:rPr lang="en-NZ" dirty="0"/>
              <a:t> related to orders, transportation, inventory, suppliers, and logistics operations.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 The dataset provides sufficient information to </a:t>
            </a:r>
            <a:r>
              <a:rPr lang="en-NZ" dirty="0" err="1"/>
              <a:t>analyze</a:t>
            </a:r>
            <a:r>
              <a:rPr lang="en-NZ" dirty="0"/>
              <a:t> supply chain performance and identify operational challenges.</a:t>
            </a:r>
            <a:br>
              <a:rPr lang="en-NZ" dirty="0"/>
            </a:br>
            <a:endParaRPr lang="en-NZ" dirty="0"/>
          </a:p>
        </p:txBody>
      </p:sp>
    </p:spTree>
    <p:extLst>
      <p:ext uri="{BB962C8B-B14F-4D97-AF65-F5344CB8AC3E}">
        <p14:creationId xmlns:p14="http://schemas.microsoft.com/office/powerpoint/2010/main" val="89918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6BAAB9-76C9-D612-474D-52532A8F289F}"/>
              </a:ext>
            </a:extLst>
          </p:cNvPr>
          <p:cNvSpPr txBox="1"/>
          <p:nvPr/>
        </p:nvSpPr>
        <p:spPr>
          <a:xfrm>
            <a:off x="1597602" y="610969"/>
            <a:ext cx="6104658" cy="3046988"/>
          </a:xfrm>
          <a:prstGeom prst="rect">
            <a:avLst/>
          </a:prstGeom>
          <a:noFill/>
        </p:spPr>
        <p:txBody>
          <a:bodyPr wrap="square">
            <a:spAutoFit/>
          </a:bodyPr>
          <a:lstStyle/>
          <a:p>
            <a:pPr marL="285750" indent="-285750">
              <a:buFont typeface="Arial" panose="020B0604020202020204" pitchFamily="34" charset="0"/>
              <a:buChar char="•"/>
            </a:pPr>
            <a:r>
              <a:rPr lang="en-NZ" sz="2400" b="1" dirty="0"/>
              <a:t>Data Understanding</a:t>
            </a:r>
          </a:p>
          <a:p>
            <a:pPr marL="285750" indent="-285750">
              <a:buFont typeface="Arial" panose="020B0604020202020204" pitchFamily="34" charset="0"/>
              <a:buChar char="•"/>
            </a:pPr>
            <a:endParaRPr lang="en-NZ"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The dataset was explored to understand the purpose and business meaning of each column.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Data types, missing values, and duplicate records were identified before starting the analysis.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Understanding the dataset ensures accurate preprocessing and reliable business insights.</a:t>
            </a:r>
            <a:endParaRPr lang="en-NZ"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091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A4D43F-8A99-C361-8104-C2E51B227CE2}"/>
              </a:ext>
            </a:extLst>
          </p:cNvPr>
          <p:cNvSpPr txBox="1"/>
          <p:nvPr/>
        </p:nvSpPr>
        <p:spPr>
          <a:xfrm>
            <a:off x="1477108" y="867474"/>
            <a:ext cx="6094324" cy="4031873"/>
          </a:xfrm>
          <a:prstGeom prst="rect">
            <a:avLst/>
          </a:prstGeom>
          <a:noFill/>
        </p:spPr>
        <p:txBody>
          <a:bodyPr wrap="square">
            <a:spAutoFit/>
          </a:bodyPr>
          <a:lstStyle/>
          <a:p>
            <a:pPr>
              <a:buNone/>
            </a:pPr>
            <a:r>
              <a:rPr lang="en-NZ" sz="4000" b="1" dirty="0"/>
              <a:t>Data Connection</a:t>
            </a:r>
          </a:p>
          <a:p>
            <a:pPr>
              <a:buNone/>
            </a:pPr>
            <a:endParaRPr lang="en-NZ" b="1" dirty="0"/>
          </a:p>
          <a:p>
            <a:pPr marL="285750" indent="-285750">
              <a:buFont typeface="Arial" panose="020B0604020202020204" pitchFamily="34" charset="0"/>
              <a:buChar char="•"/>
            </a:pPr>
            <a:r>
              <a:rPr lang="en-NZ" dirty="0"/>
              <a:t>The dataset was imported into </a:t>
            </a:r>
            <a:r>
              <a:rPr lang="en-NZ" b="1" dirty="0"/>
              <a:t>Power BI</a:t>
            </a:r>
            <a:r>
              <a:rPr lang="en-NZ" dirty="0"/>
              <a:t> using Power Query for further analysis.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Data types for all columns were verified and corrected wherever required.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The imported data was validated to ensure consistency and completeness before preprocessing. </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A proper data connection ensures reliable analysis and supports dashboard development.</a:t>
            </a:r>
            <a:endParaRPr lang="en-NZ"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778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9A1B0F-012B-44C4-BA7A-F13F21471C72}"/>
              </a:ext>
            </a:extLst>
          </p:cNvPr>
          <p:cNvSpPr txBox="1"/>
          <p:nvPr/>
        </p:nvSpPr>
        <p:spPr>
          <a:xfrm>
            <a:off x="1168121" y="604968"/>
            <a:ext cx="6094324" cy="5478423"/>
          </a:xfrm>
          <a:prstGeom prst="rect">
            <a:avLst/>
          </a:prstGeom>
          <a:noFill/>
        </p:spPr>
        <p:txBody>
          <a:bodyPr wrap="square">
            <a:spAutoFit/>
          </a:bodyPr>
          <a:lstStyle/>
          <a:p>
            <a:pPr>
              <a:buNone/>
            </a:pPr>
            <a:r>
              <a:rPr lang="en-NZ" sz="4000" b="1" dirty="0"/>
              <a:t>Data Preprocessing</a:t>
            </a:r>
          </a:p>
          <a:p>
            <a:pPr>
              <a:buNone/>
            </a:pPr>
            <a:endParaRPr lang="en-NZ" sz="4000" dirty="0"/>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Missing values in </a:t>
            </a:r>
            <a:r>
              <a:rPr lang="en-NZ" b="1" dirty="0" err="1">
                <a:latin typeface="Times New Roman" panose="02020603050405020304" pitchFamily="18" charset="0"/>
                <a:cs typeface="Times New Roman" panose="02020603050405020304" pitchFamily="18" charset="0"/>
              </a:rPr>
              <a:t>transport_cost_usd</a:t>
            </a:r>
            <a:r>
              <a:rPr lang="en-NZ" dirty="0">
                <a:latin typeface="Times New Roman" panose="02020603050405020304" pitchFamily="18" charset="0"/>
                <a:cs typeface="Times New Roman" panose="02020603050405020304" pitchFamily="18" charset="0"/>
              </a:rPr>
              <a:t> and </a:t>
            </a:r>
            <a:r>
              <a:rPr lang="en-NZ" b="1" dirty="0" err="1">
                <a:latin typeface="Times New Roman" panose="02020603050405020304" pitchFamily="18" charset="0"/>
                <a:cs typeface="Times New Roman" panose="02020603050405020304" pitchFamily="18" charset="0"/>
              </a:rPr>
              <a:t>fill_rate_pct</a:t>
            </a:r>
            <a:r>
              <a:rPr lang="en-NZ" dirty="0">
                <a:latin typeface="Times New Roman" panose="02020603050405020304" pitchFamily="18" charset="0"/>
                <a:cs typeface="Times New Roman" panose="02020603050405020304" pitchFamily="18" charset="0"/>
              </a:rPr>
              <a:t> were identified and replaced using the </a:t>
            </a:r>
            <a:r>
              <a:rPr lang="en-NZ" b="1" dirty="0">
                <a:latin typeface="Times New Roman" panose="02020603050405020304" pitchFamily="18" charset="0"/>
                <a:cs typeface="Times New Roman" panose="02020603050405020304" pitchFamily="18" charset="0"/>
              </a:rPr>
              <a:t>Median</a:t>
            </a:r>
            <a:r>
              <a:rPr lang="en-NZ" dirty="0">
                <a:latin typeface="Times New Roman" panose="02020603050405020304" pitchFamily="18" charset="0"/>
                <a:cs typeface="Times New Roman" panose="02020603050405020304" pitchFamily="18" charset="0"/>
              </a:rPr>
              <a:t> method.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Duplicate records and data quality issues were checked to maintain dataset accuracy.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Numerical columns were validated, and decimal values were standardized for consistency.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Business rules were verified to ensure values such as delivery time and transportation cost were logically consistent. </a:t>
            </a:r>
          </a:p>
          <a:p>
            <a:pPr marL="285750" indent="-285750">
              <a:buFont typeface="Arial" panose="020B0604020202020204" pitchFamily="34" charset="0"/>
              <a:buChar char="•"/>
            </a:pPr>
            <a:endParaRPr lang="en-NZ"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NZ" dirty="0">
                <a:latin typeface="Times New Roman" panose="02020603050405020304" pitchFamily="18" charset="0"/>
                <a:cs typeface="Times New Roman" panose="02020603050405020304" pitchFamily="18" charset="0"/>
              </a:rPr>
              <a:t>The cleaned dataset is now ready for data </a:t>
            </a:r>
            <a:r>
              <a:rPr lang="en-NZ" dirty="0" err="1">
                <a:latin typeface="Times New Roman" panose="02020603050405020304" pitchFamily="18" charset="0"/>
                <a:cs typeface="Times New Roman" panose="02020603050405020304" pitchFamily="18" charset="0"/>
              </a:rPr>
              <a:t>modeling</a:t>
            </a:r>
            <a:r>
              <a:rPr lang="en-NZ" dirty="0">
                <a:latin typeface="Times New Roman" panose="02020603050405020304" pitchFamily="18" charset="0"/>
                <a:cs typeface="Times New Roman" panose="02020603050405020304" pitchFamily="18" charset="0"/>
              </a:rPr>
              <a:t> and visualization.</a:t>
            </a:r>
          </a:p>
        </p:txBody>
      </p:sp>
    </p:spTree>
    <p:extLst>
      <p:ext uri="{BB962C8B-B14F-4D97-AF65-F5344CB8AC3E}">
        <p14:creationId xmlns:p14="http://schemas.microsoft.com/office/powerpoint/2010/main" val="407990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1719FC-6280-226C-036C-FA7CCDC1F315}"/>
              </a:ext>
            </a:extLst>
          </p:cNvPr>
          <p:cNvSpPr txBox="1"/>
          <p:nvPr/>
        </p:nvSpPr>
        <p:spPr>
          <a:xfrm>
            <a:off x="2876341" y="80387"/>
            <a:ext cx="6094324" cy="1200329"/>
          </a:xfrm>
          <a:prstGeom prst="rect">
            <a:avLst/>
          </a:prstGeom>
          <a:noFill/>
        </p:spPr>
        <p:txBody>
          <a:bodyPr wrap="square">
            <a:spAutoFit/>
          </a:bodyPr>
          <a:lstStyle/>
          <a:p>
            <a:pPr algn="ctr">
              <a:buNone/>
            </a:pPr>
            <a:r>
              <a:rPr lang="en-NZ" sz="4000" b="1" dirty="0"/>
              <a:t>Data Visualization</a:t>
            </a:r>
          </a:p>
          <a:p>
            <a:pPr algn="ctr">
              <a:buNone/>
            </a:pPr>
            <a:r>
              <a:rPr lang="en-NZ" sz="3200" b="1" dirty="0"/>
              <a:t>Dashboard Creation</a:t>
            </a:r>
          </a:p>
        </p:txBody>
      </p:sp>
      <p:pic>
        <p:nvPicPr>
          <p:cNvPr id="4" name="Picture 3">
            <a:extLst>
              <a:ext uri="{FF2B5EF4-FFF2-40B4-BE49-F238E27FC236}">
                <a16:creationId xmlns:a16="http://schemas.microsoft.com/office/drawing/2014/main" id="{9B4BC006-D127-B08B-432A-9D9865C2407C}"/>
              </a:ext>
            </a:extLst>
          </p:cNvPr>
          <p:cNvPicPr>
            <a:picLocks noChangeAspect="1"/>
          </p:cNvPicPr>
          <p:nvPr/>
        </p:nvPicPr>
        <p:blipFill>
          <a:blip r:embed="rId2"/>
          <a:stretch>
            <a:fillRect/>
          </a:stretch>
        </p:blipFill>
        <p:spPr>
          <a:xfrm>
            <a:off x="1427475" y="1280716"/>
            <a:ext cx="8882134" cy="5295763"/>
          </a:xfrm>
          <a:prstGeom prst="rect">
            <a:avLst/>
          </a:prstGeom>
        </p:spPr>
      </p:pic>
    </p:spTree>
    <p:extLst>
      <p:ext uri="{BB962C8B-B14F-4D97-AF65-F5344CB8AC3E}">
        <p14:creationId xmlns:p14="http://schemas.microsoft.com/office/powerpoint/2010/main" val="36035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899137-82A5-A482-7A6C-8941CE6F0B99}"/>
              </a:ext>
            </a:extLst>
          </p:cNvPr>
          <p:cNvPicPr>
            <a:picLocks noChangeAspect="1"/>
          </p:cNvPicPr>
          <p:nvPr/>
        </p:nvPicPr>
        <p:blipFill>
          <a:blip r:embed="rId2"/>
          <a:stretch>
            <a:fillRect/>
          </a:stretch>
        </p:blipFill>
        <p:spPr>
          <a:xfrm>
            <a:off x="703383" y="841121"/>
            <a:ext cx="9580955" cy="5390191"/>
          </a:xfrm>
          <a:prstGeom prst="rect">
            <a:avLst/>
          </a:prstGeom>
        </p:spPr>
      </p:pic>
    </p:spTree>
    <p:extLst>
      <p:ext uri="{BB962C8B-B14F-4D97-AF65-F5344CB8AC3E}">
        <p14:creationId xmlns:p14="http://schemas.microsoft.com/office/powerpoint/2010/main" val="3768542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87F755-007D-F29C-31DC-69F8ACD0F51B}"/>
              </a:ext>
            </a:extLst>
          </p:cNvPr>
          <p:cNvPicPr>
            <a:picLocks noChangeAspect="1"/>
          </p:cNvPicPr>
          <p:nvPr/>
        </p:nvPicPr>
        <p:blipFill>
          <a:blip r:embed="rId2"/>
          <a:stretch>
            <a:fillRect/>
          </a:stretch>
        </p:blipFill>
        <p:spPr>
          <a:xfrm>
            <a:off x="673240" y="728758"/>
            <a:ext cx="9648158" cy="5633488"/>
          </a:xfrm>
          <a:prstGeom prst="rect">
            <a:avLst/>
          </a:prstGeom>
        </p:spPr>
      </p:pic>
    </p:spTree>
    <p:extLst>
      <p:ext uri="{BB962C8B-B14F-4D97-AF65-F5344CB8AC3E}">
        <p14:creationId xmlns:p14="http://schemas.microsoft.com/office/powerpoint/2010/main" val="1114255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E4EAEC-5DAA-8DF5-5F0F-714D40EBC77D}"/>
              </a:ext>
            </a:extLst>
          </p:cNvPr>
          <p:cNvPicPr>
            <a:picLocks noChangeAspect="1"/>
          </p:cNvPicPr>
          <p:nvPr/>
        </p:nvPicPr>
        <p:blipFill>
          <a:blip r:embed="rId2"/>
          <a:stretch>
            <a:fillRect/>
          </a:stretch>
        </p:blipFill>
        <p:spPr>
          <a:xfrm>
            <a:off x="653143" y="736862"/>
            <a:ext cx="9615955" cy="5717202"/>
          </a:xfrm>
          <a:prstGeom prst="rect">
            <a:avLst/>
          </a:prstGeom>
        </p:spPr>
      </p:pic>
    </p:spTree>
    <p:extLst>
      <p:ext uri="{BB962C8B-B14F-4D97-AF65-F5344CB8AC3E}">
        <p14:creationId xmlns:p14="http://schemas.microsoft.com/office/powerpoint/2010/main" val="443145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7AF43A-D663-19A3-4843-70F7BCAC7C93}"/>
              </a:ext>
            </a:extLst>
          </p:cNvPr>
          <p:cNvPicPr>
            <a:picLocks noChangeAspect="1"/>
          </p:cNvPicPr>
          <p:nvPr/>
        </p:nvPicPr>
        <p:blipFill>
          <a:blip r:embed="rId2"/>
          <a:stretch>
            <a:fillRect/>
          </a:stretch>
        </p:blipFill>
        <p:spPr>
          <a:xfrm>
            <a:off x="442127" y="813254"/>
            <a:ext cx="9973516" cy="5759669"/>
          </a:xfrm>
          <a:prstGeom prst="rect">
            <a:avLst/>
          </a:prstGeom>
        </p:spPr>
      </p:pic>
    </p:spTree>
    <p:extLst>
      <p:ext uri="{BB962C8B-B14F-4D97-AF65-F5344CB8AC3E}">
        <p14:creationId xmlns:p14="http://schemas.microsoft.com/office/powerpoint/2010/main" val="1961344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8C60F9-37DE-3321-6195-DFCBFEBE3A31}"/>
              </a:ext>
            </a:extLst>
          </p:cNvPr>
          <p:cNvPicPr>
            <a:picLocks noChangeAspect="1"/>
          </p:cNvPicPr>
          <p:nvPr/>
        </p:nvPicPr>
        <p:blipFill>
          <a:blip r:embed="rId2"/>
          <a:stretch>
            <a:fillRect/>
          </a:stretch>
        </p:blipFill>
        <p:spPr>
          <a:xfrm>
            <a:off x="747245" y="715033"/>
            <a:ext cx="9472750" cy="5273785"/>
          </a:xfrm>
          <a:prstGeom prst="rect">
            <a:avLst/>
          </a:prstGeom>
        </p:spPr>
      </p:pic>
    </p:spTree>
    <p:extLst>
      <p:ext uri="{BB962C8B-B14F-4D97-AF65-F5344CB8AC3E}">
        <p14:creationId xmlns:p14="http://schemas.microsoft.com/office/powerpoint/2010/main" val="1009098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237DC8-26F4-C4AE-B66F-37ECFBBE1750}"/>
              </a:ext>
            </a:extLst>
          </p:cNvPr>
          <p:cNvPicPr>
            <a:picLocks noChangeAspect="1"/>
          </p:cNvPicPr>
          <p:nvPr/>
        </p:nvPicPr>
        <p:blipFill>
          <a:blip r:embed="rId2"/>
          <a:stretch>
            <a:fillRect/>
          </a:stretch>
        </p:blipFill>
        <p:spPr>
          <a:xfrm>
            <a:off x="667902" y="723504"/>
            <a:ext cx="9664044" cy="5410991"/>
          </a:xfrm>
          <a:prstGeom prst="rect">
            <a:avLst/>
          </a:prstGeom>
        </p:spPr>
      </p:pic>
    </p:spTree>
    <p:extLst>
      <p:ext uri="{BB962C8B-B14F-4D97-AF65-F5344CB8AC3E}">
        <p14:creationId xmlns:p14="http://schemas.microsoft.com/office/powerpoint/2010/main" val="2529341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01D4E2-861F-3CE4-D378-880A1ABE3CFE}"/>
              </a:ext>
            </a:extLst>
          </p:cNvPr>
          <p:cNvSpPr txBox="1"/>
          <p:nvPr/>
        </p:nvSpPr>
        <p:spPr>
          <a:xfrm>
            <a:off x="625511" y="0"/>
            <a:ext cx="6094324" cy="5847755"/>
          </a:xfrm>
          <a:prstGeom prst="rect">
            <a:avLst/>
          </a:prstGeom>
          <a:noFill/>
        </p:spPr>
        <p:txBody>
          <a:bodyPr wrap="square">
            <a:spAutoFit/>
          </a:bodyPr>
          <a:lstStyle/>
          <a:p>
            <a:pPr>
              <a:buNone/>
            </a:pPr>
            <a:endParaRPr lang="en-NZ" b="1" dirty="0"/>
          </a:p>
          <a:p>
            <a:pPr>
              <a:buNone/>
            </a:pPr>
            <a:r>
              <a:rPr lang="en-NZ" sz="3200" b="1" dirty="0"/>
              <a:t>Page 1 – Supply Chain Overview</a:t>
            </a:r>
          </a:p>
          <a:p>
            <a:pPr>
              <a:buNone/>
            </a:pPr>
            <a:endParaRPr lang="en-NZ" sz="3200" b="1" dirty="0"/>
          </a:p>
          <a:p>
            <a:pPr marL="514350" indent="-514350">
              <a:buAutoNum type="arabicPeriod"/>
            </a:pPr>
            <a:r>
              <a:rPr lang="en-NZ" sz="2800" b="1" dirty="0"/>
              <a:t>Total Orders (Card)</a:t>
            </a:r>
          </a:p>
          <a:p>
            <a:endParaRPr lang="en-NZ" sz="2800" b="1" dirty="0"/>
          </a:p>
          <a:p>
            <a:pPr>
              <a:buNone/>
            </a:pPr>
            <a:r>
              <a:rPr lang="en-NZ" sz="2800" b="1" dirty="0"/>
              <a:t>Description:</a:t>
            </a:r>
          </a:p>
          <a:p>
            <a:pPr>
              <a:buNone/>
            </a:pPr>
            <a:endParaRPr lang="en-NZ" sz="2800" dirty="0"/>
          </a:p>
          <a:p>
            <a:pPr>
              <a:buNone/>
            </a:pPr>
            <a:r>
              <a:rPr lang="en-NZ" sz="2000" dirty="0"/>
              <a:t>The </a:t>
            </a:r>
            <a:r>
              <a:rPr lang="en-NZ" sz="2000" b="1" dirty="0"/>
              <a:t>Total Orders</a:t>
            </a:r>
            <a:r>
              <a:rPr lang="en-NZ" sz="2000" dirty="0"/>
              <a:t> card displays the total number of customer orders available in the dataset. It provides a quick overview of the business volume and serves as a key performance indicator (KPI) for overall supply chain activity. This metric helps stakeholders understand the scale of operations and acts as a reference point when </a:t>
            </a:r>
            <a:r>
              <a:rPr lang="en-NZ" sz="2000" dirty="0" err="1"/>
              <a:t>analyzing</a:t>
            </a:r>
            <a:r>
              <a:rPr lang="en-NZ" sz="2000" dirty="0"/>
              <a:t> other performance indicators such as transportation cost, delivery time, and inventory efficiency.</a:t>
            </a:r>
          </a:p>
        </p:txBody>
      </p:sp>
    </p:spTree>
    <p:extLst>
      <p:ext uri="{BB962C8B-B14F-4D97-AF65-F5344CB8AC3E}">
        <p14:creationId xmlns:p14="http://schemas.microsoft.com/office/powerpoint/2010/main" val="3553981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39DD9B-1F19-590A-781E-778C344E162D}"/>
              </a:ext>
            </a:extLst>
          </p:cNvPr>
          <p:cNvSpPr txBox="1"/>
          <p:nvPr/>
        </p:nvSpPr>
        <p:spPr>
          <a:xfrm>
            <a:off x="1067638" y="774452"/>
            <a:ext cx="6094324" cy="4431983"/>
          </a:xfrm>
          <a:prstGeom prst="rect">
            <a:avLst/>
          </a:prstGeom>
          <a:noFill/>
        </p:spPr>
        <p:txBody>
          <a:bodyPr wrap="square">
            <a:spAutoFit/>
          </a:bodyPr>
          <a:lstStyle/>
          <a:p>
            <a:r>
              <a:rPr lang="en-NZ" sz="2800" b="1" dirty="0"/>
              <a:t>2. Total Transportation Cost (Card)</a:t>
            </a:r>
          </a:p>
          <a:p>
            <a:endParaRPr lang="en-NZ" sz="2800" b="1" dirty="0"/>
          </a:p>
          <a:p>
            <a:r>
              <a:rPr lang="en-NZ" sz="2800" b="1" dirty="0"/>
              <a:t>Description</a:t>
            </a:r>
            <a:r>
              <a:rPr lang="en-NZ" sz="1800" b="1" dirty="0"/>
              <a:t>:</a:t>
            </a:r>
          </a:p>
          <a:p>
            <a:pPr>
              <a:buNone/>
            </a:pPr>
            <a:endParaRPr lang="en-NZ" dirty="0"/>
          </a:p>
          <a:p>
            <a:pPr>
              <a:buNone/>
            </a:pPr>
            <a:r>
              <a:rPr lang="en-NZ" sz="2000" dirty="0"/>
              <a:t>This card displays the total transportation cost incurred across all orders. Transportation cost is one of the major expenses in any supply chain, and monitoring this value helps organizations understand overall logistics spending. By comparing transportation costs across different product categories or transport modes, businesses can identify opportunities to reduce expenses and improve operational efficiency.</a:t>
            </a:r>
          </a:p>
        </p:txBody>
      </p:sp>
    </p:spTree>
    <p:extLst>
      <p:ext uri="{BB962C8B-B14F-4D97-AF65-F5344CB8AC3E}">
        <p14:creationId xmlns:p14="http://schemas.microsoft.com/office/powerpoint/2010/main" val="2273915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66E7F-F259-9CEC-E502-D97B78F0CA05}"/>
              </a:ext>
            </a:extLst>
          </p:cNvPr>
          <p:cNvSpPr txBox="1"/>
          <p:nvPr/>
        </p:nvSpPr>
        <p:spPr>
          <a:xfrm>
            <a:off x="796333" y="541162"/>
            <a:ext cx="6094324" cy="4278094"/>
          </a:xfrm>
          <a:prstGeom prst="rect">
            <a:avLst/>
          </a:prstGeom>
          <a:noFill/>
        </p:spPr>
        <p:txBody>
          <a:bodyPr wrap="square">
            <a:spAutoFit/>
          </a:bodyPr>
          <a:lstStyle/>
          <a:p>
            <a:pPr>
              <a:buNone/>
            </a:pPr>
            <a:r>
              <a:rPr lang="en-NZ" sz="2800" b="1" dirty="0"/>
              <a:t>3. Average Delivery Days (Card)</a:t>
            </a:r>
          </a:p>
          <a:p>
            <a:pPr>
              <a:buNone/>
            </a:pPr>
            <a:endParaRPr lang="en-NZ" sz="2800" b="1" dirty="0"/>
          </a:p>
          <a:p>
            <a:pPr>
              <a:buNone/>
            </a:pPr>
            <a:r>
              <a:rPr lang="en-NZ" sz="2800" b="1" dirty="0"/>
              <a:t>Description:</a:t>
            </a:r>
          </a:p>
          <a:p>
            <a:pPr>
              <a:buNone/>
            </a:pPr>
            <a:endParaRPr lang="en-NZ" sz="2800" dirty="0"/>
          </a:p>
          <a:p>
            <a:pPr>
              <a:buNone/>
            </a:pPr>
            <a:r>
              <a:rPr lang="en-NZ" sz="2000" dirty="0"/>
              <a:t>The </a:t>
            </a:r>
            <a:r>
              <a:rPr lang="en-NZ" sz="2000" b="1" dirty="0"/>
              <a:t>Average Delivery Days</a:t>
            </a:r>
            <a:r>
              <a:rPr lang="en-NZ" sz="2000" dirty="0"/>
              <a:t> card shows the average time required to deliver customer orders from the time they are placed until they reach the customer. This KPI helps evaluate delivery performance and operational efficiency. A lower average delivery time indicates a more efficient supply chain, while a higher value may suggest delays in transportation, order processing, or supplier performance.</a:t>
            </a:r>
          </a:p>
        </p:txBody>
      </p:sp>
    </p:spTree>
    <p:extLst>
      <p:ext uri="{BB962C8B-B14F-4D97-AF65-F5344CB8AC3E}">
        <p14:creationId xmlns:p14="http://schemas.microsoft.com/office/powerpoint/2010/main" val="1321361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D7A4D5-AA27-D7BE-DAC6-DD3CD7E9721A}"/>
              </a:ext>
            </a:extLst>
          </p:cNvPr>
          <p:cNvSpPr txBox="1"/>
          <p:nvPr/>
        </p:nvSpPr>
        <p:spPr>
          <a:xfrm>
            <a:off x="1127928" y="490921"/>
            <a:ext cx="6094324" cy="4708981"/>
          </a:xfrm>
          <a:prstGeom prst="rect">
            <a:avLst/>
          </a:prstGeom>
          <a:noFill/>
        </p:spPr>
        <p:txBody>
          <a:bodyPr wrap="square">
            <a:spAutoFit/>
          </a:bodyPr>
          <a:lstStyle/>
          <a:p>
            <a:pPr>
              <a:buNone/>
            </a:pPr>
            <a:r>
              <a:rPr lang="en-NZ" sz="2800" b="1" dirty="0"/>
              <a:t>4. Orders by Product Category (Clustered Column Chart)</a:t>
            </a:r>
          </a:p>
          <a:p>
            <a:pPr>
              <a:buNone/>
            </a:pPr>
            <a:endParaRPr lang="en-NZ" sz="2800" b="1" dirty="0"/>
          </a:p>
          <a:p>
            <a:pPr>
              <a:buNone/>
            </a:pPr>
            <a:r>
              <a:rPr lang="en-NZ" sz="2800" b="1" dirty="0"/>
              <a:t>Description:</a:t>
            </a:r>
          </a:p>
          <a:p>
            <a:pPr>
              <a:buNone/>
            </a:pPr>
            <a:endParaRPr lang="en-NZ" sz="2800" dirty="0"/>
          </a:p>
          <a:p>
            <a:pPr>
              <a:buNone/>
            </a:pPr>
            <a:r>
              <a:rPr lang="en-NZ" sz="2000" dirty="0"/>
              <a:t>This chart compares the number of customer orders across different product categories. It helps identify which categories receive the highest and lowest demand. Understanding product demand enables businesses to improve inventory planning, optimize stock levels, and allocate resources more effectively. It also supports better forecasting and purchasing decisions.</a:t>
            </a:r>
          </a:p>
        </p:txBody>
      </p:sp>
    </p:spTree>
    <p:extLst>
      <p:ext uri="{BB962C8B-B14F-4D97-AF65-F5344CB8AC3E}">
        <p14:creationId xmlns:p14="http://schemas.microsoft.com/office/powerpoint/2010/main" val="1224653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D37D9-8BFD-1AD8-1DD3-92E2A82E860E}"/>
              </a:ext>
            </a:extLst>
          </p:cNvPr>
          <p:cNvSpPr txBox="1"/>
          <p:nvPr/>
        </p:nvSpPr>
        <p:spPr>
          <a:xfrm>
            <a:off x="655655" y="493098"/>
            <a:ext cx="6094324" cy="4708981"/>
          </a:xfrm>
          <a:prstGeom prst="rect">
            <a:avLst/>
          </a:prstGeom>
          <a:noFill/>
        </p:spPr>
        <p:txBody>
          <a:bodyPr wrap="square">
            <a:spAutoFit/>
          </a:bodyPr>
          <a:lstStyle/>
          <a:p>
            <a:pPr>
              <a:buNone/>
            </a:pPr>
            <a:r>
              <a:rPr lang="en-NZ" sz="2800" b="1" dirty="0"/>
              <a:t>5. Transportation Cost by Transport Mode (Clustered Bar Chart)</a:t>
            </a:r>
          </a:p>
          <a:p>
            <a:pPr>
              <a:buNone/>
            </a:pPr>
            <a:endParaRPr lang="en-NZ" sz="2800" b="1" dirty="0"/>
          </a:p>
          <a:p>
            <a:pPr>
              <a:buNone/>
            </a:pPr>
            <a:r>
              <a:rPr lang="en-NZ" sz="2800" b="1" dirty="0"/>
              <a:t>Description:</a:t>
            </a:r>
          </a:p>
          <a:p>
            <a:pPr>
              <a:buNone/>
            </a:pPr>
            <a:endParaRPr lang="en-NZ" sz="2800" dirty="0"/>
          </a:p>
          <a:p>
            <a:pPr>
              <a:buNone/>
            </a:pPr>
            <a:r>
              <a:rPr lang="en-NZ" sz="2000" dirty="0"/>
              <a:t>This visualization compares the total transportation cost for each transport mode, such as Air, Road, Rail, or Sea. It allows businesses to identify which transportation method contributes the highest logistics cost. The insights gained from this chart can help organizations evaluate transportation strategies, improve route planning, and reduce overall logistics expenses</a:t>
            </a:r>
            <a:r>
              <a:rPr lang="en-NZ" sz="1800" dirty="0"/>
              <a:t>.</a:t>
            </a:r>
          </a:p>
        </p:txBody>
      </p:sp>
    </p:spTree>
    <p:extLst>
      <p:ext uri="{BB962C8B-B14F-4D97-AF65-F5344CB8AC3E}">
        <p14:creationId xmlns:p14="http://schemas.microsoft.com/office/powerpoint/2010/main" val="4251583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8ADBF9-3A1F-15D6-9CD2-66CB4F066C23}"/>
              </a:ext>
            </a:extLst>
          </p:cNvPr>
          <p:cNvSpPr txBox="1"/>
          <p:nvPr/>
        </p:nvSpPr>
        <p:spPr>
          <a:xfrm>
            <a:off x="635559" y="351692"/>
            <a:ext cx="6094324" cy="4708981"/>
          </a:xfrm>
          <a:prstGeom prst="rect">
            <a:avLst/>
          </a:prstGeom>
          <a:noFill/>
        </p:spPr>
        <p:txBody>
          <a:bodyPr wrap="square">
            <a:spAutoFit/>
          </a:bodyPr>
          <a:lstStyle/>
          <a:p>
            <a:pPr>
              <a:buNone/>
            </a:pPr>
            <a:r>
              <a:rPr lang="en-NZ" sz="2800" b="1" dirty="0"/>
              <a:t>6. Delayed vs On-Time Orders (Donut Chart)</a:t>
            </a:r>
          </a:p>
          <a:p>
            <a:pPr>
              <a:buNone/>
            </a:pPr>
            <a:endParaRPr lang="en-NZ" sz="2800" b="1" dirty="0"/>
          </a:p>
          <a:p>
            <a:pPr>
              <a:buNone/>
            </a:pPr>
            <a:r>
              <a:rPr lang="en-NZ" sz="2800" b="1" dirty="0"/>
              <a:t>Description:</a:t>
            </a:r>
          </a:p>
          <a:p>
            <a:pPr>
              <a:buNone/>
            </a:pPr>
            <a:endParaRPr lang="en-NZ" sz="2800" dirty="0"/>
          </a:p>
          <a:p>
            <a:pPr>
              <a:buNone/>
            </a:pPr>
            <a:r>
              <a:rPr lang="en-NZ" sz="2000" dirty="0"/>
              <a:t>The donut chart displays the proportion of delayed and on-time deliveries. It provides a clear overview of delivery performance and service reliability. A higher percentage of delayed orders may indicate operational bottlenecks, transportation issues, or supplier-related problems. This visualization helps organizations monitor customer service performance and identify areas that require improvement.</a:t>
            </a:r>
          </a:p>
        </p:txBody>
      </p:sp>
    </p:spTree>
    <p:extLst>
      <p:ext uri="{BB962C8B-B14F-4D97-AF65-F5344CB8AC3E}">
        <p14:creationId xmlns:p14="http://schemas.microsoft.com/office/powerpoint/2010/main" val="1223786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F20601-5BEB-F464-4E4C-2E963DB353FB}"/>
              </a:ext>
            </a:extLst>
          </p:cNvPr>
          <p:cNvSpPr txBox="1"/>
          <p:nvPr/>
        </p:nvSpPr>
        <p:spPr>
          <a:xfrm>
            <a:off x="685800" y="651695"/>
            <a:ext cx="6094324" cy="4401205"/>
          </a:xfrm>
          <a:prstGeom prst="rect">
            <a:avLst/>
          </a:prstGeom>
          <a:noFill/>
        </p:spPr>
        <p:txBody>
          <a:bodyPr wrap="square">
            <a:spAutoFit/>
          </a:bodyPr>
          <a:lstStyle/>
          <a:p>
            <a:pPr>
              <a:buNone/>
            </a:pPr>
            <a:r>
              <a:rPr lang="en-NZ" sz="2800" b="1" dirty="0"/>
              <a:t>7. Average Storage Cost by Product Category (Column Chart)</a:t>
            </a:r>
          </a:p>
          <a:p>
            <a:pPr>
              <a:buNone/>
            </a:pPr>
            <a:endParaRPr lang="en-NZ" sz="2800" b="1" dirty="0"/>
          </a:p>
          <a:p>
            <a:pPr>
              <a:buNone/>
            </a:pPr>
            <a:r>
              <a:rPr lang="en-NZ" sz="2800" b="1" dirty="0"/>
              <a:t>Description:</a:t>
            </a:r>
          </a:p>
          <a:p>
            <a:pPr>
              <a:buNone/>
            </a:pPr>
            <a:endParaRPr lang="en-NZ" sz="2800" dirty="0"/>
          </a:p>
          <a:p>
            <a:pPr>
              <a:buNone/>
            </a:pPr>
            <a:r>
              <a:rPr lang="en-NZ" sz="2000" dirty="0"/>
              <a:t>This chart compares the average storage cost for different product categories. It helps identify products that require higher warehousing expenses and occupy storage space for longer periods. By </a:t>
            </a:r>
            <a:r>
              <a:rPr lang="en-NZ" sz="2000" dirty="0" err="1"/>
              <a:t>analyzing</a:t>
            </a:r>
            <a:r>
              <a:rPr lang="en-NZ" sz="2000" dirty="0"/>
              <a:t> storage costs, businesses can optimize warehouse utilization, improve inventory management, and reduce unnecessary storage expenses.</a:t>
            </a:r>
          </a:p>
        </p:txBody>
      </p:sp>
    </p:spTree>
    <p:extLst>
      <p:ext uri="{BB962C8B-B14F-4D97-AF65-F5344CB8AC3E}">
        <p14:creationId xmlns:p14="http://schemas.microsoft.com/office/powerpoint/2010/main" val="486399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E50AAF-844A-5F46-8B86-1596F4FF9898}"/>
              </a:ext>
            </a:extLst>
          </p:cNvPr>
          <p:cNvSpPr txBox="1"/>
          <p:nvPr/>
        </p:nvSpPr>
        <p:spPr>
          <a:xfrm>
            <a:off x="190919" y="272534"/>
            <a:ext cx="12001081" cy="584775"/>
          </a:xfrm>
          <a:prstGeom prst="rect">
            <a:avLst/>
          </a:prstGeom>
          <a:noFill/>
        </p:spPr>
        <p:txBody>
          <a:bodyPr wrap="square">
            <a:spAutoFit/>
          </a:bodyPr>
          <a:lstStyle/>
          <a:p>
            <a:pPr algn="ctr"/>
            <a:r>
              <a:rPr lang="en-NZ" sz="3200" b="1" dirty="0"/>
              <a:t>Page 2 – Logistics &amp; Inventory Analysis</a:t>
            </a:r>
          </a:p>
        </p:txBody>
      </p:sp>
      <p:sp>
        <p:nvSpPr>
          <p:cNvPr id="13" name="TextBox 12">
            <a:extLst>
              <a:ext uri="{FF2B5EF4-FFF2-40B4-BE49-F238E27FC236}">
                <a16:creationId xmlns:a16="http://schemas.microsoft.com/office/drawing/2014/main" id="{D4EA6B91-B2EA-44EF-5508-E2EDE9DC2DF2}"/>
              </a:ext>
            </a:extLst>
          </p:cNvPr>
          <p:cNvSpPr txBox="1"/>
          <p:nvPr/>
        </p:nvSpPr>
        <p:spPr>
          <a:xfrm>
            <a:off x="1488498" y="2249058"/>
            <a:ext cx="6094268" cy="3046988"/>
          </a:xfrm>
          <a:prstGeom prst="rect">
            <a:avLst/>
          </a:prstGeom>
          <a:noFill/>
        </p:spPr>
        <p:txBody>
          <a:bodyPr wrap="square">
            <a:spAutoFit/>
          </a:bodyPr>
          <a:lstStyle/>
          <a:p>
            <a:pPr marL="514350" indent="-514350">
              <a:buAutoNum type="arabicPeriod"/>
            </a:pPr>
            <a:r>
              <a:rPr lang="en-NZ" sz="2800" b="1" dirty="0"/>
              <a:t>Total Stockout Orders (Card)</a:t>
            </a:r>
          </a:p>
          <a:p>
            <a:endParaRPr lang="en-NZ" sz="2800" b="1" dirty="0"/>
          </a:p>
          <a:p>
            <a:pPr>
              <a:buNone/>
            </a:pPr>
            <a:r>
              <a:rPr lang="en-NZ" sz="2800" b="1" dirty="0"/>
              <a:t>Description:</a:t>
            </a:r>
          </a:p>
          <a:p>
            <a:pPr>
              <a:buNone/>
            </a:pPr>
            <a:endParaRPr lang="en-NZ" sz="2800" dirty="0"/>
          </a:p>
          <a:p>
            <a:pPr>
              <a:buNone/>
            </a:pPr>
            <a:r>
              <a:rPr lang="en-NZ" sz="2000" dirty="0"/>
              <a:t>This KPI displays the total number of orders affected by stockouts. It helps identify inventory shortages and enables businesses to improve stock availability and reduce lost sales.</a:t>
            </a:r>
          </a:p>
        </p:txBody>
      </p:sp>
    </p:spTree>
    <p:extLst>
      <p:ext uri="{BB962C8B-B14F-4D97-AF65-F5344CB8AC3E}">
        <p14:creationId xmlns:p14="http://schemas.microsoft.com/office/powerpoint/2010/main" val="1505591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2CF9AD-1D85-73A3-9457-21CA9DB2FA71}"/>
              </a:ext>
            </a:extLst>
          </p:cNvPr>
          <p:cNvSpPr txBox="1"/>
          <p:nvPr/>
        </p:nvSpPr>
        <p:spPr>
          <a:xfrm>
            <a:off x="1353415" y="962028"/>
            <a:ext cx="6094268" cy="3046988"/>
          </a:xfrm>
          <a:prstGeom prst="rect">
            <a:avLst/>
          </a:prstGeom>
          <a:noFill/>
        </p:spPr>
        <p:txBody>
          <a:bodyPr wrap="square">
            <a:spAutoFit/>
          </a:bodyPr>
          <a:lstStyle/>
          <a:p>
            <a:pPr>
              <a:buNone/>
            </a:pPr>
            <a:r>
              <a:rPr lang="en-NZ" sz="2800" b="1" dirty="0"/>
              <a:t>2. Average Fill Rate (%) (Card)</a:t>
            </a:r>
          </a:p>
          <a:p>
            <a:pPr>
              <a:buNone/>
            </a:pPr>
            <a:endParaRPr lang="en-NZ" sz="2800" b="1" dirty="0"/>
          </a:p>
          <a:p>
            <a:pPr>
              <a:buNone/>
            </a:pPr>
            <a:r>
              <a:rPr lang="en-NZ" sz="2800" b="1" dirty="0"/>
              <a:t>Description:</a:t>
            </a:r>
          </a:p>
          <a:p>
            <a:pPr>
              <a:buNone/>
            </a:pPr>
            <a:endParaRPr lang="en-NZ" sz="2800" dirty="0"/>
          </a:p>
          <a:p>
            <a:pPr>
              <a:buNone/>
            </a:pPr>
            <a:r>
              <a:rPr lang="en-NZ" sz="2000" dirty="0"/>
              <a:t>This KPI shows the average percentage of customer demand fulfilled successfully. A higher fill rate indicates better inventory management and improved customer service performance.</a:t>
            </a:r>
          </a:p>
        </p:txBody>
      </p:sp>
    </p:spTree>
    <p:extLst>
      <p:ext uri="{BB962C8B-B14F-4D97-AF65-F5344CB8AC3E}">
        <p14:creationId xmlns:p14="http://schemas.microsoft.com/office/powerpoint/2010/main" val="3177649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D8D69A-D33D-8D77-FE0E-E0844BE51872}"/>
              </a:ext>
            </a:extLst>
          </p:cNvPr>
          <p:cNvSpPr txBox="1"/>
          <p:nvPr/>
        </p:nvSpPr>
        <p:spPr>
          <a:xfrm>
            <a:off x="896816" y="528936"/>
            <a:ext cx="6094324" cy="3816429"/>
          </a:xfrm>
          <a:prstGeom prst="rect">
            <a:avLst/>
          </a:prstGeom>
          <a:noFill/>
        </p:spPr>
        <p:txBody>
          <a:bodyPr wrap="square">
            <a:spAutoFit/>
          </a:bodyPr>
          <a:lstStyle/>
          <a:p>
            <a:pPr>
              <a:buNone/>
            </a:pPr>
            <a:r>
              <a:rPr lang="en-NZ" sz="2800" b="1" dirty="0"/>
              <a:t>3. Average Cost per </a:t>
            </a:r>
            <a:r>
              <a:rPr lang="en-NZ" sz="2800" b="1" dirty="0" err="1"/>
              <a:t>Kilometer</a:t>
            </a:r>
            <a:r>
              <a:rPr lang="en-NZ" sz="2800" b="1" dirty="0"/>
              <a:t> (Card)</a:t>
            </a:r>
          </a:p>
          <a:p>
            <a:pPr>
              <a:buNone/>
            </a:pPr>
            <a:endParaRPr lang="en-NZ" sz="2800" b="1" dirty="0"/>
          </a:p>
          <a:p>
            <a:pPr>
              <a:buNone/>
            </a:pPr>
            <a:r>
              <a:rPr lang="en-NZ" sz="2800" b="1" dirty="0"/>
              <a:t>Description:</a:t>
            </a:r>
          </a:p>
          <a:p>
            <a:pPr>
              <a:buNone/>
            </a:pPr>
            <a:endParaRPr lang="en-NZ" dirty="0"/>
          </a:p>
          <a:p>
            <a:pPr>
              <a:buNone/>
            </a:pPr>
            <a:r>
              <a:rPr lang="en-NZ" sz="2000" dirty="0"/>
              <a:t>This card displays the average transportation cost incurred per </a:t>
            </a:r>
            <a:r>
              <a:rPr lang="en-NZ" sz="2000" dirty="0" err="1"/>
              <a:t>kilometer</a:t>
            </a:r>
            <a:r>
              <a:rPr lang="en-NZ" sz="2000" dirty="0"/>
              <a:t>. It helps evaluate transportation efficiency by measuring the cost of moving goods over distance. Monitoring this metric allows organizations to compare transportation performance, identify cost variations, and optimize logistics planning to reduce operational expenses.</a:t>
            </a:r>
          </a:p>
        </p:txBody>
      </p:sp>
    </p:spTree>
    <p:extLst>
      <p:ext uri="{BB962C8B-B14F-4D97-AF65-F5344CB8AC3E}">
        <p14:creationId xmlns:p14="http://schemas.microsoft.com/office/powerpoint/2010/main" val="1410333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355F54-127A-6555-37D2-F2F683AA33D0}"/>
              </a:ext>
            </a:extLst>
          </p:cNvPr>
          <p:cNvSpPr txBox="1"/>
          <p:nvPr/>
        </p:nvSpPr>
        <p:spPr>
          <a:xfrm>
            <a:off x="1107831" y="874936"/>
            <a:ext cx="6094324" cy="4708981"/>
          </a:xfrm>
          <a:prstGeom prst="rect">
            <a:avLst/>
          </a:prstGeom>
          <a:noFill/>
        </p:spPr>
        <p:txBody>
          <a:bodyPr wrap="square">
            <a:spAutoFit/>
          </a:bodyPr>
          <a:lstStyle/>
          <a:p>
            <a:pPr>
              <a:buNone/>
            </a:pPr>
            <a:r>
              <a:rPr lang="en-NZ" sz="2800" b="1" dirty="0"/>
              <a:t>4. Delayed Orders by Transport Mode (Stacked Column Chart)</a:t>
            </a:r>
          </a:p>
          <a:p>
            <a:pPr>
              <a:buNone/>
            </a:pPr>
            <a:endParaRPr lang="en-NZ" sz="2800" b="1" dirty="0"/>
          </a:p>
          <a:p>
            <a:pPr>
              <a:buNone/>
            </a:pPr>
            <a:r>
              <a:rPr lang="en-NZ" sz="2800" b="1" dirty="0"/>
              <a:t>Description:</a:t>
            </a:r>
          </a:p>
          <a:p>
            <a:pPr>
              <a:buNone/>
            </a:pPr>
            <a:endParaRPr lang="en-NZ" sz="2800" dirty="0"/>
          </a:p>
          <a:p>
            <a:pPr>
              <a:buNone/>
            </a:pPr>
            <a:r>
              <a:rPr lang="en-NZ" sz="2000" dirty="0"/>
              <a:t>This visualization compares delayed and on-time orders across different transportation modes. It helps identify which transport method experiences the highest number of delivery delays. The analysis supports better transportation planning and assists organizations in selecting more reliable shipping methods to improve delivery performance and customer satisfaction.</a:t>
            </a:r>
          </a:p>
        </p:txBody>
      </p:sp>
    </p:spTree>
    <p:extLst>
      <p:ext uri="{BB962C8B-B14F-4D97-AF65-F5344CB8AC3E}">
        <p14:creationId xmlns:p14="http://schemas.microsoft.com/office/powerpoint/2010/main" val="903906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C61E00-90E8-34B9-0D2D-E27452D4D6F2}"/>
              </a:ext>
            </a:extLst>
          </p:cNvPr>
          <p:cNvSpPr txBox="1"/>
          <p:nvPr/>
        </p:nvSpPr>
        <p:spPr>
          <a:xfrm>
            <a:off x="786284" y="450727"/>
            <a:ext cx="6094324" cy="4093428"/>
          </a:xfrm>
          <a:prstGeom prst="rect">
            <a:avLst/>
          </a:prstGeom>
          <a:noFill/>
        </p:spPr>
        <p:txBody>
          <a:bodyPr wrap="square">
            <a:spAutoFit/>
          </a:bodyPr>
          <a:lstStyle/>
          <a:p>
            <a:pPr>
              <a:buNone/>
            </a:pPr>
            <a:r>
              <a:rPr lang="en-NZ" sz="2800" b="1" dirty="0"/>
              <a:t>5. Inventory Turnover by Product Category (Column Chart)</a:t>
            </a:r>
          </a:p>
          <a:p>
            <a:pPr>
              <a:buNone/>
            </a:pPr>
            <a:endParaRPr lang="en-NZ" sz="2800" b="1" dirty="0"/>
          </a:p>
          <a:p>
            <a:pPr>
              <a:buNone/>
            </a:pPr>
            <a:r>
              <a:rPr lang="en-NZ" sz="2800" b="1" dirty="0"/>
              <a:t>Description:</a:t>
            </a:r>
          </a:p>
          <a:p>
            <a:pPr>
              <a:buNone/>
            </a:pPr>
            <a:endParaRPr lang="en-NZ" sz="2800" dirty="0"/>
          </a:p>
          <a:p>
            <a:pPr>
              <a:buNone/>
            </a:pPr>
            <a:r>
              <a:rPr lang="en-NZ" sz="2000" dirty="0"/>
              <a:t>This chart compares the average inventory turnover across different product categories. It highlights which categories have faster inventory movement and which products remain in storage for longer periods. The insights help businesses optimize stock levels, reduce holding costs, and improve inventory planning.</a:t>
            </a:r>
          </a:p>
        </p:txBody>
      </p:sp>
    </p:spTree>
    <p:extLst>
      <p:ext uri="{BB962C8B-B14F-4D97-AF65-F5344CB8AC3E}">
        <p14:creationId xmlns:p14="http://schemas.microsoft.com/office/powerpoint/2010/main" val="1046526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5061DE-C66B-6485-9A5E-89FED1832FCB}"/>
              </a:ext>
            </a:extLst>
          </p:cNvPr>
          <p:cNvSpPr txBox="1"/>
          <p:nvPr/>
        </p:nvSpPr>
        <p:spPr>
          <a:xfrm>
            <a:off x="1311853" y="657274"/>
            <a:ext cx="6094268" cy="3785652"/>
          </a:xfrm>
          <a:prstGeom prst="rect">
            <a:avLst/>
          </a:prstGeom>
          <a:noFill/>
        </p:spPr>
        <p:txBody>
          <a:bodyPr wrap="square">
            <a:spAutoFit/>
          </a:bodyPr>
          <a:lstStyle/>
          <a:p>
            <a:pPr>
              <a:buNone/>
            </a:pPr>
            <a:r>
              <a:rPr lang="en-NZ" sz="2800" b="1" dirty="0"/>
              <a:t>6. Transportation Cost by Supplier Country (Clustered Bar Chart)</a:t>
            </a:r>
          </a:p>
          <a:p>
            <a:pPr>
              <a:buNone/>
            </a:pPr>
            <a:endParaRPr lang="en-NZ" sz="2800" b="1" dirty="0"/>
          </a:p>
          <a:p>
            <a:pPr>
              <a:buNone/>
            </a:pPr>
            <a:r>
              <a:rPr lang="en-NZ" sz="2800" b="1" dirty="0"/>
              <a:t>Description:</a:t>
            </a:r>
          </a:p>
          <a:p>
            <a:pPr>
              <a:buNone/>
            </a:pPr>
            <a:endParaRPr lang="en-NZ" sz="2800" dirty="0"/>
          </a:p>
          <a:p>
            <a:pPr>
              <a:buNone/>
            </a:pPr>
            <a:r>
              <a:rPr lang="en-NZ" sz="2000" dirty="0"/>
              <a:t>This chart compares the total transportation cost across different supplier countries. It helps identify suppliers with higher logistics expenses and supports cost optimization and supplier performance analysis.</a:t>
            </a:r>
          </a:p>
        </p:txBody>
      </p:sp>
    </p:spTree>
    <p:extLst>
      <p:ext uri="{BB962C8B-B14F-4D97-AF65-F5344CB8AC3E}">
        <p14:creationId xmlns:p14="http://schemas.microsoft.com/office/powerpoint/2010/main" val="2373314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D7EE8F-6731-B97A-F39A-D33194B513CB}"/>
              </a:ext>
            </a:extLst>
          </p:cNvPr>
          <p:cNvSpPr txBox="1"/>
          <p:nvPr/>
        </p:nvSpPr>
        <p:spPr>
          <a:xfrm>
            <a:off x="844261" y="653856"/>
            <a:ext cx="6094268" cy="4524315"/>
          </a:xfrm>
          <a:prstGeom prst="rect">
            <a:avLst/>
          </a:prstGeom>
          <a:noFill/>
        </p:spPr>
        <p:txBody>
          <a:bodyPr wrap="square">
            <a:spAutoFit/>
          </a:bodyPr>
          <a:lstStyle/>
          <a:p>
            <a:pPr>
              <a:buNone/>
            </a:pPr>
            <a:r>
              <a:rPr lang="en-NZ" sz="2800" b="1" dirty="0"/>
              <a:t>7. Average Storage Cost by Product Category (Clustered Bar Chart)</a:t>
            </a:r>
          </a:p>
          <a:p>
            <a:pPr>
              <a:buNone/>
            </a:pPr>
            <a:endParaRPr lang="en-NZ" sz="2800" b="1" dirty="0"/>
          </a:p>
          <a:p>
            <a:pPr>
              <a:buNone/>
            </a:pPr>
            <a:r>
              <a:rPr lang="en-NZ" sz="2800" b="1" dirty="0"/>
              <a:t>Description:</a:t>
            </a:r>
          </a:p>
          <a:p>
            <a:pPr>
              <a:buNone/>
            </a:pPr>
            <a:endParaRPr lang="en-NZ" sz="2800" dirty="0"/>
          </a:p>
          <a:p>
            <a:pPr>
              <a:buNone/>
            </a:pPr>
            <a:r>
              <a:rPr lang="en-NZ" sz="2000" dirty="0"/>
              <a:t>This chart compares the average storage cost across different product categories. It helps identify products that require higher warehousing expenses and supports better inventory planning, warehouse utilization, and storage cost optimization.</a:t>
            </a:r>
          </a:p>
        </p:txBody>
      </p:sp>
    </p:spTree>
    <p:extLst>
      <p:ext uri="{BB962C8B-B14F-4D97-AF65-F5344CB8AC3E}">
        <p14:creationId xmlns:p14="http://schemas.microsoft.com/office/powerpoint/2010/main" val="3841855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3D0839-836E-440C-353B-D3580E7A2D62}"/>
              </a:ext>
            </a:extLst>
          </p:cNvPr>
          <p:cNvSpPr txBox="1"/>
          <p:nvPr/>
        </p:nvSpPr>
        <p:spPr>
          <a:xfrm>
            <a:off x="2122713" y="413210"/>
            <a:ext cx="7734719" cy="584775"/>
          </a:xfrm>
          <a:prstGeom prst="rect">
            <a:avLst/>
          </a:prstGeom>
          <a:noFill/>
        </p:spPr>
        <p:txBody>
          <a:bodyPr wrap="square">
            <a:spAutoFit/>
          </a:bodyPr>
          <a:lstStyle/>
          <a:p>
            <a:r>
              <a:rPr lang="en-NZ" sz="3200" dirty="0"/>
              <a:t>Page 3 – Customer &amp; Supplier Analysis</a:t>
            </a:r>
          </a:p>
        </p:txBody>
      </p:sp>
      <p:sp>
        <p:nvSpPr>
          <p:cNvPr id="5" name="TextBox 4">
            <a:extLst>
              <a:ext uri="{FF2B5EF4-FFF2-40B4-BE49-F238E27FC236}">
                <a16:creationId xmlns:a16="http://schemas.microsoft.com/office/drawing/2014/main" id="{9114299F-0BE5-EA93-F379-7E652AF4768F}"/>
              </a:ext>
            </a:extLst>
          </p:cNvPr>
          <p:cNvSpPr txBox="1"/>
          <p:nvPr/>
        </p:nvSpPr>
        <p:spPr>
          <a:xfrm>
            <a:off x="1087735" y="1857496"/>
            <a:ext cx="6094324" cy="3847207"/>
          </a:xfrm>
          <a:prstGeom prst="rect">
            <a:avLst/>
          </a:prstGeom>
          <a:noFill/>
        </p:spPr>
        <p:txBody>
          <a:bodyPr wrap="square">
            <a:spAutoFit/>
          </a:bodyPr>
          <a:lstStyle/>
          <a:p>
            <a:pPr>
              <a:buNone/>
            </a:pPr>
            <a:r>
              <a:rPr lang="en-NZ" sz="2800" b="1" dirty="0"/>
              <a:t>1 – Total Supplier Country (Card)</a:t>
            </a:r>
          </a:p>
          <a:p>
            <a:pPr>
              <a:buNone/>
            </a:pPr>
            <a:r>
              <a:rPr lang="en-NZ" sz="2800" b="1" dirty="0"/>
              <a:t>Description</a:t>
            </a:r>
          </a:p>
          <a:p>
            <a:pPr>
              <a:buNone/>
            </a:pPr>
            <a:endParaRPr lang="en-NZ" sz="2800" b="1" dirty="0"/>
          </a:p>
          <a:p>
            <a:pPr>
              <a:buNone/>
            </a:pPr>
            <a:r>
              <a:rPr lang="en-NZ" sz="2000" dirty="0"/>
              <a:t>This KPI displays the total number of supplier countries available in the dataset. It provides a quick overview of the supplier network and indicates that the organization sources products from multiple countries. A diversified supplier base helps improve supply chain stability, reduce dependency on a single supplier, and minimize supply risks.</a:t>
            </a:r>
          </a:p>
        </p:txBody>
      </p:sp>
    </p:spTree>
    <p:extLst>
      <p:ext uri="{BB962C8B-B14F-4D97-AF65-F5344CB8AC3E}">
        <p14:creationId xmlns:p14="http://schemas.microsoft.com/office/powerpoint/2010/main" val="796112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126ECD-01CF-FE61-81A8-BBB4507A1035}"/>
              </a:ext>
            </a:extLst>
          </p:cNvPr>
          <p:cNvSpPr txBox="1"/>
          <p:nvPr/>
        </p:nvSpPr>
        <p:spPr>
          <a:xfrm>
            <a:off x="977203" y="629420"/>
            <a:ext cx="6094324" cy="3539430"/>
          </a:xfrm>
          <a:prstGeom prst="rect">
            <a:avLst/>
          </a:prstGeom>
          <a:noFill/>
        </p:spPr>
        <p:txBody>
          <a:bodyPr wrap="square">
            <a:spAutoFit/>
          </a:bodyPr>
          <a:lstStyle/>
          <a:p>
            <a:pPr>
              <a:buNone/>
            </a:pPr>
            <a:r>
              <a:rPr lang="en-NZ" sz="2800" b="1" dirty="0"/>
              <a:t>2 – Total Customer Country (Card)</a:t>
            </a:r>
          </a:p>
          <a:p>
            <a:pPr>
              <a:buNone/>
            </a:pPr>
            <a:r>
              <a:rPr lang="en-NZ" sz="2800" b="1" dirty="0"/>
              <a:t>Description</a:t>
            </a:r>
          </a:p>
          <a:p>
            <a:pPr>
              <a:buNone/>
            </a:pPr>
            <a:endParaRPr lang="en-NZ" sz="2800" b="1" dirty="0"/>
          </a:p>
          <a:p>
            <a:pPr>
              <a:buNone/>
            </a:pPr>
            <a:r>
              <a:rPr lang="en-NZ" sz="2000" dirty="0"/>
              <a:t>This KPI shows the total number of customer countries served by the organization. It helps understand the geographical reach of the business and reflects the diversity of the customer base. Serving customers across multiple countries indicates broader market coverage and business expansion.</a:t>
            </a:r>
          </a:p>
        </p:txBody>
      </p:sp>
    </p:spTree>
    <p:extLst>
      <p:ext uri="{BB962C8B-B14F-4D97-AF65-F5344CB8AC3E}">
        <p14:creationId xmlns:p14="http://schemas.microsoft.com/office/powerpoint/2010/main" val="1964207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23D552-F1AB-0C14-A921-093919FC7F12}"/>
              </a:ext>
            </a:extLst>
          </p:cNvPr>
          <p:cNvSpPr txBox="1"/>
          <p:nvPr/>
        </p:nvSpPr>
        <p:spPr>
          <a:xfrm>
            <a:off x="1188218" y="754355"/>
            <a:ext cx="6094324" cy="3970318"/>
          </a:xfrm>
          <a:prstGeom prst="rect">
            <a:avLst/>
          </a:prstGeom>
          <a:noFill/>
        </p:spPr>
        <p:txBody>
          <a:bodyPr wrap="square">
            <a:spAutoFit/>
          </a:bodyPr>
          <a:lstStyle/>
          <a:p>
            <a:pPr>
              <a:buNone/>
            </a:pPr>
            <a:r>
              <a:rPr lang="en-NZ" sz="2800" b="1" dirty="0"/>
              <a:t>3 – Quantity by Customer Country (Clustered Column Chart)</a:t>
            </a:r>
          </a:p>
          <a:p>
            <a:pPr>
              <a:buNone/>
            </a:pPr>
            <a:r>
              <a:rPr lang="en-NZ" sz="2800" b="1" dirty="0"/>
              <a:t>Description</a:t>
            </a:r>
          </a:p>
          <a:p>
            <a:pPr>
              <a:buNone/>
            </a:pPr>
            <a:endParaRPr lang="en-NZ" sz="2800" b="1" dirty="0"/>
          </a:p>
          <a:p>
            <a:pPr>
              <a:buNone/>
            </a:pPr>
            <a:r>
              <a:rPr lang="en-NZ" sz="2000" dirty="0"/>
              <a:t>This chart compares the total quantity ordered by customers across different countries. It helps identify countries with the highest and lowest product demand. The visualization supports demand analysis, inventory planning, and market-focused business strategies by highlighting customer purchasing patterns.</a:t>
            </a:r>
          </a:p>
        </p:txBody>
      </p:sp>
    </p:spTree>
    <p:extLst>
      <p:ext uri="{BB962C8B-B14F-4D97-AF65-F5344CB8AC3E}">
        <p14:creationId xmlns:p14="http://schemas.microsoft.com/office/powerpoint/2010/main" val="3983506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BF338C-1D3B-7DF9-3F44-067B7D508B30}"/>
              </a:ext>
            </a:extLst>
          </p:cNvPr>
          <p:cNvSpPr txBox="1"/>
          <p:nvPr/>
        </p:nvSpPr>
        <p:spPr>
          <a:xfrm>
            <a:off x="856622" y="762226"/>
            <a:ext cx="6094324" cy="4401205"/>
          </a:xfrm>
          <a:prstGeom prst="rect">
            <a:avLst/>
          </a:prstGeom>
          <a:noFill/>
        </p:spPr>
        <p:txBody>
          <a:bodyPr wrap="square">
            <a:spAutoFit/>
          </a:bodyPr>
          <a:lstStyle/>
          <a:p>
            <a:pPr>
              <a:buNone/>
            </a:pPr>
            <a:r>
              <a:rPr lang="en-NZ" sz="2800" b="1" dirty="0"/>
              <a:t>4 – Average Delivery Days by Supplier Country (Clustered Bar Chart)</a:t>
            </a:r>
          </a:p>
          <a:p>
            <a:pPr>
              <a:buNone/>
            </a:pPr>
            <a:r>
              <a:rPr lang="en-NZ" sz="2800" b="1" dirty="0"/>
              <a:t>Description</a:t>
            </a:r>
          </a:p>
          <a:p>
            <a:pPr>
              <a:buNone/>
            </a:pPr>
            <a:endParaRPr lang="en-NZ" sz="2800" b="1" dirty="0"/>
          </a:p>
          <a:p>
            <a:pPr>
              <a:buNone/>
            </a:pPr>
            <a:r>
              <a:rPr lang="en-NZ" sz="2000" dirty="0"/>
              <a:t>This visualization compares the average delivery time of suppliers from different countries. It helps evaluate supplier performance by identifying suppliers with faster or slower deliveries. The insights support supplier evaluation, logistics planning, and overall improvement in delivery efficiency.</a:t>
            </a:r>
          </a:p>
        </p:txBody>
      </p:sp>
    </p:spTree>
    <p:extLst>
      <p:ext uri="{BB962C8B-B14F-4D97-AF65-F5344CB8AC3E}">
        <p14:creationId xmlns:p14="http://schemas.microsoft.com/office/powerpoint/2010/main" val="1106743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0FAB6-8132-D21C-7F94-F340D861DEAC}"/>
              </a:ext>
            </a:extLst>
          </p:cNvPr>
          <p:cNvSpPr txBox="1"/>
          <p:nvPr/>
        </p:nvSpPr>
        <p:spPr>
          <a:xfrm>
            <a:off x="766187" y="950967"/>
            <a:ext cx="6094324" cy="3970318"/>
          </a:xfrm>
          <a:prstGeom prst="rect">
            <a:avLst/>
          </a:prstGeom>
          <a:noFill/>
        </p:spPr>
        <p:txBody>
          <a:bodyPr wrap="square">
            <a:spAutoFit/>
          </a:bodyPr>
          <a:lstStyle/>
          <a:p>
            <a:pPr>
              <a:buNone/>
            </a:pPr>
            <a:r>
              <a:rPr lang="en-NZ" sz="2800" b="1" dirty="0"/>
              <a:t>5 – Orders by Season (Donut Chart)</a:t>
            </a:r>
          </a:p>
          <a:p>
            <a:pPr>
              <a:buNone/>
            </a:pPr>
            <a:r>
              <a:rPr lang="en-NZ" sz="2800" b="1" dirty="0"/>
              <a:t>Description</a:t>
            </a:r>
          </a:p>
          <a:p>
            <a:pPr>
              <a:buNone/>
            </a:pPr>
            <a:endParaRPr lang="en-NZ" sz="2800" b="1" dirty="0"/>
          </a:p>
          <a:p>
            <a:pPr>
              <a:buNone/>
            </a:pPr>
            <a:r>
              <a:rPr lang="en-NZ" sz="2000" dirty="0"/>
              <a:t>This donut chart displays the distribution of customer orders across different seasons. It helps identify seasonal demand patterns and shows whether customer orders remain consistent throughout the year. The visualization supports inventory planning and demand forecasting for different seasons.</a:t>
            </a:r>
          </a:p>
        </p:txBody>
      </p:sp>
    </p:spTree>
    <p:extLst>
      <p:ext uri="{BB962C8B-B14F-4D97-AF65-F5344CB8AC3E}">
        <p14:creationId xmlns:p14="http://schemas.microsoft.com/office/powerpoint/2010/main" val="114775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7A112C-8652-5891-9120-31BB695E4246}"/>
              </a:ext>
            </a:extLst>
          </p:cNvPr>
          <p:cNvSpPr txBox="1"/>
          <p:nvPr/>
        </p:nvSpPr>
        <p:spPr>
          <a:xfrm>
            <a:off x="1027444" y="940919"/>
            <a:ext cx="6094324" cy="3477875"/>
          </a:xfrm>
          <a:prstGeom prst="rect">
            <a:avLst/>
          </a:prstGeom>
          <a:noFill/>
        </p:spPr>
        <p:txBody>
          <a:bodyPr wrap="square">
            <a:spAutoFit/>
          </a:bodyPr>
          <a:lstStyle/>
          <a:p>
            <a:pPr>
              <a:buNone/>
            </a:pPr>
            <a:r>
              <a:rPr lang="en-NZ" sz="2800" b="1" dirty="0"/>
              <a:t>6 – Orders by Supplier Country (Clustered Bar Chart)</a:t>
            </a:r>
          </a:p>
          <a:p>
            <a:pPr>
              <a:buNone/>
            </a:pPr>
            <a:r>
              <a:rPr lang="en-NZ" sz="2800" b="1" dirty="0"/>
              <a:t>Description</a:t>
            </a:r>
          </a:p>
          <a:p>
            <a:pPr>
              <a:buNone/>
            </a:pPr>
            <a:endParaRPr lang="en-NZ" sz="2800" b="1" dirty="0"/>
          </a:p>
          <a:p>
            <a:pPr>
              <a:buNone/>
            </a:pPr>
            <a:r>
              <a:rPr lang="en-NZ" dirty="0"/>
              <a:t>This chart compares the total number of orders handled by each supplier country. It helps identify supplier countries that contribute the highest order volume. The analysis supports procurement planning, supplier performance evaluation, and better supplier relationship management.</a:t>
            </a:r>
          </a:p>
        </p:txBody>
      </p:sp>
    </p:spTree>
    <p:extLst>
      <p:ext uri="{BB962C8B-B14F-4D97-AF65-F5344CB8AC3E}">
        <p14:creationId xmlns:p14="http://schemas.microsoft.com/office/powerpoint/2010/main" val="1845898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9D0B6C-9B65-D040-FFA1-67E22B746151}"/>
              </a:ext>
            </a:extLst>
          </p:cNvPr>
          <p:cNvSpPr txBox="1"/>
          <p:nvPr/>
        </p:nvSpPr>
        <p:spPr>
          <a:xfrm>
            <a:off x="695849" y="923000"/>
            <a:ext cx="6094324" cy="3970318"/>
          </a:xfrm>
          <a:prstGeom prst="rect">
            <a:avLst/>
          </a:prstGeom>
          <a:noFill/>
        </p:spPr>
        <p:txBody>
          <a:bodyPr wrap="square">
            <a:spAutoFit/>
          </a:bodyPr>
          <a:lstStyle/>
          <a:p>
            <a:pPr>
              <a:buNone/>
            </a:pPr>
            <a:r>
              <a:rPr lang="en-NZ" sz="2800" b="1" dirty="0"/>
              <a:t>7 – Quantity by Transport Mode (Clustered Column Chart)</a:t>
            </a:r>
          </a:p>
          <a:p>
            <a:pPr>
              <a:buNone/>
            </a:pPr>
            <a:r>
              <a:rPr lang="en-NZ" sz="2800" b="1" dirty="0"/>
              <a:t>Description</a:t>
            </a:r>
          </a:p>
          <a:p>
            <a:pPr>
              <a:buNone/>
            </a:pPr>
            <a:endParaRPr lang="en-NZ" sz="2800" b="1" dirty="0"/>
          </a:p>
          <a:p>
            <a:pPr>
              <a:buNone/>
            </a:pPr>
            <a:r>
              <a:rPr lang="en-NZ" sz="2000" dirty="0"/>
              <a:t>This chart compares the total quantity transported through different transportation modes such as Sea, Road, Air, and Rail. It helps identify the most frequently used transportation method and supports logistics planning, transportation optimization, and efficient resource allocation.</a:t>
            </a:r>
          </a:p>
        </p:txBody>
      </p:sp>
    </p:spTree>
    <p:extLst>
      <p:ext uri="{BB962C8B-B14F-4D97-AF65-F5344CB8AC3E}">
        <p14:creationId xmlns:p14="http://schemas.microsoft.com/office/powerpoint/2010/main" val="223218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67CA4B-3EC4-18F0-FC19-68BDB4B672AE}"/>
              </a:ext>
            </a:extLst>
          </p:cNvPr>
          <p:cNvSpPr txBox="1"/>
          <p:nvPr/>
        </p:nvSpPr>
        <p:spPr>
          <a:xfrm>
            <a:off x="1529863" y="383064"/>
            <a:ext cx="8588828" cy="584775"/>
          </a:xfrm>
          <a:prstGeom prst="rect">
            <a:avLst/>
          </a:prstGeom>
          <a:noFill/>
        </p:spPr>
        <p:txBody>
          <a:bodyPr wrap="square">
            <a:spAutoFit/>
          </a:bodyPr>
          <a:lstStyle/>
          <a:p>
            <a:r>
              <a:rPr lang="en-NZ" sz="3200" dirty="0"/>
              <a:t>Page 4 – Delivery &amp; Transportation Analysis</a:t>
            </a:r>
          </a:p>
        </p:txBody>
      </p:sp>
      <p:sp>
        <p:nvSpPr>
          <p:cNvPr id="5" name="TextBox 4">
            <a:extLst>
              <a:ext uri="{FF2B5EF4-FFF2-40B4-BE49-F238E27FC236}">
                <a16:creationId xmlns:a16="http://schemas.microsoft.com/office/drawing/2014/main" id="{D916FFF7-C2B2-4C3D-8FD2-0EB8C8C376D2}"/>
              </a:ext>
            </a:extLst>
          </p:cNvPr>
          <p:cNvSpPr txBox="1"/>
          <p:nvPr/>
        </p:nvSpPr>
        <p:spPr>
          <a:xfrm>
            <a:off x="1439426" y="1907738"/>
            <a:ext cx="6094324" cy="3539430"/>
          </a:xfrm>
          <a:prstGeom prst="rect">
            <a:avLst/>
          </a:prstGeom>
          <a:noFill/>
        </p:spPr>
        <p:txBody>
          <a:bodyPr wrap="square">
            <a:spAutoFit/>
          </a:bodyPr>
          <a:lstStyle/>
          <a:p>
            <a:pPr>
              <a:buNone/>
            </a:pPr>
            <a:r>
              <a:rPr lang="en-NZ" sz="2800" b="1" dirty="0"/>
              <a:t>1 – Total Delayed Orders (Card)</a:t>
            </a:r>
          </a:p>
          <a:p>
            <a:pPr>
              <a:buNone/>
            </a:pPr>
            <a:r>
              <a:rPr lang="en-NZ" sz="2800" b="1" dirty="0"/>
              <a:t>Description</a:t>
            </a:r>
          </a:p>
          <a:p>
            <a:pPr>
              <a:buNone/>
            </a:pPr>
            <a:endParaRPr lang="en-NZ" sz="2800" b="1" dirty="0"/>
          </a:p>
          <a:p>
            <a:pPr>
              <a:buNone/>
            </a:pPr>
            <a:r>
              <a:rPr lang="en-NZ" sz="2000" dirty="0"/>
              <a:t>This KPI displays the total number of delayed orders in the supply chain. It helps monitor delivery performance and identify the extent of shipment delays. Tracking delayed orders enables businesses to improve transportation planning, reduce operational bottlenecks, and enhance customer satisfaction.</a:t>
            </a:r>
          </a:p>
        </p:txBody>
      </p:sp>
    </p:spTree>
    <p:extLst>
      <p:ext uri="{BB962C8B-B14F-4D97-AF65-F5344CB8AC3E}">
        <p14:creationId xmlns:p14="http://schemas.microsoft.com/office/powerpoint/2010/main" val="2011485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15AFBA-303B-AF83-705C-E82988A9F738}"/>
              </a:ext>
            </a:extLst>
          </p:cNvPr>
          <p:cNvSpPr txBox="1"/>
          <p:nvPr/>
        </p:nvSpPr>
        <p:spPr>
          <a:xfrm>
            <a:off x="1298750" y="1011257"/>
            <a:ext cx="6094324" cy="3231654"/>
          </a:xfrm>
          <a:prstGeom prst="rect">
            <a:avLst/>
          </a:prstGeom>
          <a:noFill/>
        </p:spPr>
        <p:txBody>
          <a:bodyPr wrap="square">
            <a:spAutoFit/>
          </a:bodyPr>
          <a:lstStyle/>
          <a:p>
            <a:pPr>
              <a:buNone/>
            </a:pPr>
            <a:r>
              <a:rPr lang="en-NZ" sz="2800" b="1" dirty="0"/>
              <a:t>2 – Total On-Time Orders (Card)</a:t>
            </a:r>
          </a:p>
          <a:p>
            <a:pPr>
              <a:buNone/>
            </a:pPr>
            <a:r>
              <a:rPr lang="en-NZ" sz="2800" b="1" dirty="0"/>
              <a:t>Description</a:t>
            </a:r>
          </a:p>
          <a:p>
            <a:pPr>
              <a:buNone/>
            </a:pPr>
            <a:endParaRPr lang="en-NZ" sz="2800" b="1" dirty="0"/>
          </a:p>
          <a:p>
            <a:pPr>
              <a:buNone/>
            </a:pPr>
            <a:r>
              <a:rPr lang="en-NZ" sz="2000" dirty="0"/>
              <a:t>This KPI shows the total number of customer orders delivered on time. It provides a quick overview of delivery reliability and service performance. A higher number of on-time deliveries reflects an efficient transportation process and improved customer experience.</a:t>
            </a:r>
          </a:p>
        </p:txBody>
      </p:sp>
    </p:spTree>
    <p:extLst>
      <p:ext uri="{BB962C8B-B14F-4D97-AF65-F5344CB8AC3E}">
        <p14:creationId xmlns:p14="http://schemas.microsoft.com/office/powerpoint/2010/main" val="838620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EB92EB-92F0-56BA-9462-F11C7D6BBB37}"/>
              </a:ext>
            </a:extLst>
          </p:cNvPr>
          <p:cNvSpPr txBox="1"/>
          <p:nvPr/>
        </p:nvSpPr>
        <p:spPr>
          <a:xfrm>
            <a:off x="1047542" y="860531"/>
            <a:ext cx="6094324" cy="3231654"/>
          </a:xfrm>
          <a:prstGeom prst="rect">
            <a:avLst/>
          </a:prstGeom>
          <a:noFill/>
        </p:spPr>
        <p:txBody>
          <a:bodyPr wrap="square">
            <a:spAutoFit/>
          </a:bodyPr>
          <a:lstStyle/>
          <a:p>
            <a:pPr>
              <a:buNone/>
            </a:pPr>
            <a:r>
              <a:rPr lang="en-NZ" sz="2800" b="1" dirty="0"/>
              <a:t>3 – Average Transport Days (Card)</a:t>
            </a:r>
          </a:p>
          <a:p>
            <a:pPr>
              <a:buNone/>
            </a:pPr>
            <a:r>
              <a:rPr lang="en-NZ" sz="2800" b="1" dirty="0"/>
              <a:t>Description</a:t>
            </a:r>
          </a:p>
          <a:p>
            <a:pPr>
              <a:buNone/>
            </a:pPr>
            <a:endParaRPr lang="en-NZ" sz="2800" b="1" dirty="0"/>
          </a:p>
          <a:p>
            <a:pPr>
              <a:buNone/>
            </a:pPr>
            <a:r>
              <a:rPr lang="en-NZ" sz="2000" dirty="0"/>
              <a:t>This KPI represents the average number of days required to transport goods from suppliers to customers. It helps evaluate transportation efficiency and overall logistics performance. Lower transport days indicate a faster and more responsive supply chain.</a:t>
            </a:r>
          </a:p>
        </p:txBody>
      </p:sp>
    </p:spTree>
    <p:extLst>
      <p:ext uri="{BB962C8B-B14F-4D97-AF65-F5344CB8AC3E}">
        <p14:creationId xmlns:p14="http://schemas.microsoft.com/office/powerpoint/2010/main" val="25183134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AE78B-7F05-DC52-1DFA-7DB5025A1BF3}"/>
              </a:ext>
            </a:extLst>
          </p:cNvPr>
          <p:cNvSpPr txBox="1"/>
          <p:nvPr/>
        </p:nvSpPr>
        <p:spPr>
          <a:xfrm>
            <a:off x="916912" y="709807"/>
            <a:ext cx="6094324" cy="3662541"/>
          </a:xfrm>
          <a:prstGeom prst="rect">
            <a:avLst/>
          </a:prstGeom>
          <a:noFill/>
        </p:spPr>
        <p:txBody>
          <a:bodyPr wrap="square">
            <a:spAutoFit/>
          </a:bodyPr>
          <a:lstStyle/>
          <a:p>
            <a:pPr>
              <a:buNone/>
            </a:pPr>
            <a:r>
              <a:rPr lang="en-NZ" sz="2800" b="1" dirty="0"/>
              <a:t>4 – Orders by Transport Mode (Donut Chart)</a:t>
            </a:r>
          </a:p>
          <a:p>
            <a:pPr>
              <a:buNone/>
            </a:pPr>
            <a:r>
              <a:rPr lang="en-NZ" sz="2800" b="1" dirty="0"/>
              <a:t>Description</a:t>
            </a:r>
          </a:p>
          <a:p>
            <a:pPr>
              <a:buNone/>
            </a:pPr>
            <a:endParaRPr lang="en-NZ" sz="2800" b="1" dirty="0"/>
          </a:p>
          <a:p>
            <a:pPr>
              <a:buNone/>
            </a:pPr>
            <a:r>
              <a:rPr lang="en-NZ" sz="2000" dirty="0"/>
              <a:t>This donut chart illustrates the distribution of customer orders across different transportation modes such as Sea, Road, Air, and Rail. It helps identify the most frequently used transportation method and supports better logistics planning and transportation resource allocation.</a:t>
            </a:r>
          </a:p>
        </p:txBody>
      </p:sp>
    </p:spTree>
    <p:extLst>
      <p:ext uri="{BB962C8B-B14F-4D97-AF65-F5344CB8AC3E}">
        <p14:creationId xmlns:p14="http://schemas.microsoft.com/office/powerpoint/2010/main" val="1199011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F8F2D3-7B6C-FDCA-A048-F026DC1F68A7}"/>
              </a:ext>
            </a:extLst>
          </p:cNvPr>
          <p:cNvSpPr txBox="1"/>
          <p:nvPr/>
        </p:nvSpPr>
        <p:spPr>
          <a:xfrm>
            <a:off x="715945" y="659565"/>
            <a:ext cx="6094324" cy="3970318"/>
          </a:xfrm>
          <a:prstGeom prst="rect">
            <a:avLst/>
          </a:prstGeom>
          <a:noFill/>
        </p:spPr>
        <p:txBody>
          <a:bodyPr wrap="square">
            <a:spAutoFit/>
          </a:bodyPr>
          <a:lstStyle/>
          <a:p>
            <a:pPr>
              <a:buNone/>
            </a:pPr>
            <a:r>
              <a:rPr lang="en-NZ" sz="2800" b="1" dirty="0"/>
              <a:t>5 – Delivery Days by Season (Clustered Bar Chart)</a:t>
            </a:r>
          </a:p>
          <a:p>
            <a:pPr>
              <a:buNone/>
            </a:pPr>
            <a:r>
              <a:rPr lang="en-NZ" sz="2800" b="1" dirty="0"/>
              <a:t>Description</a:t>
            </a:r>
          </a:p>
          <a:p>
            <a:pPr>
              <a:buNone/>
            </a:pPr>
            <a:endParaRPr lang="en-NZ" sz="2800" b="1" dirty="0"/>
          </a:p>
          <a:p>
            <a:pPr>
              <a:buNone/>
            </a:pPr>
            <a:r>
              <a:rPr lang="en-NZ" sz="2000" dirty="0"/>
              <a:t>This chart compares the average delivery days across different seasons. It helps identify whether seasonal conditions affect delivery performance. The visualization supports demand planning, logistics scheduling, and efficient supply chain operations throughout the year.</a:t>
            </a:r>
          </a:p>
        </p:txBody>
      </p:sp>
    </p:spTree>
    <p:extLst>
      <p:ext uri="{BB962C8B-B14F-4D97-AF65-F5344CB8AC3E}">
        <p14:creationId xmlns:p14="http://schemas.microsoft.com/office/powerpoint/2010/main" val="1486906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8F2EAE-DCEE-F19E-957A-61DAC23875EA}"/>
              </a:ext>
            </a:extLst>
          </p:cNvPr>
          <p:cNvSpPr txBox="1"/>
          <p:nvPr/>
        </p:nvSpPr>
        <p:spPr>
          <a:xfrm>
            <a:off x="1087734" y="774452"/>
            <a:ext cx="7141866" cy="4093428"/>
          </a:xfrm>
          <a:prstGeom prst="rect">
            <a:avLst/>
          </a:prstGeom>
          <a:noFill/>
        </p:spPr>
        <p:txBody>
          <a:bodyPr wrap="square">
            <a:spAutoFit/>
          </a:bodyPr>
          <a:lstStyle/>
          <a:p>
            <a:pPr>
              <a:buNone/>
            </a:pPr>
            <a:r>
              <a:rPr lang="en-NZ" sz="2800" b="1" dirty="0"/>
              <a:t>6 – Delay Days by Product Category (Clustered Column Chart)</a:t>
            </a:r>
          </a:p>
          <a:p>
            <a:pPr>
              <a:buNone/>
            </a:pPr>
            <a:endParaRPr lang="en-NZ" sz="2800" b="1" dirty="0"/>
          </a:p>
          <a:p>
            <a:pPr>
              <a:buNone/>
            </a:pPr>
            <a:r>
              <a:rPr lang="en-NZ" sz="2800" b="1" dirty="0"/>
              <a:t>Description</a:t>
            </a:r>
          </a:p>
          <a:p>
            <a:pPr>
              <a:buNone/>
            </a:pPr>
            <a:endParaRPr lang="en-NZ" sz="2800" b="1" dirty="0"/>
          </a:p>
          <a:p>
            <a:pPr>
              <a:buNone/>
            </a:pPr>
            <a:r>
              <a:rPr lang="en-NZ" sz="2000" dirty="0"/>
              <a:t>This chart compares the average delay days for different product categories. It highlights products that experience longer delivery delays and helps businesses identify operational challenges. The insights support inventory planning, transportation improvements, and product-specific performance analysis.</a:t>
            </a:r>
          </a:p>
        </p:txBody>
      </p:sp>
    </p:spTree>
    <p:extLst>
      <p:ext uri="{BB962C8B-B14F-4D97-AF65-F5344CB8AC3E}">
        <p14:creationId xmlns:p14="http://schemas.microsoft.com/office/powerpoint/2010/main" val="1093821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1DBBAB-7BCC-9956-0BE0-7BFEAB017AAB}"/>
              </a:ext>
            </a:extLst>
          </p:cNvPr>
          <p:cNvSpPr txBox="1"/>
          <p:nvPr/>
        </p:nvSpPr>
        <p:spPr>
          <a:xfrm>
            <a:off x="987251" y="732082"/>
            <a:ext cx="6094324" cy="4401205"/>
          </a:xfrm>
          <a:prstGeom prst="rect">
            <a:avLst/>
          </a:prstGeom>
          <a:noFill/>
        </p:spPr>
        <p:txBody>
          <a:bodyPr wrap="square">
            <a:spAutoFit/>
          </a:bodyPr>
          <a:lstStyle/>
          <a:p>
            <a:pPr>
              <a:buNone/>
            </a:pPr>
            <a:r>
              <a:rPr lang="en-NZ" sz="2800" b="1" dirty="0"/>
              <a:t>7 – Transport Days by Mode (Clustered Column Chart)</a:t>
            </a:r>
          </a:p>
          <a:p>
            <a:pPr>
              <a:buNone/>
            </a:pPr>
            <a:endParaRPr lang="en-NZ" sz="2800" b="1" dirty="0"/>
          </a:p>
          <a:p>
            <a:pPr>
              <a:buNone/>
            </a:pPr>
            <a:r>
              <a:rPr lang="en-NZ" sz="2800" b="1" dirty="0"/>
              <a:t>Description</a:t>
            </a:r>
          </a:p>
          <a:p>
            <a:pPr>
              <a:buNone/>
            </a:pPr>
            <a:endParaRPr lang="en-NZ" sz="2800" b="1" dirty="0"/>
          </a:p>
          <a:p>
            <a:pPr>
              <a:buNone/>
            </a:pPr>
            <a:r>
              <a:rPr lang="en-NZ" sz="2000" dirty="0"/>
              <a:t>This visualization compares the average transportation days for each transport mode. It helps evaluate the speed and efficiency of different transportation methods. Businesses can use these insights to select suitable transport options based on delivery time and operational requirements.</a:t>
            </a:r>
          </a:p>
        </p:txBody>
      </p:sp>
    </p:spTree>
    <p:extLst>
      <p:ext uri="{BB962C8B-B14F-4D97-AF65-F5344CB8AC3E}">
        <p14:creationId xmlns:p14="http://schemas.microsoft.com/office/powerpoint/2010/main" val="18603550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DC7F83-D5AE-6960-0713-FD0B2ACE334E}"/>
              </a:ext>
            </a:extLst>
          </p:cNvPr>
          <p:cNvSpPr txBox="1"/>
          <p:nvPr/>
        </p:nvSpPr>
        <p:spPr>
          <a:xfrm>
            <a:off x="856621" y="242389"/>
            <a:ext cx="9483133" cy="584775"/>
          </a:xfrm>
          <a:prstGeom prst="rect">
            <a:avLst/>
          </a:prstGeom>
          <a:noFill/>
        </p:spPr>
        <p:txBody>
          <a:bodyPr wrap="square">
            <a:spAutoFit/>
          </a:bodyPr>
          <a:lstStyle/>
          <a:p>
            <a:r>
              <a:rPr lang="en-NZ" sz="3200" dirty="0"/>
              <a:t>Page 5 – Operational Performance Dashboard</a:t>
            </a:r>
          </a:p>
        </p:txBody>
      </p:sp>
      <p:sp>
        <p:nvSpPr>
          <p:cNvPr id="5" name="TextBox 4">
            <a:extLst>
              <a:ext uri="{FF2B5EF4-FFF2-40B4-BE49-F238E27FC236}">
                <a16:creationId xmlns:a16="http://schemas.microsoft.com/office/drawing/2014/main" id="{CD86DE1D-B6C1-C784-4BCA-9E3B147B6831}"/>
              </a:ext>
            </a:extLst>
          </p:cNvPr>
          <p:cNvSpPr txBox="1"/>
          <p:nvPr/>
        </p:nvSpPr>
        <p:spPr>
          <a:xfrm>
            <a:off x="856621" y="1805077"/>
            <a:ext cx="6094324" cy="3816429"/>
          </a:xfrm>
          <a:prstGeom prst="rect">
            <a:avLst/>
          </a:prstGeom>
          <a:noFill/>
        </p:spPr>
        <p:txBody>
          <a:bodyPr wrap="square">
            <a:spAutoFit/>
          </a:bodyPr>
          <a:lstStyle/>
          <a:p>
            <a:pPr>
              <a:buNone/>
            </a:pPr>
            <a:r>
              <a:rPr lang="en-NZ" sz="2800" b="1" dirty="0"/>
              <a:t>1 – Total Quantity Order (Card)</a:t>
            </a:r>
          </a:p>
          <a:p>
            <a:pPr>
              <a:buNone/>
            </a:pPr>
            <a:endParaRPr lang="en-NZ" sz="2800" b="1" dirty="0"/>
          </a:p>
          <a:p>
            <a:pPr>
              <a:buNone/>
            </a:pPr>
            <a:r>
              <a:rPr lang="en-NZ" sz="2800" b="1" dirty="0"/>
              <a:t>Description</a:t>
            </a:r>
          </a:p>
          <a:p>
            <a:pPr>
              <a:buNone/>
            </a:pPr>
            <a:endParaRPr lang="en-NZ" b="1" dirty="0"/>
          </a:p>
          <a:p>
            <a:pPr>
              <a:buNone/>
            </a:pPr>
            <a:r>
              <a:rPr lang="en-NZ" sz="2000" dirty="0"/>
              <a:t>This KPI displays the total quantity of products ordered across all customer orders. It provides an overview of the overall shipment volume handled by the supply chain. Monitoring total order quantity helps businesses understand operational workload, demand levels, and overall business performance.</a:t>
            </a:r>
          </a:p>
        </p:txBody>
      </p:sp>
    </p:spTree>
    <p:extLst>
      <p:ext uri="{BB962C8B-B14F-4D97-AF65-F5344CB8AC3E}">
        <p14:creationId xmlns:p14="http://schemas.microsoft.com/office/powerpoint/2010/main" val="9750280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56838-8870-072C-F178-BE5C5E684309}"/>
              </a:ext>
            </a:extLst>
          </p:cNvPr>
          <p:cNvSpPr txBox="1"/>
          <p:nvPr/>
        </p:nvSpPr>
        <p:spPr>
          <a:xfrm>
            <a:off x="997300" y="669613"/>
            <a:ext cx="6094324" cy="4247317"/>
          </a:xfrm>
          <a:prstGeom prst="rect">
            <a:avLst/>
          </a:prstGeom>
          <a:noFill/>
        </p:spPr>
        <p:txBody>
          <a:bodyPr wrap="square">
            <a:spAutoFit/>
          </a:bodyPr>
          <a:lstStyle/>
          <a:p>
            <a:pPr>
              <a:buNone/>
            </a:pPr>
            <a:r>
              <a:rPr lang="en-NZ" sz="2800" b="1" dirty="0"/>
              <a:t>2 – Average Order Processing Days (Card)</a:t>
            </a:r>
          </a:p>
          <a:p>
            <a:pPr>
              <a:buNone/>
            </a:pPr>
            <a:endParaRPr lang="en-NZ" sz="2800" b="1" dirty="0"/>
          </a:p>
          <a:p>
            <a:pPr>
              <a:buNone/>
            </a:pPr>
            <a:r>
              <a:rPr lang="en-NZ" sz="2800" b="1" dirty="0"/>
              <a:t>Description</a:t>
            </a:r>
          </a:p>
          <a:p>
            <a:pPr>
              <a:buNone/>
            </a:pPr>
            <a:endParaRPr lang="en-NZ" b="1" dirty="0"/>
          </a:p>
          <a:p>
            <a:pPr>
              <a:buNone/>
            </a:pPr>
            <a:r>
              <a:rPr lang="en-NZ" sz="2000" dirty="0"/>
              <a:t>This KPI shows the average number of days required to process customer orders before shipment. It helps evaluate the efficiency of the order processing system. Lower processing time indicates better operational performance, faster order </a:t>
            </a:r>
            <a:r>
              <a:rPr lang="en-NZ" sz="2000" dirty="0" err="1"/>
              <a:t>fulfillment</a:t>
            </a:r>
            <a:r>
              <a:rPr lang="en-NZ" sz="2000" dirty="0"/>
              <a:t>, and improved customer satisfaction.</a:t>
            </a:r>
          </a:p>
        </p:txBody>
      </p:sp>
    </p:spTree>
    <p:extLst>
      <p:ext uri="{BB962C8B-B14F-4D97-AF65-F5344CB8AC3E}">
        <p14:creationId xmlns:p14="http://schemas.microsoft.com/office/powerpoint/2010/main" val="16488430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A3FC6D-0725-63A3-0CBC-5BD31B05A5E6}"/>
              </a:ext>
            </a:extLst>
          </p:cNvPr>
          <p:cNvSpPr txBox="1"/>
          <p:nvPr/>
        </p:nvSpPr>
        <p:spPr>
          <a:xfrm>
            <a:off x="685800" y="1001209"/>
            <a:ext cx="6094324" cy="3970318"/>
          </a:xfrm>
          <a:prstGeom prst="rect">
            <a:avLst/>
          </a:prstGeom>
          <a:noFill/>
        </p:spPr>
        <p:txBody>
          <a:bodyPr wrap="square">
            <a:spAutoFit/>
          </a:bodyPr>
          <a:lstStyle/>
          <a:p>
            <a:pPr>
              <a:buNone/>
            </a:pPr>
            <a:r>
              <a:rPr lang="en-NZ" sz="2800" b="1" dirty="0"/>
              <a:t>3 – Total Delay Days (Card)</a:t>
            </a:r>
          </a:p>
          <a:p>
            <a:pPr>
              <a:buNone/>
            </a:pPr>
            <a:endParaRPr lang="en-NZ" sz="2800" b="1" dirty="0"/>
          </a:p>
          <a:p>
            <a:pPr>
              <a:buNone/>
            </a:pPr>
            <a:r>
              <a:rPr lang="en-NZ" sz="2800" b="1" dirty="0"/>
              <a:t>Description</a:t>
            </a:r>
          </a:p>
          <a:p>
            <a:pPr>
              <a:buNone/>
            </a:pPr>
            <a:endParaRPr lang="en-NZ" sz="2800" b="1" dirty="0"/>
          </a:p>
          <a:p>
            <a:pPr>
              <a:buNone/>
            </a:pPr>
            <a:r>
              <a:rPr lang="en-NZ" sz="2000" dirty="0"/>
              <a:t>This KPI represents the total number of delay days recorded across all delayed orders. It provides a clear view of the overall impact of delivery delays on supply chain operations. Monitoring this metric helps organizations identify operational inefficiencies and improve delivery performance</a:t>
            </a:r>
          </a:p>
        </p:txBody>
      </p:sp>
    </p:spTree>
    <p:extLst>
      <p:ext uri="{BB962C8B-B14F-4D97-AF65-F5344CB8AC3E}">
        <p14:creationId xmlns:p14="http://schemas.microsoft.com/office/powerpoint/2010/main" val="13083959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874E98-803A-FC0B-1EC8-30AB3A4ECA5C}"/>
              </a:ext>
            </a:extLst>
          </p:cNvPr>
          <p:cNvSpPr txBox="1"/>
          <p:nvPr/>
        </p:nvSpPr>
        <p:spPr>
          <a:xfrm>
            <a:off x="776235" y="659565"/>
            <a:ext cx="8367764" cy="3354765"/>
          </a:xfrm>
          <a:prstGeom prst="rect">
            <a:avLst/>
          </a:prstGeom>
          <a:noFill/>
        </p:spPr>
        <p:txBody>
          <a:bodyPr wrap="square">
            <a:spAutoFit/>
          </a:bodyPr>
          <a:lstStyle/>
          <a:p>
            <a:pPr>
              <a:buNone/>
            </a:pPr>
            <a:r>
              <a:rPr lang="en-NZ" sz="2800" b="1" dirty="0"/>
              <a:t>4 – Transportation Cost by Season (Area Chart)</a:t>
            </a:r>
          </a:p>
          <a:p>
            <a:pPr>
              <a:buNone/>
            </a:pPr>
            <a:endParaRPr lang="en-NZ" sz="2800" b="1" dirty="0"/>
          </a:p>
          <a:p>
            <a:pPr>
              <a:buNone/>
            </a:pPr>
            <a:r>
              <a:rPr lang="en-NZ" sz="2800" b="1" dirty="0"/>
              <a:t>Description</a:t>
            </a:r>
          </a:p>
          <a:p>
            <a:pPr>
              <a:buNone/>
            </a:pPr>
            <a:endParaRPr lang="en-NZ" sz="2800" b="1" dirty="0"/>
          </a:p>
          <a:p>
            <a:pPr>
              <a:buNone/>
            </a:pPr>
            <a:r>
              <a:rPr lang="en-NZ" sz="2000" dirty="0"/>
              <a:t>This area chart compares the total transportation cost across different seasons. It helps identify seasonal variations in logistics expenses and highlights the periods with higher transportation costs. The insights support better budgeting, transportation planning, and cost optimization throughout the year.</a:t>
            </a:r>
          </a:p>
        </p:txBody>
      </p:sp>
    </p:spTree>
    <p:extLst>
      <p:ext uri="{BB962C8B-B14F-4D97-AF65-F5344CB8AC3E}">
        <p14:creationId xmlns:p14="http://schemas.microsoft.com/office/powerpoint/2010/main" val="19518111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7FA2B4-16BD-7AC0-23A2-2DF95EA2CD5D}"/>
              </a:ext>
            </a:extLst>
          </p:cNvPr>
          <p:cNvSpPr txBox="1"/>
          <p:nvPr/>
        </p:nvSpPr>
        <p:spPr>
          <a:xfrm>
            <a:off x="615461" y="621550"/>
            <a:ext cx="8618973" cy="3354765"/>
          </a:xfrm>
          <a:prstGeom prst="rect">
            <a:avLst/>
          </a:prstGeom>
          <a:noFill/>
        </p:spPr>
        <p:txBody>
          <a:bodyPr wrap="square">
            <a:spAutoFit/>
          </a:bodyPr>
          <a:lstStyle/>
          <a:p>
            <a:pPr>
              <a:buNone/>
            </a:pPr>
            <a:r>
              <a:rPr lang="en-NZ" sz="2800" b="1" dirty="0"/>
              <a:t>5 – Quantity by Supplier Country (Funnel Chart)</a:t>
            </a:r>
          </a:p>
          <a:p>
            <a:pPr>
              <a:buNone/>
            </a:pPr>
            <a:endParaRPr lang="en-NZ" sz="2800" b="1" dirty="0"/>
          </a:p>
          <a:p>
            <a:pPr>
              <a:buNone/>
            </a:pPr>
            <a:r>
              <a:rPr lang="en-NZ" sz="2800" b="1" dirty="0"/>
              <a:t>Description</a:t>
            </a:r>
          </a:p>
          <a:p>
            <a:pPr>
              <a:buNone/>
            </a:pPr>
            <a:endParaRPr lang="en-NZ" sz="2800" b="1" dirty="0"/>
          </a:p>
          <a:p>
            <a:pPr>
              <a:buNone/>
            </a:pPr>
            <a:r>
              <a:rPr lang="en-NZ" sz="2000" dirty="0"/>
              <a:t>This visualization compares the total quantity supplied by each supplier country. It helps identify the countries contributing the highest shipment volume and provides insights into supplier performance. The chart supports procurement planning and helps businesses maintain a balanced supplier network.</a:t>
            </a:r>
          </a:p>
        </p:txBody>
      </p:sp>
    </p:spTree>
    <p:extLst>
      <p:ext uri="{BB962C8B-B14F-4D97-AF65-F5344CB8AC3E}">
        <p14:creationId xmlns:p14="http://schemas.microsoft.com/office/powerpoint/2010/main" val="13473059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7FE94-62A5-D97A-4EC9-7F2F81D7E39B}"/>
              </a:ext>
            </a:extLst>
          </p:cNvPr>
          <p:cNvSpPr txBox="1"/>
          <p:nvPr/>
        </p:nvSpPr>
        <p:spPr>
          <a:xfrm>
            <a:off x="685801" y="412711"/>
            <a:ext cx="6094324" cy="4985980"/>
          </a:xfrm>
          <a:prstGeom prst="rect">
            <a:avLst/>
          </a:prstGeom>
          <a:noFill/>
        </p:spPr>
        <p:txBody>
          <a:bodyPr wrap="square">
            <a:spAutoFit/>
          </a:bodyPr>
          <a:lstStyle/>
          <a:p>
            <a:pPr>
              <a:buNone/>
            </a:pPr>
            <a:r>
              <a:rPr lang="en-NZ" sz="2800" b="1" dirty="0"/>
              <a:t>6 – Order Processing Days by Product Category (Clustered Bar Chart)</a:t>
            </a:r>
          </a:p>
          <a:p>
            <a:pPr>
              <a:buNone/>
            </a:pPr>
            <a:endParaRPr lang="en-NZ" sz="2800" b="1" dirty="0"/>
          </a:p>
          <a:p>
            <a:pPr>
              <a:buNone/>
            </a:pPr>
            <a:r>
              <a:rPr lang="en-NZ" sz="2800" b="1" dirty="0"/>
              <a:t>Description</a:t>
            </a:r>
          </a:p>
          <a:p>
            <a:pPr>
              <a:buNone/>
            </a:pPr>
            <a:endParaRPr lang="en-NZ" b="1" dirty="0"/>
          </a:p>
          <a:p>
            <a:pPr>
              <a:buNone/>
            </a:pPr>
            <a:r>
              <a:rPr lang="en-NZ" sz="2000" dirty="0"/>
              <a:t>This chart compares the average order processing time across different product categories. It helps identify products that require more processing time before shipment. The analysis supports process improvement, resource allocation, and operational efficiency by highlighting category-wise processing performance.</a:t>
            </a:r>
          </a:p>
        </p:txBody>
      </p:sp>
    </p:spTree>
    <p:extLst>
      <p:ext uri="{BB962C8B-B14F-4D97-AF65-F5344CB8AC3E}">
        <p14:creationId xmlns:p14="http://schemas.microsoft.com/office/powerpoint/2010/main" val="13370656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040552-0E4F-33AB-5211-E28AB96B4CA5}"/>
              </a:ext>
            </a:extLst>
          </p:cNvPr>
          <p:cNvSpPr txBox="1"/>
          <p:nvPr/>
        </p:nvSpPr>
        <p:spPr>
          <a:xfrm>
            <a:off x="1057589" y="991160"/>
            <a:ext cx="6094324" cy="4247317"/>
          </a:xfrm>
          <a:prstGeom prst="rect">
            <a:avLst/>
          </a:prstGeom>
          <a:noFill/>
        </p:spPr>
        <p:txBody>
          <a:bodyPr wrap="square">
            <a:spAutoFit/>
          </a:bodyPr>
          <a:lstStyle/>
          <a:p>
            <a:pPr>
              <a:buNone/>
            </a:pPr>
            <a:r>
              <a:rPr lang="en-NZ" sz="2800" b="1" dirty="0"/>
              <a:t>7 – Quantity by Season (Area Chart)</a:t>
            </a:r>
          </a:p>
          <a:p>
            <a:pPr>
              <a:buNone/>
            </a:pPr>
            <a:endParaRPr lang="en-NZ" sz="2800" b="1" dirty="0"/>
          </a:p>
          <a:p>
            <a:pPr>
              <a:buNone/>
            </a:pPr>
            <a:r>
              <a:rPr lang="en-NZ" sz="2800" b="1" dirty="0"/>
              <a:t>Description</a:t>
            </a:r>
          </a:p>
          <a:p>
            <a:pPr>
              <a:buNone/>
            </a:pPr>
            <a:endParaRPr lang="en-NZ" b="1" dirty="0"/>
          </a:p>
          <a:p>
            <a:pPr>
              <a:buNone/>
            </a:pPr>
            <a:r>
              <a:rPr lang="en-NZ" sz="2000" dirty="0"/>
              <a:t>This area chart displays the total quantity of products ordered during different seasons. It helps identify seasonal demand trends and shows how order volume changes throughout the year. These insights support demand forecasting, inventory planning, and production scheduling.</a:t>
            </a:r>
          </a:p>
        </p:txBody>
      </p:sp>
    </p:spTree>
    <p:extLst>
      <p:ext uri="{BB962C8B-B14F-4D97-AF65-F5344CB8AC3E}">
        <p14:creationId xmlns:p14="http://schemas.microsoft.com/office/powerpoint/2010/main" val="3891185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B0170E-B518-7BAB-571C-884803C47105}"/>
              </a:ext>
            </a:extLst>
          </p:cNvPr>
          <p:cNvSpPr txBox="1"/>
          <p:nvPr/>
        </p:nvSpPr>
        <p:spPr>
          <a:xfrm>
            <a:off x="846573" y="413210"/>
            <a:ext cx="8840037" cy="584775"/>
          </a:xfrm>
          <a:prstGeom prst="rect">
            <a:avLst/>
          </a:prstGeom>
          <a:noFill/>
        </p:spPr>
        <p:txBody>
          <a:bodyPr wrap="square">
            <a:spAutoFit/>
          </a:bodyPr>
          <a:lstStyle/>
          <a:p>
            <a:r>
              <a:rPr lang="en-NZ" sz="3200" dirty="0">
                <a:latin typeface="Times New Roman" panose="02020603050405020304" pitchFamily="18" charset="0"/>
                <a:cs typeface="Times New Roman" panose="02020603050405020304" pitchFamily="18" charset="0"/>
              </a:rPr>
              <a:t>Page 6 - Supply Chain Risk &amp; Service Quality</a:t>
            </a:r>
          </a:p>
        </p:txBody>
      </p:sp>
      <p:sp>
        <p:nvSpPr>
          <p:cNvPr id="5" name="TextBox 4">
            <a:extLst>
              <a:ext uri="{FF2B5EF4-FFF2-40B4-BE49-F238E27FC236}">
                <a16:creationId xmlns:a16="http://schemas.microsoft.com/office/drawing/2014/main" id="{0A12A8C7-715C-D192-F3AC-6E25F37121B1}"/>
              </a:ext>
            </a:extLst>
          </p:cNvPr>
          <p:cNvSpPr txBox="1"/>
          <p:nvPr/>
        </p:nvSpPr>
        <p:spPr>
          <a:xfrm>
            <a:off x="846573" y="1767006"/>
            <a:ext cx="6639447" cy="3323987"/>
          </a:xfrm>
          <a:prstGeom prst="rect">
            <a:avLst/>
          </a:prstGeom>
          <a:noFill/>
        </p:spPr>
        <p:txBody>
          <a:bodyPr wrap="square">
            <a:spAutoFit/>
          </a:bodyPr>
          <a:lstStyle/>
          <a:p>
            <a:pPr>
              <a:buNone/>
            </a:pPr>
            <a:r>
              <a:rPr lang="en-NZ" sz="2800" b="1" dirty="0"/>
              <a:t>1- Average Transportation Distance</a:t>
            </a:r>
          </a:p>
          <a:p>
            <a:pPr>
              <a:buNone/>
            </a:pPr>
            <a:endParaRPr lang="en-NZ" sz="2800" b="1" dirty="0"/>
          </a:p>
          <a:p>
            <a:pPr>
              <a:buNone/>
            </a:pPr>
            <a:r>
              <a:rPr lang="en-NZ" sz="2800" b="1" dirty="0"/>
              <a:t>Description</a:t>
            </a:r>
          </a:p>
          <a:p>
            <a:pPr>
              <a:buNone/>
            </a:pPr>
            <a:br>
              <a:rPr lang="en-NZ" dirty="0"/>
            </a:br>
            <a:r>
              <a:rPr lang="en-NZ" dirty="0"/>
              <a:t>This KPI shows the average distance covered for transportation, which is </a:t>
            </a:r>
            <a:r>
              <a:rPr lang="en-NZ" b="1" dirty="0"/>
              <a:t>7.72K km</a:t>
            </a:r>
            <a:r>
              <a:rPr lang="en-NZ" dirty="0"/>
              <a:t>. It helps understand the overall transportation scale and the distance involved in supply chain operations. This insight can support better route planning, delivery planning, and transportation cost management.</a:t>
            </a:r>
          </a:p>
        </p:txBody>
      </p:sp>
    </p:spTree>
    <p:extLst>
      <p:ext uri="{BB962C8B-B14F-4D97-AF65-F5344CB8AC3E}">
        <p14:creationId xmlns:p14="http://schemas.microsoft.com/office/powerpoint/2010/main" val="15104149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62ED8D-3673-1371-42B0-8743EDCD6488}"/>
              </a:ext>
            </a:extLst>
          </p:cNvPr>
          <p:cNvSpPr txBox="1"/>
          <p:nvPr/>
        </p:nvSpPr>
        <p:spPr>
          <a:xfrm>
            <a:off x="967154" y="788016"/>
            <a:ext cx="6094324" cy="3046988"/>
          </a:xfrm>
          <a:prstGeom prst="rect">
            <a:avLst/>
          </a:prstGeom>
          <a:noFill/>
        </p:spPr>
        <p:txBody>
          <a:bodyPr wrap="square">
            <a:spAutoFit/>
          </a:bodyPr>
          <a:lstStyle/>
          <a:p>
            <a:pPr>
              <a:buNone/>
            </a:pPr>
            <a:r>
              <a:rPr lang="en-NZ" sz="2800" b="1" dirty="0"/>
              <a:t>2 – Average Quantity per Order</a:t>
            </a:r>
          </a:p>
          <a:p>
            <a:pPr>
              <a:buNone/>
            </a:pPr>
            <a:endParaRPr lang="en-NZ" sz="2800" b="1" dirty="0"/>
          </a:p>
          <a:p>
            <a:pPr>
              <a:buNone/>
            </a:pPr>
            <a:r>
              <a:rPr lang="en-NZ" sz="2800" b="1" dirty="0"/>
              <a:t>Description</a:t>
            </a:r>
          </a:p>
          <a:p>
            <a:pPr>
              <a:buNone/>
            </a:pPr>
            <a:br>
              <a:rPr lang="en-NZ" dirty="0"/>
            </a:br>
            <a:r>
              <a:rPr lang="en-NZ" dirty="0"/>
              <a:t>This KPI shows that the average quantity per order is </a:t>
            </a:r>
            <a:r>
              <a:rPr lang="en-NZ" b="1" dirty="0"/>
              <a:t>492.88 units</a:t>
            </a:r>
            <a:r>
              <a:rPr lang="en-NZ" dirty="0"/>
              <a:t>. It helps understand the typical order size handled by the supply chain. This information can support inventory planning, transportation capacity planning, and efficient order </a:t>
            </a:r>
            <a:r>
              <a:rPr lang="en-NZ" dirty="0" err="1"/>
              <a:t>fulfillment</a:t>
            </a:r>
            <a:r>
              <a:rPr lang="en-NZ" dirty="0"/>
              <a:t>.</a:t>
            </a:r>
          </a:p>
        </p:txBody>
      </p:sp>
    </p:spTree>
    <p:extLst>
      <p:ext uri="{BB962C8B-B14F-4D97-AF65-F5344CB8AC3E}">
        <p14:creationId xmlns:p14="http://schemas.microsoft.com/office/powerpoint/2010/main" val="24392496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7A983F-5A9F-1573-B64C-ABC6F139108C}"/>
              </a:ext>
            </a:extLst>
          </p:cNvPr>
          <p:cNvSpPr txBox="1"/>
          <p:nvPr/>
        </p:nvSpPr>
        <p:spPr>
          <a:xfrm>
            <a:off x="977202" y="667436"/>
            <a:ext cx="6094324" cy="3046988"/>
          </a:xfrm>
          <a:prstGeom prst="rect">
            <a:avLst/>
          </a:prstGeom>
          <a:noFill/>
        </p:spPr>
        <p:txBody>
          <a:bodyPr wrap="square">
            <a:spAutoFit/>
          </a:bodyPr>
          <a:lstStyle/>
          <a:p>
            <a:pPr>
              <a:buNone/>
            </a:pPr>
            <a:r>
              <a:rPr lang="en-NZ" sz="2800" b="1" dirty="0"/>
              <a:t>3 – Average Delay Days</a:t>
            </a:r>
          </a:p>
          <a:p>
            <a:pPr>
              <a:buNone/>
            </a:pPr>
            <a:endParaRPr lang="en-NZ" sz="2800" b="1" dirty="0"/>
          </a:p>
          <a:p>
            <a:pPr>
              <a:buNone/>
            </a:pPr>
            <a:r>
              <a:rPr lang="en-NZ" sz="2800" b="1" dirty="0"/>
              <a:t>Description</a:t>
            </a:r>
          </a:p>
          <a:p>
            <a:pPr>
              <a:buNone/>
            </a:pPr>
            <a:br>
              <a:rPr lang="en-NZ" dirty="0"/>
            </a:br>
            <a:r>
              <a:rPr lang="en-NZ" dirty="0"/>
              <a:t>This KPI shows an average delay of </a:t>
            </a:r>
            <a:r>
              <a:rPr lang="en-NZ" b="1" dirty="0"/>
              <a:t>1.10 days</a:t>
            </a:r>
            <a:r>
              <a:rPr lang="en-NZ" dirty="0"/>
              <a:t>. It provides a quick view of delivery delay performance across the supply chain. Monitoring this value can help identify delivery problems and support actions to improve overall delivery reliability.</a:t>
            </a:r>
          </a:p>
        </p:txBody>
      </p:sp>
    </p:spTree>
    <p:extLst>
      <p:ext uri="{BB962C8B-B14F-4D97-AF65-F5344CB8AC3E}">
        <p14:creationId xmlns:p14="http://schemas.microsoft.com/office/powerpoint/2010/main" val="19453188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A8D4F2-0CCF-3023-EC92-DC061BE1CC92}"/>
              </a:ext>
            </a:extLst>
          </p:cNvPr>
          <p:cNvSpPr txBox="1"/>
          <p:nvPr/>
        </p:nvSpPr>
        <p:spPr>
          <a:xfrm>
            <a:off x="615461" y="478694"/>
            <a:ext cx="7704573" cy="3046988"/>
          </a:xfrm>
          <a:prstGeom prst="rect">
            <a:avLst/>
          </a:prstGeom>
          <a:noFill/>
        </p:spPr>
        <p:txBody>
          <a:bodyPr wrap="square">
            <a:spAutoFit/>
          </a:bodyPr>
          <a:lstStyle/>
          <a:p>
            <a:pPr>
              <a:buNone/>
            </a:pPr>
            <a:r>
              <a:rPr lang="en-NZ" sz="2800" b="1" dirty="0"/>
              <a:t>4 – Delivery Reliability by Transport Mode</a:t>
            </a:r>
          </a:p>
          <a:p>
            <a:pPr>
              <a:buNone/>
            </a:pPr>
            <a:endParaRPr lang="en-NZ" sz="2800" b="1" dirty="0"/>
          </a:p>
          <a:p>
            <a:pPr>
              <a:buNone/>
            </a:pPr>
            <a:r>
              <a:rPr lang="en-NZ" sz="2800" b="1" dirty="0"/>
              <a:t>Description</a:t>
            </a:r>
          </a:p>
          <a:p>
            <a:pPr>
              <a:buNone/>
            </a:pPr>
            <a:br>
              <a:rPr lang="en-NZ" dirty="0"/>
            </a:br>
            <a:r>
              <a:rPr lang="en-NZ" dirty="0"/>
              <a:t>This chart compares delayed and non-delayed orders across different transport modes. Sea transport has the highest number of orders, while road, air, and rail have lower volumes. The chart helps identify which transportation modes have more delayed orders and supports better transport planning.</a:t>
            </a:r>
          </a:p>
        </p:txBody>
      </p:sp>
    </p:spTree>
    <p:extLst>
      <p:ext uri="{BB962C8B-B14F-4D97-AF65-F5344CB8AC3E}">
        <p14:creationId xmlns:p14="http://schemas.microsoft.com/office/powerpoint/2010/main" val="102221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D6904F-AAAE-8663-2BC7-BAB53E2A6B5E}"/>
              </a:ext>
            </a:extLst>
          </p:cNvPr>
          <p:cNvSpPr txBox="1"/>
          <p:nvPr/>
        </p:nvSpPr>
        <p:spPr>
          <a:xfrm>
            <a:off x="535074" y="659011"/>
            <a:ext cx="8166797" cy="2769989"/>
          </a:xfrm>
          <a:prstGeom prst="rect">
            <a:avLst/>
          </a:prstGeom>
          <a:noFill/>
        </p:spPr>
        <p:txBody>
          <a:bodyPr wrap="square">
            <a:spAutoFit/>
          </a:bodyPr>
          <a:lstStyle/>
          <a:p>
            <a:pPr>
              <a:buNone/>
            </a:pPr>
            <a:r>
              <a:rPr lang="en-NZ" sz="2800" b="1" dirty="0"/>
              <a:t>5 – Average Fill Rate by Transport Mode</a:t>
            </a:r>
          </a:p>
          <a:p>
            <a:pPr>
              <a:buNone/>
            </a:pPr>
            <a:endParaRPr lang="en-NZ" sz="2800" b="1" dirty="0"/>
          </a:p>
          <a:p>
            <a:pPr>
              <a:buNone/>
            </a:pPr>
            <a:r>
              <a:rPr lang="en-NZ" sz="2800" b="1" dirty="0"/>
              <a:t>Description</a:t>
            </a:r>
          </a:p>
          <a:p>
            <a:pPr>
              <a:buNone/>
            </a:pPr>
            <a:br>
              <a:rPr lang="en-NZ" dirty="0"/>
            </a:br>
            <a:r>
              <a:rPr lang="en-NZ" dirty="0"/>
              <a:t>This chart compares the average fill rate across different transport modes. The fill rate remains around </a:t>
            </a:r>
            <a:r>
              <a:rPr lang="en-NZ" b="1" dirty="0"/>
              <a:t>93–94%</a:t>
            </a:r>
            <a:r>
              <a:rPr lang="en-NZ" dirty="0"/>
              <a:t>, showing generally good order </a:t>
            </a:r>
            <a:r>
              <a:rPr lang="en-NZ" dirty="0" err="1"/>
              <a:t>fulfillment</a:t>
            </a:r>
            <a:r>
              <a:rPr lang="en-NZ" dirty="0"/>
              <a:t> performance. This insight helps monitor service quality and identify opportunities to maintain or improve product availability.</a:t>
            </a:r>
          </a:p>
        </p:txBody>
      </p:sp>
    </p:spTree>
    <p:extLst>
      <p:ext uri="{BB962C8B-B14F-4D97-AF65-F5344CB8AC3E}">
        <p14:creationId xmlns:p14="http://schemas.microsoft.com/office/powerpoint/2010/main" val="6441445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6D445E-A3E7-C647-4711-C0799F490386}"/>
              </a:ext>
            </a:extLst>
          </p:cNvPr>
          <p:cNvSpPr txBox="1"/>
          <p:nvPr/>
        </p:nvSpPr>
        <p:spPr>
          <a:xfrm>
            <a:off x="635559" y="888500"/>
            <a:ext cx="7885444" cy="2769989"/>
          </a:xfrm>
          <a:prstGeom prst="rect">
            <a:avLst/>
          </a:prstGeom>
          <a:noFill/>
        </p:spPr>
        <p:txBody>
          <a:bodyPr wrap="square">
            <a:spAutoFit/>
          </a:bodyPr>
          <a:lstStyle/>
          <a:p>
            <a:pPr>
              <a:buNone/>
            </a:pPr>
            <a:r>
              <a:rPr lang="en-NZ" sz="2800" b="1" dirty="0"/>
              <a:t>6 – Total Delay Days by Supplier Country</a:t>
            </a:r>
          </a:p>
          <a:p>
            <a:pPr>
              <a:buNone/>
            </a:pPr>
            <a:endParaRPr lang="en-NZ" sz="2800" b="1" dirty="0"/>
          </a:p>
          <a:p>
            <a:pPr>
              <a:buNone/>
            </a:pPr>
            <a:r>
              <a:rPr lang="en-NZ" sz="2800" b="1" dirty="0"/>
              <a:t>Description</a:t>
            </a:r>
          </a:p>
          <a:p>
            <a:pPr>
              <a:buNone/>
            </a:pPr>
            <a:br>
              <a:rPr lang="en-NZ" dirty="0"/>
            </a:br>
            <a:r>
              <a:rPr lang="en-NZ" dirty="0"/>
              <a:t>This chart compares total delay days across supplier countries. The </a:t>
            </a:r>
            <a:r>
              <a:rPr lang="en-NZ" b="1" dirty="0"/>
              <a:t>USA has the highest total delay days at 328</a:t>
            </a:r>
            <a:r>
              <a:rPr lang="en-NZ" dirty="0"/>
              <a:t>, while Brazil has the lowest at 218. This analysis helps identify supplier locations that may require better coordination and improved delivery planning.</a:t>
            </a:r>
          </a:p>
        </p:txBody>
      </p:sp>
    </p:spTree>
    <p:extLst>
      <p:ext uri="{BB962C8B-B14F-4D97-AF65-F5344CB8AC3E}">
        <p14:creationId xmlns:p14="http://schemas.microsoft.com/office/powerpoint/2010/main" val="1261279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A64E10-CAFD-49BE-43EB-BF6B31E8681B}"/>
              </a:ext>
            </a:extLst>
          </p:cNvPr>
          <p:cNvSpPr txBox="1"/>
          <p:nvPr/>
        </p:nvSpPr>
        <p:spPr>
          <a:xfrm>
            <a:off x="856623" y="1131837"/>
            <a:ext cx="7965830" cy="3046988"/>
          </a:xfrm>
          <a:prstGeom prst="rect">
            <a:avLst/>
          </a:prstGeom>
          <a:noFill/>
        </p:spPr>
        <p:txBody>
          <a:bodyPr wrap="square">
            <a:spAutoFit/>
          </a:bodyPr>
          <a:lstStyle/>
          <a:p>
            <a:pPr>
              <a:buNone/>
            </a:pPr>
            <a:r>
              <a:rPr lang="en-NZ" sz="2800" b="1" dirty="0"/>
              <a:t>7 – Stockout Analysis by Product Category</a:t>
            </a:r>
          </a:p>
          <a:p>
            <a:pPr>
              <a:buNone/>
            </a:pPr>
            <a:endParaRPr lang="en-NZ" sz="2800" b="1" dirty="0"/>
          </a:p>
          <a:p>
            <a:pPr>
              <a:buNone/>
            </a:pPr>
            <a:r>
              <a:rPr lang="en-NZ" sz="2800" b="1" dirty="0"/>
              <a:t>Description</a:t>
            </a:r>
          </a:p>
          <a:p>
            <a:pPr>
              <a:buNone/>
            </a:pPr>
            <a:br>
              <a:rPr lang="en-NZ" dirty="0"/>
            </a:br>
            <a:r>
              <a:rPr lang="en-NZ" dirty="0"/>
              <a:t>This chart compares stockout and non-stockout orders across product categories. It helps identify categories where inventory shortages may occur more frequently. The analysis can support better inventory planning, replenishment decisions, and stock availability management.</a:t>
            </a:r>
          </a:p>
        </p:txBody>
      </p:sp>
    </p:spTree>
    <p:extLst>
      <p:ext uri="{BB962C8B-B14F-4D97-AF65-F5344CB8AC3E}">
        <p14:creationId xmlns:p14="http://schemas.microsoft.com/office/powerpoint/2010/main" val="1103270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E7AC4F-A6F0-3B45-5D85-38223F24F266}"/>
              </a:ext>
            </a:extLst>
          </p:cNvPr>
          <p:cNvSpPr txBox="1"/>
          <p:nvPr/>
        </p:nvSpPr>
        <p:spPr>
          <a:xfrm>
            <a:off x="474786" y="322775"/>
            <a:ext cx="8257232" cy="584775"/>
          </a:xfrm>
          <a:prstGeom prst="rect">
            <a:avLst/>
          </a:prstGeom>
          <a:noFill/>
        </p:spPr>
        <p:txBody>
          <a:bodyPr wrap="square">
            <a:spAutoFit/>
          </a:bodyPr>
          <a:lstStyle/>
          <a:p>
            <a:r>
              <a:rPr lang="en-NZ" sz="3200" dirty="0">
                <a:latin typeface="Times New Roman" panose="02020603050405020304" pitchFamily="18" charset="0"/>
                <a:cs typeface="Times New Roman" panose="02020603050405020304" pitchFamily="18" charset="0"/>
              </a:rPr>
              <a:t>Page 7  - Cost, Distance &amp; Inventory Efficiency</a:t>
            </a:r>
          </a:p>
        </p:txBody>
      </p:sp>
      <p:sp>
        <p:nvSpPr>
          <p:cNvPr id="5" name="TextBox 4">
            <a:extLst>
              <a:ext uri="{FF2B5EF4-FFF2-40B4-BE49-F238E27FC236}">
                <a16:creationId xmlns:a16="http://schemas.microsoft.com/office/drawing/2014/main" id="{0ADED6F2-47BD-1A5E-D28F-3038ABF94949}"/>
              </a:ext>
            </a:extLst>
          </p:cNvPr>
          <p:cNvSpPr txBox="1"/>
          <p:nvPr/>
        </p:nvSpPr>
        <p:spPr>
          <a:xfrm>
            <a:off x="474786" y="1802900"/>
            <a:ext cx="7192107" cy="2492990"/>
          </a:xfrm>
          <a:prstGeom prst="rect">
            <a:avLst/>
          </a:prstGeom>
          <a:noFill/>
        </p:spPr>
        <p:txBody>
          <a:bodyPr wrap="square">
            <a:spAutoFit/>
          </a:bodyPr>
          <a:lstStyle/>
          <a:p>
            <a:pPr>
              <a:buNone/>
            </a:pPr>
            <a:r>
              <a:rPr lang="en-NZ" sz="2800" b="1" dirty="0"/>
              <a:t>1 – Maximum Delivery Days</a:t>
            </a:r>
          </a:p>
          <a:p>
            <a:pPr>
              <a:buNone/>
            </a:pPr>
            <a:endParaRPr lang="en-NZ" sz="2800" b="1" dirty="0"/>
          </a:p>
          <a:p>
            <a:pPr>
              <a:buNone/>
            </a:pPr>
            <a:r>
              <a:rPr lang="en-NZ" sz="2800" b="1" dirty="0"/>
              <a:t>Description</a:t>
            </a:r>
            <a:br>
              <a:rPr lang="en-NZ" dirty="0"/>
            </a:br>
            <a:r>
              <a:rPr lang="en-NZ" dirty="0"/>
              <a:t>This KPI shows a maximum delivery time of </a:t>
            </a:r>
            <a:r>
              <a:rPr lang="en-NZ" b="1" dirty="0"/>
              <a:t>74 days</a:t>
            </a:r>
            <a:r>
              <a:rPr lang="en-NZ" dirty="0"/>
              <a:t>. It highlights that some orders require significantly more time to reach their destination. Monitoring long delivery times can help identify inefficient routes and improve overall delivery planning.</a:t>
            </a:r>
          </a:p>
        </p:txBody>
      </p:sp>
    </p:spTree>
    <p:extLst>
      <p:ext uri="{BB962C8B-B14F-4D97-AF65-F5344CB8AC3E}">
        <p14:creationId xmlns:p14="http://schemas.microsoft.com/office/powerpoint/2010/main" val="39915882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BBE78F-545D-AA3A-17CC-32293E0236B2}"/>
              </a:ext>
            </a:extLst>
          </p:cNvPr>
          <p:cNvSpPr txBox="1"/>
          <p:nvPr/>
        </p:nvSpPr>
        <p:spPr>
          <a:xfrm>
            <a:off x="746090" y="808113"/>
            <a:ext cx="7835202" cy="2769989"/>
          </a:xfrm>
          <a:prstGeom prst="rect">
            <a:avLst/>
          </a:prstGeom>
          <a:noFill/>
        </p:spPr>
        <p:txBody>
          <a:bodyPr wrap="square">
            <a:spAutoFit/>
          </a:bodyPr>
          <a:lstStyle/>
          <a:p>
            <a:pPr>
              <a:buNone/>
            </a:pPr>
            <a:r>
              <a:rPr lang="en-NZ" sz="2800" b="1" dirty="0"/>
              <a:t>2 – Average Transport Cost per Order</a:t>
            </a:r>
          </a:p>
          <a:p>
            <a:pPr>
              <a:buNone/>
            </a:pPr>
            <a:endParaRPr lang="en-NZ" sz="2800" b="1" dirty="0"/>
          </a:p>
          <a:p>
            <a:pPr>
              <a:buNone/>
            </a:pPr>
            <a:r>
              <a:rPr lang="en-NZ" sz="2800" b="1" dirty="0"/>
              <a:t>Description</a:t>
            </a:r>
          </a:p>
          <a:p>
            <a:pPr>
              <a:buNone/>
            </a:pPr>
            <a:br>
              <a:rPr lang="en-NZ" dirty="0"/>
            </a:br>
            <a:r>
              <a:rPr lang="en-NZ" dirty="0"/>
              <a:t>This KPI shows an average transportation cost of </a:t>
            </a:r>
            <a:r>
              <a:rPr lang="en-NZ" b="1" dirty="0"/>
              <a:t>8.60K per order</a:t>
            </a:r>
            <a:r>
              <a:rPr lang="en-NZ" dirty="0"/>
              <a:t>. It helps understand the average logistics expense associated with each order. This information can support transportation cost control and help identify opportunities for cost optimization.</a:t>
            </a:r>
          </a:p>
        </p:txBody>
      </p:sp>
    </p:spTree>
    <p:extLst>
      <p:ext uri="{BB962C8B-B14F-4D97-AF65-F5344CB8AC3E}">
        <p14:creationId xmlns:p14="http://schemas.microsoft.com/office/powerpoint/2010/main" val="14168803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216F96-100F-33B5-A6DA-B89EE7699FEA}"/>
              </a:ext>
            </a:extLst>
          </p:cNvPr>
          <p:cNvSpPr txBox="1"/>
          <p:nvPr/>
        </p:nvSpPr>
        <p:spPr>
          <a:xfrm>
            <a:off x="856623" y="750000"/>
            <a:ext cx="6094324" cy="3323987"/>
          </a:xfrm>
          <a:prstGeom prst="rect">
            <a:avLst/>
          </a:prstGeom>
          <a:noFill/>
        </p:spPr>
        <p:txBody>
          <a:bodyPr wrap="square">
            <a:spAutoFit/>
          </a:bodyPr>
          <a:lstStyle/>
          <a:p>
            <a:pPr>
              <a:buNone/>
            </a:pPr>
            <a:r>
              <a:rPr lang="en-NZ" sz="2800" b="1" dirty="0"/>
              <a:t>3 – Orders by Season</a:t>
            </a:r>
          </a:p>
          <a:p>
            <a:pPr>
              <a:buNone/>
            </a:pPr>
            <a:endParaRPr lang="en-NZ" sz="2800" b="1" dirty="0"/>
          </a:p>
          <a:p>
            <a:pPr>
              <a:buNone/>
            </a:pPr>
            <a:r>
              <a:rPr lang="en-NZ" sz="2800" b="1" dirty="0"/>
              <a:t>Description</a:t>
            </a:r>
          </a:p>
          <a:p>
            <a:pPr>
              <a:buNone/>
            </a:pPr>
            <a:br>
              <a:rPr lang="en-NZ" dirty="0"/>
            </a:br>
            <a:r>
              <a:rPr lang="en-NZ" dirty="0"/>
              <a:t>This chart compares the number of orders across different seasons. </a:t>
            </a:r>
            <a:r>
              <a:rPr lang="en-NZ" b="1" dirty="0"/>
              <a:t>Summer has the highest number of orders with 531</a:t>
            </a:r>
            <a:r>
              <a:rPr lang="en-NZ" dirty="0"/>
              <a:t>, followed by winter with 500, spring with 489, and autumn with 480. These seasonal trends can help in planning inventory and transportation capacity.</a:t>
            </a:r>
          </a:p>
        </p:txBody>
      </p:sp>
    </p:spTree>
    <p:extLst>
      <p:ext uri="{BB962C8B-B14F-4D97-AF65-F5344CB8AC3E}">
        <p14:creationId xmlns:p14="http://schemas.microsoft.com/office/powerpoint/2010/main" val="11088724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0164C2-6F93-2DD6-42C8-22C7F9107522}"/>
              </a:ext>
            </a:extLst>
          </p:cNvPr>
          <p:cNvSpPr txBox="1"/>
          <p:nvPr/>
        </p:nvSpPr>
        <p:spPr>
          <a:xfrm>
            <a:off x="776234" y="757872"/>
            <a:ext cx="7764863" cy="2769989"/>
          </a:xfrm>
          <a:prstGeom prst="rect">
            <a:avLst/>
          </a:prstGeom>
          <a:noFill/>
        </p:spPr>
        <p:txBody>
          <a:bodyPr wrap="square">
            <a:spAutoFit/>
          </a:bodyPr>
          <a:lstStyle/>
          <a:p>
            <a:pPr>
              <a:buNone/>
            </a:pPr>
            <a:r>
              <a:rPr lang="en-NZ" sz="2800" b="1" dirty="0"/>
              <a:t>4 – Average Inventory Turnover by Season</a:t>
            </a:r>
          </a:p>
          <a:p>
            <a:pPr>
              <a:buNone/>
            </a:pPr>
            <a:endParaRPr lang="en-NZ" sz="2800" b="1" dirty="0"/>
          </a:p>
          <a:p>
            <a:pPr>
              <a:buNone/>
            </a:pPr>
            <a:r>
              <a:rPr lang="en-NZ" sz="2800" b="1" dirty="0"/>
              <a:t>Description</a:t>
            </a:r>
          </a:p>
          <a:p>
            <a:pPr>
              <a:buNone/>
            </a:pPr>
            <a:br>
              <a:rPr lang="en-NZ" dirty="0"/>
            </a:br>
            <a:r>
              <a:rPr lang="en-NZ" dirty="0"/>
              <a:t>This chart shows inventory turnover across different seasons. The highest turnover is seen in </a:t>
            </a:r>
            <a:r>
              <a:rPr lang="en-NZ" b="1" dirty="0"/>
              <a:t>winter at 8.21</a:t>
            </a:r>
            <a:r>
              <a:rPr lang="en-NZ" dirty="0"/>
              <a:t>, while spring has the lowest at </a:t>
            </a:r>
            <a:r>
              <a:rPr lang="en-NZ" b="1" dirty="0"/>
              <a:t>8.00</a:t>
            </a:r>
            <a:r>
              <a:rPr lang="en-NZ" dirty="0"/>
              <a:t>. The results show relatively stable inventory movement and can support better seasonal inventory planning.</a:t>
            </a:r>
          </a:p>
        </p:txBody>
      </p:sp>
    </p:spTree>
    <p:extLst>
      <p:ext uri="{BB962C8B-B14F-4D97-AF65-F5344CB8AC3E}">
        <p14:creationId xmlns:p14="http://schemas.microsoft.com/office/powerpoint/2010/main" val="38853029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383D7E-426C-6C3A-D708-357B6FC28B4E}"/>
              </a:ext>
            </a:extLst>
          </p:cNvPr>
          <p:cNvSpPr txBox="1"/>
          <p:nvPr/>
        </p:nvSpPr>
        <p:spPr>
          <a:xfrm>
            <a:off x="525027" y="1063677"/>
            <a:ext cx="8709408" cy="3200876"/>
          </a:xfrm>
          <a:prstGeom prst="rect">
            <a:avLst/>
          </a:prstGeom>
          <a:noFill/>
        </p:spPr>
        <p:txBody>
          <a:bodyPr wrap="square">
            <a:spAutoFit/>
          </a:bodyPr>
          <a:lstStyle/>
          <a:p>
            <a:pPr>
              <a:buNone/>
            </a:pPr>
            <a:r>
              <a:rPr lang="en-NZ" sz="2800" b="1" dirty="0"/>
              <a:t>5 – Transportation Cost by Product Category and Transport Mode</a:t>
            </a:r>
          </a:p>
          <a:p>
            <a:pPr>
              <a:buNone/>
            </a:pPr>
            <a:endParaRPr lang="en-NZ" sz="2800" b="1" dirty="0"/>
          </a:p>
          <a:p>
            <a:pPr>
              <a:buNone/>
            </a:pPr>
            <a:r>
              <a:rPr lang="en-NZ" sz="2800" b="1" dirty="0"/>
              <a:t>Description</a:t>
            </a:r>
          </a:p>
          <a:p>
            <a:pPr>
              <a:buNone/>
            </a:pPr>
            <a:br>
              <a:rPr lang="en-NZ" dirty="0"/>
            </a:br>
            <a:r>
              <a:rPr lang="en-NZ" dirty="0"/>
              <a:t>This chart compares transportation costs across product categories and transport modes. It helps understand how transportation expenses vary based on the type of product and mode used. These insights can support better transport mode selection and cost optimization.</a:t>
            </a:r>
          </a:p>
        </p:txBody>
      </p:sp>
    </p:spTree>
    <p:extLst>
      <p:ext uri="{BB962C8B-B14F-4D97-AF65-F5344CB8AC3E}">
        <p14:creationId xmlns:p14="http://schemas.microsoft.com/office/powerpoint/2010/main" val="3730943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434F7-411E-F216-1A21-E2BE90A8E141}"/>
              </a:ext>
            </a:extLst>
          </p:cNvPr>
          <p:cNvSpPr txBox="1"/>
          <p:nvPr/>
        </p:nvSpPr>
        <p:spPr>
          <a:xfrm>
            <a:off x="856622" y="770097"/>
            <a:ext cx="7694525" cy="3046988"/>
          </a:xfrm>
          <a:prstGeom prst="rect">
            <a:avLst/>
          </a:prstGeom>
          <a:noFill/>
        </p:spPr>
        <p:txBody>
          <a:bodyPr wrap="square">
            <a:spAutoFit/>
          </a:bodyPr>
          <a:lstStyle/>
          <a:p>
            <a:pPr>
              <a:buNone/>
            </a:pPr>
            <a:r>
              <a:rPr lang="en-NZ" sz="2800" b="1" dirty="0"/>
              <a:t>6 – Delivery Time Composition</a:t>
            </a:r>
          </a:p>
          <a:p>
            <a:pPr>
              <a:buNone/>
            </a:pPr>
            <a:endParaRPr lang="en-NZ" sz="2800" b="1" dirty="0"/>
          </a:p>
          <a:p>
            <a:pPr>
              <a:buNone/>
            </a:pPr>
            <a:r>
              <a:rPr lang="en-NZ" sz="2800" b="1" dirty="0"/>
              <a:t>Description</a:t>
            </a:r>
          </a:p>
          <a:p>
            <a:pPr>
              <a:buNone/>
            </a:pPr>
            <a:br>
              <a:rPr lang="en-NZ" dirty="0"/>
            </a:br>
            <a:r>
              <a:rPr lang="en-NZ" dirty="0"/>
              <a:t>This chart shows the contribution of different transport modes to the overall transportation time. Sea, rail, road, and air transport together contribute to the total delivery time. It helps identify which modes have a greater impact on transportation duration and where delivery time can be improved.</a:t>
            </a:r>
          </a:p>
        </p:txBody>
      </p:sp>
    </p:spTree>
    <p:extLst>
      <p:ext uri="{BB962C8B-B14F-4D97-AF65-F5344CB8AC3E}">
        <p14:creationId xmlns:p14="http://schemas.microsoft.com/office/powerpoint/2010/main" val="2398262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BB32F6-54D3-2D91-6A13-5BF4FA2F613A}"/>
              </a:ext>
            </a:extLst>
          </p:cNvPr>
          <p:cNvSpPr txBox="1"/>
          <p:nvPr/>
        </p:nvSpPr>
        <p:spPr>
          <a:xfrm>
            <a:off x="896815" y="860532"/>
            <a:ext cx="7583993" cy="3046988"/>
          </a:xfrm>
          <a:prstGeom prst="rect">
            <a:avLst/>
          </a:prstGeom>
          <a:noFill/>
        </p:spPr>
        <p:txBody>
          <a:bodyPr wrap="square">
            <a:spAutoFit/>
          </a:bodyPr>
          <a:lstStyle/>
          <a:p>
            <a:pPr>
              <a:buNone/>
            </a:pPr>
            <a:r>
              <a:rPr lang="en-NZ" sz="2800" b="1" dirty="0"/>
              <a:t>7 – Quantity by Product Category</a:t>
            </a:r>
          </a:p>
          <a:p>
            <a:pPr>
              <a:buNone/>
            </a:pPr>
            <a:endParaRPr lang="en-NZ" sz="2800" b="1" dirty="0"/>
          </a:p>
          <a:p>
            <a:pPr>
              <a:buNone/>
            </a:pPr>
            <a:r>
              <a:rPr lang="en-NZ" sz="2800" b="1" dirty="0"/>
              <a:t>Description</a:t>
            </a:r>
          </a:p>
          <a:p>
            <a:pPr>
              <a:buNone/>
            </a:pPr>
            <a:br>
              <a:rPr lang="en-NZ" dirty="0"/>
            </a:br>
            <a:r>
              <a:rPr lang="en-NZ" dirty="0"/>
              <a:t>This chart compares the total quantity across product categories. </a:t>
            </a:r>
            <a:r>
              <a:rPr lang="en-NZ" b="1" dirty="0"/>
              <a:t>Pharma has the highest quantity at around 0.21M</a:t>
            </a:r>
            <a:r>
              <a:rPr lang="en-NZ" dirty="0"/>
              <a:t>, while Clothing has the lowest at around 0.18M. This information can help businesses plan inventory levels, demand, and transportation requirements for different products.</a:t>
            </a:r>
          </a:p>
        </p:txBody>
      </p:sp>
    </p:spTree>
    <p:extLst>
      <p:ext uri="{BB962C8B-B14F-4D97-AF65-F5344CB8AC3E}">
        <p14:creationId xmlns:p14="http://schemas.microsoft.com/office/powerpoint/2010/main" val="25372654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BF7E29-C10D-DB0A-5807-FA893957F00E}"/>
              </a:ext>
            </a:extLst>
          </p:cNvPr>
          <p:cNvSpPr txBox="1"/>
          <p:nvPr/>
        </p:nvSpPr>
        <p:spPr>
          <a:xfrm>
            <a:off x="715946" y="808952"/>
            <a:ext cx="8458200" cy="3170099"/>
          </a:xfrm>
          <a:prstGeom prst="rect">
            <a:avLst/>
          </a:prstGeom>
          <a:noFill/>
        </p:spPr>
        <p:txBody>
          <a:bodyPr wrap="square">
            <a:spAutoFit/>
          </a:bodyPr>
          <a:lstStyle/>
          <a:p>
            <a:pPr>
              <a:buNone/>
            </a:pPr>
            <a:r>
              <a:rPr lang="en-NZ" sz="2800" b="1" dirty="0"/>
              <a:t>Conclusion</a:t>
            </a:r>
          </a:p>
          <a:p>
            <a:pPr>
              <a:buNone/>
            </a:pPr>
            <a:endParaRPr lang="en-NZ" sz="2800" b="1" dirty="0"/>
          </a:p>
          <a:p>
            <a:pPr>
              <a:buNone/>
            </a:pPr>
            <a:r>
              <a:rPr lang="en-NZ" dirty="0"/>
              <a:t>Milestone 4 successfully highlights the key supply chain performance areas, including </a:t>
            </a:r>
            <a:r>
              <a:rPr lang="en-NZ" b="1" dirty="0"/>
              <a:t>delivery reliability, transportation cost, distance, inventory efficiency, delays, and product quantity</a:t>
            </a:r>
            <a:r>
              <a:rPr lang="en-NZ" dirty="0"/>
              <a:t>. The dashboards make it easier to identify operational issues and compare performance across transport modes, seasons, suppliers, and product categories. Overall, the analysis provides useful insights for </a:t>
            </a:r>
            <a:r>
              <a:rPr lang="en-NZ" b="1" dirty="0"/>
              <a:t>reducing delays, controlling transportation costs, improving inventory management, and supporting better supply chain decisions</a:t>
            </a:r>
            <a:r>
              <a:rPr lang="en-NZ" dirty="0"/>
              <a:t>.</a:t>
            </a:r>
          </a:p>
        </p:txBody>
      </p:sp>
    </p:spTree>
    <p:extLst>
      <p:ext uri="{BB962C8B-B14F-4D97-AF65-F5344CB8AC3E}">
        <p14:creationId xmlns:p14="http://schemas.microsoft.com/office/powerpoint/2010/main" val="39451061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672</TotalTime>
  <Words>3366</Words>
  <Application>Microsoft Office PowerPoint</Application>
  <PresentationFormat>Widescreen</PresentationFormat>
  <Paragraphs>306</Paragraphs>
  <Slides>66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Suryakant Upadhyay</dc:creator>
  <cp:lastModifiedBy>Suryakant Upadhyay</cp:lastModifiedBy>
  <cp:revision>1</cp:revision>
  <dcterms:created xsi:type="dcterms:W3CDTF">2026-08-01T18:47:21Z</dcterms:created>
  <dcterms:modified xsi:type="dcterms:W3CDTF">2026-08-14T13:34:48Z</dcterms:modified>
</cp:coreProperties>
</file>