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70" r:id="rId6"/>
    <p:sldId id="260" r:id="rId7"/>
    <p:sldId id="261" r:id="rId8"/>
    <p:sldId id="262" r:id="rId9"/>
    <p:sldId id="263" r:id="rId10"/>
    <p:sldId id="264" r:id="rId11"/>
    <p:sldId id="265" r:id="rId12"/>
    <p:sldId id="266" r:id="rId13"/>
    <p:sldId id="267" r:id="rId14"/>
    <p:sldId id="271" r:id="rId15"/>
    <p:sldId id="273" r:id="rId16"/>
    <p:sldId id="272" r:id="rId17"/>
    <p:sldId id="274" r:id="rId18"/>
    <p:sldId id="275" r:id="rId19"/>
    <p:sldId id="268" r:id="rId20"/>
  </p:sldIdLst>
  <p:sldSz cx="12192000" cy="6858000"/>
  <p:notesSz cx="6858000" cy="12192000"/>
  <p:embeddedFontLst>
    <p:embeddedFont>
      <p:font typeface="Inter" panose="020B0604020202020204" charset="0"/>
      <p:regular r:id="rId22"/>
    </p:embeddedFont>
    <p:embeddedFont>
      <p:font typeface="Inter Bold"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999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a:p>
        </p:txBody>
      </p:sp>
      <p:sp>
        <p:nvSpPr>
          <p:cNvPr id="3" name="Shape 1"/>
          <p:cNvSpPr/>
          <p:nvPr/>
        </p:nvSpPr>
        <p:spPr>
          <a:xfrm>
            <a:off x="0" y="0"/>
            <a:ext cx="12191695" cy="6858000"/>
          </a:xfrm>
          <a:prstGeom prst="rect">
            <a:avLst/>
          </a:prstGeom>
          <a:solidFill>
            <a:srgbClr val="081F36"/>
          </a:solidFill>
          <a:ln/>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a:p>
        </p:txBody>
      </p:sp>
      <p:sp>
        <p:nvSpPr>
          <p:cNvPr id="3" name="Shape 1"/>
          <p:cNvSpPr/>
          <p:nvPr/>
        </p:nvSpPr>
        <p:spPr>
          <a:xfrm>
            <a:off x="0" y="0"/>
            <a:ext cx="12191695" cy="6858000"/>
          </a:xfrm>
          <a:prstGeom prst="rect">
            <a:avLst/>
          </a:prstGeom>
          <a:solidFill>
            <a:srgbClr val="FFFFFF"/>
          </a:solidFill>
          <a:ln/>
        </p:spPr>
        <p:txBody>
          <a:bodyPr/>
          <a:lstStyle/>
          <a:p>
            <a:endParaRPr/>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a:p>
        </p:txBody>
      </p:sp>
      <p:sp>
        <p:nvSpPr>
          <p:cNvPr id="3" name="Shape 1"/>
          <p:cNvSpPr/>
          <p:nvPr/>
        </p:nvSpPr>
        <p:spPr>
          <a:xfrm>
            <a:off x="0" y="0"/>
            <a:ext cx="12191695" cy="6858000"/>
          </a:xfrm>
          <a:prstGeom prst="rect">
            <a:avLst/>
          </a:prstGeom>
          <a:solidFill>
            <a:srgbClr val="FFFFFF"/>
          </a:solidFill>
          <a:ln/>
        </p:spPr>
        <p:txBody>
          <a:bodyPr/>
          <a:lstStyle/>
          <a:p>
            <a:endParaRPr/>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a:p>
        </p:txBody>
      </p:sp>
      <p:sp>
        <p:nvSpPr>
          <p:cNvPr id="3" name="Shape 1"/>
          <p:cNvSpPr/>
          <p:nvPr/>
        </p:nvSpPr>
        <p:spPr>
          <a:xfrm>
            <a:off x="0" y="0"/>
            <a:ext cx="12191695" cy="6858000"/>
          </a:xfrm>
          <a:prstGeom prst="rect">
            <a:avLst/>
          </a:prstGeom>
          <a:solidFill>
            <a:srgbClr val="FFFFFF"/>
          </a:solidFill>
          <a:ln/>
        </p:spPr>
        <p:txBody>
          <a:bodyPr/>
          <a:lstStyle/>
          <a:p>
            <a:endParaRPr/>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a:p>
        </p:txBody>
      </p:sp>
      <p:sp>
        <p:nvSpPr>
          <p:cNvPr id="3" name="Shape 1"/>
          <p:cNvSpPr/>
          <p:nvPr/>
        </p:nvSpPr>
        <p:spPr>
          <a:xfrm>
            <a:off x="0" y="0"/>
            <a:ext cx="12191695" cy="6858000"/>
          </a:xfrm>
          <a:prstGeom prst="rect">
            <a:avLst/>
          </a:prstGeom>
          <a:solidFill>
            <a:srgbClr val="F5F7F8"/>
          </a:solidFill>
          <a:ln/>
        </p:spPr>
        <p:txBody>
          <a:bodyPr/>
          <a:lstStyle/>
          <a:p>
            <a:endParaRPr/>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815306"/>
            <a:ext cx="11478330" cy="302419"/>
          </a:xfrm>
          <a:prstGeom prst="rect">
            <a:avLst/>
          </a:prstGeom>
          <a:noFill/>
          <a:ln/>
        </p:spPr>
        <p:txBody>
          <a:bodyPr wrap="none" lIns="0" tIns="0" rIns="0" bIns="0" rtlCol="0" anchor="t"/>
          <a:lstStyle/>
          <a:p>
            <a:pPr marL="0" indent="0" algn="l">
              <a:lnSpc>
                <a:spcPct val="133000"/>
              </a:lnSpc>
              <a:buNone/>
            </a:pPr>
            <a:r>
              <a:rPr lang="en-US" sz="1450" b="1" dirty="0">
                <a:solidFill>
                  <a:srgbClr val="FFFFFF"/>
                </a:solidFill>
                <a:latin typeface="Inter Bold" pitchFamily="34" charset="0"/>
                <a:ea typeface="Inter Bold" pitchFamily="34" charset="-122"/>
                <a:cs typeface="Inter Bold" pitchFamily="34" charset="-120"/>
              </a:rPr>
              <a:t>BATCH C  </a:t>
            </a:r>
            <a:endParaRPr lang="en-US" sz="1450" dirty="0"/>
          </a:p>
        </p:txBody>
      </p:sp>
      <p:sp>
        <p:nvSpPr>
          <p:cNvPr id="3" name="Text 1"/>
          <p:cNvSpPr/>
          <p:nvPr/>
        </p:nvSpPr>
        <p:spPr>
          <a:xfrm>
            <a:off x="661475" y="2306737"/>
            <a:ext cx="10868745" cy="590649"/>
          </a:xfrm>
          <a:prstGeom prst="rect">
            <a:avLst/>
          </a:prstGeom>
          <a:noFill/>
          <a:ln/>
        </p:spPr>
        <p:txBody>
          <a:bodyPr wrap="none" lIns="0" tIns="0" rIns="0" bIns="0" rtlCol="0" anchor="t"/>
          <a:lstStyle/>
          <a:p>
            <a:pPr>
              <a:lnSpc>
                <a:spcPct val="104000"/>
              </a:lnSpc>
            </a:pPr>
            <a:r>
              <a:rPr lang="en-US" sz="3700" b="1" dirty="0">
                <a:solidFill>
                  <a:srgbClr val="FFFFFF"/>
                </a:solidFill>
                <a:latin typeface="Inter Bold" pitchFamily="34" charset="0"/>
                <a:ea typeface="Inter Bold" pitchFamily="34" charset="-122"/>
                <a:cs typeface="Inter Bold" pitchFamily="34" charset="-120"/>
              </a:rPr>
              <a:t>Supply Chain Visibility </a:t>
            </a:r>
            <a:endParaRPr lang="en-US" sz="3700" dirty="0"/>
          </a:p>
        </p:txBody>
      </p:sp>
      <p:sp>
        <p:nvSpPr>
          <p:cNvPr id="4" name="Text 2"/>
          <p:cNvSpPr/>
          <p:nvPr/>
        </p:nvSpPr>
        <p:spPr>
          <a:xfrm>
            <a:off x="661475" y="2972991"/>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system with Optimization Analytics Group 1</a:t>
            </a:r>
            <a:endParaRPr lang="en-US" sz="3700" dirty="0"/>
          </a:p>
        </p:txBody>
      </p:sp>
      <p:sp>
        <p:nvSpPr>
          <p:cNvPr id="5" name="Text 3"/>
          <p:cNvSpPr/>
          <p:nvPr/>
        </p:nvSpPr>
        <p:spPr>
          <a:xfrm>
            <a:off x="661475" y="3639245"/>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FFFFFF"/>
                </a:solidFill>
                <a:latin typeface="Inter Bold" pitchFamily="34" charset="0"/>
                <a:ea typeface="Inter Bold" pitchFamily="34" charset="-122"/>
                <a:cs typeface="Inter Bold" pitchFamily="34" charset="-120"/>
              </a:rPr>
              <a:t>Infosys Springboard Virtual Internship 7.0</a:t>
            </a:r>
            <a:endParaRPr lang="en-US" sz="2950" dirty="0"/>
          </a:p>
        </p:txBody>
      </p:sp>
      <p:sp>
        <p:nvSpPr>
          <p:cNvPr id="6" name="Text 4"/>
          <p:cNvSpPr/>
          <p:nvPr/>
        </p:nvSpPr>
        <p:spPr>
          <a:xfrm>
            <a:off x="661475" y="4395192"/>
            <a:ext cx="10868745" cy="817463"/>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FFFFFF"/>
                </a:solidFill>
                <a:latin typeface="Inter Bold" pitchFamily="34" charset="0"/>
                <a:ea typeface="Inter Bold" pitchFamily="34" charset="-122"/>
                <a:cs typeface="Inter Bold" pitchFamily="34" charset="-120"/>
              </a:rPr>
              <a:t>Prepared by SABARI VASAN N</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2134295"/>
            <a:ext cx="11478330"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3" name="Text 1"/>
          <p:cNvSpPr/>
          <p:nvPr/>
        </p:nvSpPr>
        <p:spPr>
          <a:xfrm>
            <a:off x="661475" y="2625725"/>
            <a:ext cx="10868745" cy="472480"/>
          </a:xfrm>
          <a:prstGeom prst="rect">
            <a:avLst/>
          </a:prstGeom>
          <a:noFill/>
          <a:ln/>
        </p:spPr>
        <p:txBody>
          <a:bodyPr wrap="none" lIns="0" tIns="0" rIns="0" bIns="0" rtlCol="0" anchor="t"/>
          <a:lstStyle/>
          <a:p>
            <a:pPr marL="0" indent="0" algn="l">
              <a:lnSpc>
                <a:spcPct val="104000"/>
              </a:lnSpc>
              <a:buNone/>
            </a:pPr>
            <a:r>
              <a:rPr lang="en-US" sz="2950" b="1" u="sng" dirty="0">
                <a:solidFill>
                  <a:srgbClr val="000000"/>
                </a:solidFill>
                <a:latin typeface="Inter Bold" pitchFamily="34" charset="0"/>
                <a:ea typeface="Inter Bold" pitchFamily="34" charset="-122"/>
                <a:cs typeface="Inter Bold" pitchFamily="34" charset="-120"/>
              </a:rPr>
              <a:t>OBJECTIVE</a:t>
            </a:r>
            <a:endParaRPr lang="en-US" sz="2950" dirty="0"/>
          </a:p>
        </p:txBody>
      </p:sp>
      <p:sp>
        <p:nvSpPr>
          <p:cNvPr id="4" name="Text 2"/>
          <p:cNvSpPr/>
          <p:nvPr/>
        </p:nvSpPr>
        <p:spPr>
          <a:xfrm>
            <a:off x="661475" y="3381673"/>
            <a:ext cx="1086874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The project aims to improve </a:t>
            </a:r>
            <a:r>
              <a:rPr lang="en-US" sz="1450" b="1" dirty="0">
                <a:solidFill>
                  <a:srgbClr val="272525"/>
                </a:solidFill>
                <a:latin typeface="Inter Bold" pitchFamily="34" charset="0"/>
                <a:ea typeface="Inter Bold" pitchFamily="34" charset="-122"/>
                <a:cs typeface="Inter Bold" pitchFamily="34" charset="-120"/>
              </a:rPr>
              <a:t>end-to-end supply chain visibility</a:t>
            </a:r>
            <a:r>
              <a:rPr lang="en-US" sz="1450" dirty="0">
                <a:solidFill>
                  <a:srgbClr val="272525"/>
                </a:solidFill>
                <a:latin typeface="Inter" pitchFamily="34" charset="0"/>
                <a:ea typeface="Inter" pitchFamily="34" charset="-122"/>
                <a:cs typeface="Inter" pitchFamily="34" charset="-120"/>
              </a:rPr>
              <a:t> through data analytics by analyzing key operational processes. It focuses on identifying bottlenecks in inventory movement and order fulfillment, optimizing logistics and delivery performance, and enabling data-driven decision-making through interactive dashboards and reports. By improving overall supply chain efficiency and reducing delays, the project ultimately seeks to enhance customer satisfaction and operational performance.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23095"/>
            <a:ext cx="11478330"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3" name="Text 1"/>
          <p:cNvSpPr/>
          <p:nvPr/>
        </p:nvSpPr>
        <p:spPr>
          <a:xfrm>
            <a:off x="661475" y="1914525"/>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INTRODUCTION</a:t>
            </a:r>
            <a:endParaRPr lang="en-US" sz="2950" dirty="0"/>
          </a:p>
        </p:txBody>
      </p:sp>
      <p:sp>
        <p:nvSpPr>
          <p:cNvPr id="4" name="Text 2"/>
          <p:cNvSpPr/>
          <p:nvPr/>
        </p:nvSpPr>
        <p:spPr>
          <a:xfrm>
            <a:off x="661475" y="2670473"/>
            <a:ext cx="10868745" cy="2934395"/>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Supply Chain Visibility is the ability to track and monitor products, inventory, and shipments throughout every stage of the supply chain. Organizations often face challenges such as delayed deliveries, inaccurate inventory records, and disconnected data sources, which can lead to stock shortages, increased operational costs, and inefficient decision-making.</a:t>
            </a:r>
            <a:endParaRPr lang="en-US" sz="1450" dirty="0"/>
          </a:p>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This project focuses on collecting, integrating, preprocessing, and analyzing supply chain data to generate meaningful insights into operational performance. Through data modeling and interactive dashboards, the project helps identify bottlenecks, optimize logistics and inventory management, and monitor key performance indicators (KPIs). Ultimately, the project aims to support data-driven decision-making, improve operational efficiency, reduce costs, and enhance customer satisfaction.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31974"/>
            <a:ext cx="10868745" cy="354409"/>
          </a:xfrm>
          <a:prstGeom prst="rect">
            <a:avLst/>
          </a:prstGeom>
          <a:noFill/>
          <a:ln/>
        </p:spPr>
        <p:txBody>
          <a:bodyPr wrap="none" lIns="0" tIns="0" rIns="0" bIns="0" rtlCol="0" anchor="t"/>
          <a:lstStyle/>
          <a:p>
            <a:pPr marL="0" indent="0" algn="l">
              <a:lnSpc>
                <a:spcPct val="104000"/>
              </a:lnSpc>
              <a:buNone/>
            </a:pPr>
            <a:r>
              <a:rPr lang="en-US" sz="2200" b="1" u="sng" dirty="0">
                <a:solidFill>
                  <a:srgbClr val="000000"/>
                </a:solidFill>
                <a:latin typeface="Inter Bold" pitchFamily="34" charset="0"/>
                <a:ea typeface="Inter Bold" pitchFamily="34" charset="-122"/>
                <a:cs typeface="Inter Bold" pitchFamily="34" charset="-120"/>
              </a:rPr>
              <a:t>Workflow Diagram</a:t>
            </a:r>
            <a:endParaRPr lang="en-US" sz="2200" dirty="0"/>
          </a:p>
        </p:txBody>
      </p:sp>
      <p:sp>
        <p:nvSpPr>
          <p:cNvPr id="4" name="Text 1"/>
          <p:cNvSpPr/>
          <p:nvPr/>
        </p:nvSpPr>
        <p:spPr>
          <a:xfrm>
            <a:off x="661475" y="3676055"/>
            <a:ext cx="10868745" cy="354409"/>
          </a:xfrm>
          <a:prstGeom prst="rect">
            <a:avLst/>
          </a:prstGeom>
          <a:noFill/>
          <a:ln/>
        </p:spPr>
        <p:txBody>
          <a:bodyPr wrap="none" lIns="0" tIns="0" rIns="0" bIns="0" rtlCol="0" anchor="t"/>
          <a:lstStyle/>
          <a:p>
            <a:pPr marL="0" indent="0" algn="l">
              <a:lnSpc>
                <a:spcPct val="104000"/>
              </a:lnSpc>
              <a:buNone/>
            </a:pPr>
            <a:endParaRPr lang="en-US" sz="2200" dirty="0"/>
          </a:p>
        </p:txBody>
      </p:sp>
      <p:sp>
        <p:nvSpPr>
          <p:cNvPr id="5" name="Text 2"/>
          <p:cNvSpPr/>
          <p:nvPr/>
        </p:nvSpPr>
        <p:spPr>
          <a:xfrm>
            <a:off x="661475" y="4313932"/>
            <a:ext cx="10868745" cy="1512094"/>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pic>
        <p:nvPicPr>
          <p:cNvPr id="3" name="Picture 2">
            <a:extLst>
              <a:ext uri="{FF2B5EF4-FFF2-40B4-BE49-F238E27FC236}">
                <a16:creationId xmlns:a16="http://schemas.microsoft.com/office/drawing/2014/main" id="{6DB96EF0-F0AB-055A-E6B0-691A35E940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2883" y="229167"/>
            <a:ext cx="4084100" cy="66288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8CB11C6-8D5D-E31C-11E1-248711BF0DFC}"/>
              </a:ext>
            </a:extLst>
          </p:cNvPr>
          <p:cNvSpPr/>
          <p:nvPr/>
        </p:nvSpPr>
        <p:spPr>
          <a:xfrm>
            <a:off x="577583" y="1148383"/>
            <a:ext cx="10868745" cy="354409"/>
          </a:xfrm>
          <a:prstGeom prst="rect">
            <a:avLst/>
          </a:prstGeom>
          <a:noFill/>
          <a:ln/>
        </p:spPr>
        <p:txBody>
          <a:bodyPr wrap="none" lIns="0" tIns="0" rIns="0" bIns="0" rtlCol="0" anchor="t"/>
          <a:lstStyle/>
          <a:p>
            <a:pPr marL="0" indent="0" algn="l">
              <a:lnSpc>
                <a:spcPct val="104000"/>
              </a:lnSpc>
              <a:buNone/>
            </a:pPr>
            <a:r>
              <a:rPr lang="en-US" sz="2200" b="1" u="sng" dirty="0">
                <a:solidFill>
                  <a:srgbClr val="000000"/>
                </a:solidFill>
                <a:latin typeface="Inter Bold" pitchFamily="34" charset="0"/>
                <a:ea typeface="Inter Bold" pitchFamily="34" charset="-122"/>
                <a:cs typeface="Inter Bold" pitchFamily="34" charset="-120"/>
              </a:rPr>
              <a:t>Description</a:t>
            </a:r>
            <a:endParaRPr lang="en-US" sz="2200" dirty="0"/>
          </a:p>
        </p:txBody>
      </p:sp>
      <p:sp>
        <p:nvSpPr>
          <p:cNvPr id="3" name="Text 2">
            <a:extLst>
              <a:ext uri="{FF2B5EF4-FFF2-40B4-BE49-F238E27FC236}">
                <a16:creationId xmlns:a16="http://schemas.microsoft.com/office/drawing/2014/main" id="{4D46194A-6C3B-8562-9997-609F573B4869}"/>
              </a:ext>
            </a:extLst>
          </p:cNvPr>
          <p:cNvSpPr/>
          <p:nvPr/>
        </p:nvSpPr>
        <p:spPr>
          <a:xfrm>
            <a:off x="577584" y="2672953"/>
            <a:ext cx="1086874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The project involves collecting supply chain data from multiple sources and integrating it into a unified dataset for analysis. The data is then cleaned, transformed, and prepared to ensure accuracy and consistency. Analytical models and interactive dashboards are developed to visualize key performance indicators and identify important trends. Finally, actionable insights are generated to optimize supply chain operations, improve efficiency, and support data-driven decision-making.</a:t>
            </a:r>
            <a:endParaRPr lang="en-US" sz="1450" dirty="0"/>
          </a:p>
        </p:txBody>
      </p:sp>
    </p:spTree>
    <p:extLst>
      <p:ext uri="{BB962C8B-B14F-4D97-AF65-F5344CB8AC3E}">
        <p14:creationId xmlns:p14="http://schemas.microsoft.com/office/powerpoint/2010/main" val="2586239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88988"/>
            <a:ext cx="11478330" cy="217686"/>
          </a:xfrm>
          <a:prstGeom prst="rect">
            <a:avLst/>
          </a:prstGeom>
          <a:noFill/>
          <a:ln/>
        </p:spPr>
        <p:txBody>
          <a:bodyPr wrap="none" lIns="0" tIns="0" rIns="0" bIns="0" rtlCol="0" anchor="t"/>
          <a:lstStyle/>
          <a:p>
            <a:pPr marL="0" indent="0" algn="l">
              <a:lnSpc>
                <a:spcPct val="120000"/>
              </a:lnSpc>
              <a:buNone/>
            </a:pPr>
            <a:endParaRPr lang="en-US" sz="1150" dirty="0"/>
          </a:p>
        </p:txBody>
      </p:sp>
      <p:sp>
        <p:nvSpPr>
          <p:cNvPr id="3" name="Text 1"/>
          <p:cNvSpPr/>
          <p:nvPr/>
        </p:nvSpPr>
        <p:spPr>
          <a:xfrm>
            <a:off x="661475" y="1127621"/>
            <a:ext cx="10868745" cy="378023"/>
          </a:xfrm>
          <a:prstGeom prst="rect">
            <a:avLst/>
          </a:prstGeom>
          <a:noFill/>
          <a:ln/>
        </p:spPr>
        <p:txBody>
          <a:bodyPr wrap="none" lIns="0" tIns="0" rIns="0" bIns="0" rtlCol="0" anchor="t"/>
          <a:lstStyle/>
          <a:p>
            <a:pPr marL="0" indent="0" algn="l">
              <a:lnSpc>
                <a:spcPct val="104000"/>
              </a:lnSpc>
              <a:buNone/>
            </a:pPr>
            <a:r>
              <a:rPr lang="en-US" sz="2350" b="1" dirty="0">
                <a:solidFill>
                  <a:srgbClr val="000000"/>
                </a:solidFill>
                <a:latin typeface="Inter Bold" pitchFamily="34" charset="0"/>
                <a:ea typeface="Inter Bold" pitchFamily="34" charset="-122"/>
                <a:cs typeface="Inter Bold" pitchFamily="34" charset="-120"/>
              </a:rPr>
              <a:t>Reading the Cost &amp; Delivery View</a:t>
            </a:r>
            <a:endParaRPr lang="en-US" sz="2350" dirty="0"/>
          </a:p>
        </p:txBody>
      </p:sp>
      <p:sp>
        <p:nvSpPr>
          <p:cNvPr id="4" name="Text 2"/>
          <p:cNvSpPr/>
          <p:nvPr/>
        </p:nvSpPr>
        <p:spPr>
          <a:xfrm>
            <a:off x="661475" y="1553964"/>
            <a:ext cx="10868745" cy="378023"/>
          </a:xfrm>
          <a:prstGeom prst="rect">
            <a:avLst/>
          </a:prstGeom>
          <a:noFill/>
          <a:ln/>
        </p:spPr>
        <p:txBody>
          <a:bodyPr wrap="none" lIns="0" tIns="0" rIns="0" bIns="0" rtlCol="0" anchor="t"/>
          <a:lstStyle/>
          <a:p>
            <a:pPr marL="0" indent="0" algn="l">
              <a:lnSpc>
                <a:spcPct val="104000"/>
              </a:lnSpc>
              <a:buNone/>
            </a:pPr>
            <a:r>
              <a:rPr lang="en-US" sz="2350" b="1" dirty="0">
                <a:solidFill>
                  <a:srgbClr val="000000"/>
                </a:solidFill>
                <a:latin typeface="Inter Bold" pitchFamily="34" charset="0"/>
                <a:ea typeface="Inter Bold" pitchFamily="34" charset="-122"/>
                <a:cs typeface="Inter Bold" pitchFamily="34" charset="-120"/>
              </a:rPr>
              <a:t>Problem Understanding</a:t>
            </a:r>
            <a:endParaRPr lang="en-US" sz="2350" dirty="0"/>
          </a:p>
        </p:txBody>
      </p:sp>
      <p:sp>
        <p:nvSpPr>
          <p:cNvPr id="5" name="Text 3"/>
          <p:cNvSpPr/>
          <p:nvPr/>
        </p:nvSpPr>
        <p:spPr>
          <a:xfrm>
            <a:off x="661475" y="1980307"/>
            <a:ext cx="10868745" cy="283468"/>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Inter Bold" pitchFamily="34" charset="0"/>
                <a:ea typeface="Inter Bold" pitchFamily="34" charset="-122"/>
                <a:cs typeface="Inter Bold" pitchFamily="34" charset="-120"/>
              </a:rPr>
              <a:t>Existing Challenges</a:t>
            </a:r>
            <a:endParaRPr lang="en-US" sz="1750" dirty="0"/>
          </a:p>
        </p:txBody>
      </p:sp>
      <p:sp>
        <p:nvSpPr>
          <p:cNvPr id="6" name="Text 4"/>
          <p:cNvSpPr/>
          <p:nvPr/>
        </p:nvSpPr>
        <p:spPr>
          <a:xfrm>
            <a:off x="661475" y="2445147"/>
            <a:ext cx="10868745" cy="1475184"/>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High dependence on </a:t>
            </a:r>
            <a:r>
              <a:rPr lang="en-US" sz="1150" b="1" dirty="0">
                <a:solidFill>
                  <a:srgbClr val="272525"/>
                </a:solidFill>
                <a:latin typeface="Inter Bold" pitchFamily="34" charset="0"/>
                <a:ea typeface="Inter Bold" pitchFamily="34" charset="-122"/>
                <a:cs typeface="Inter Bold" pitchFamily="34" charset="-120"/>
              </a:rPr>
              <a:t>air transportation</a:t>
            </a:r>
            <a:r>
              <a:rPr lang="en-US" sz="1150" dirty="0">
                <a:solidFill>
                  <a:srgbClr val="272525"/>
                </a:solidFill>
                <a:latin typeface="Inter" pitchFamily="34" charset="0"/>
                <a:ea typeface="Inter" pitchFamily="34" charset="-122"/>
                <a:cs typeface="Inter" pitchFamily="34" charset="-120"/>
              </a:rPr>
              <a:t>, resulting in significantly higher transportation costs compared to road, rail, and sea.</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Global supplier networks</a:t>
            </a:r>
            <a:r>
              <a:rPr lang="en-US" sz="1150" dirty="0">
                <a:solidFill>
                  <a:srgbClr val="272525"/>
                </a:solidFill>
                <a:latin typeface="Inter" pitchFamily="34" charset="0"/>
                <a:ea typeface="Inter" pitchFamily="34" charset="-122"/>
                <a:cs typeface="Inter" pitchFamily="34" charset="-120"/>
              </a:rPr>
              <a:t> across multiple continents make it difficult to maintain consistent visibility and coordinate supply chain operations.</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Slower inventory turnover</a:t>
            </a:r>
            <a:r>
              <a:rPr lang="en-US" sz="1150" dirty="0">
                <a:solidFill>
                  <a:srgbClr val="272525"/>
                </a:solidFill>
                <a:latin typeface="Inter" pitchFamily="34" charset="0"/>
                <a:ea typeface="Inter" pitchFamily="34" charset="-122"/>
                <a:cs typeface="Inter" pitchFamily="34" charset="-120"/>
              </a:rPr>
              <a:t> during later seasons indicates the presence of slow-moving stock and potential inventory inefficiencies.</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Longer delivery cycles in the Pharma category</a:t>
            </a:r>
            <a:r>
              <a:rPr lang="en-US" sz="1150" dirty="0">
                <a:solidFill>
                  <a:srgbClr val="272525"/>
                </a:solidFill>
                <a:latin typeface="Inter" pitchFamily="34" charset="0"/>
                <a:ea typeface="Inter" pitchFamily="34" charset="-122"/>
                <a:cs typeface="Inter" pitchFamily="34" charset="-120"/>
              </a:rPr>
              <a:t> can lead to delays and affect overall order fulfillment performance.</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Lack of effective monitoring of </a:t>
            </a:r>
            <a:r>
              <a:rPr lang="en-US" sz="1150" b="1" dirty="0">
                <a:solidFill>
                  <a:srgbClr val="272525"/>
                </a:solidFill>
                <a:latin typeface="Inter Bold" pitchFamily="34" charset="0"/>
                <a:ea typeface="Inter Bold" pitchFamily="34" charset="-122"/>
                <a:cs typeface="Inter Bold" pitchFamily="34" charset="-120"/>
              </a:rPr>
              <a:t>transport costs, delivery time, inventory turnover, and category-wise performance</a:t>
            </a:r>
            <a:r>
              <a:rPr lang="en-US" sz="1150" dirty="0">
                <a:solidFill>
                  <a:srgbClr val="272525"/>
                </a:solidFill>
                <a:latin typeface="Inter" pitchFamily="34" charset="0"/>
                <a:ea typeface="Inter" pitchFamily="34" charset="-122"/>
                <a:cs typeface="Inter" pitchFamily="34" charset="-120"/>
              </a:rPr>
              <a:t> makes it difficult to identify optimization opportunities.</a:t>
            </a:r>
            <a:endParaRPr lang="en-US" sz="1150" dirty="0"/>
          </a:p>
        </p:txBody>
      </p:sp>
      <p:sp>
        <p:nvSpPr>
          <p:cNvPr id="7" name="Text 5"/>
          <p:cNvSpPr/>
          <p:nvPr/>
        </p:nvSpPr>
        <p:spPr>
          <a:xfrm>
            <a:off x="661475" y="4101703"/>
            <a:ext cx="10868745" cy="283468"/>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Inter Bold" pitchFamily="34" charset="0"/>
                <a:ea typeface="Inter Bold" pitchFamily="34" charset="-122"/>
                <a:cs typeface="Inter Bold" pitchFamily="34" charset="-120"/>
              </a:rPr>
              <a:t>Business Impact</a:t>
            </a:r>
            <a:endParaRPr lang="en-US" sz="1750" dirty="0"/>
          </a:p>
        </p:txBody>
      </p:sp>
      <p:sp>
        <p:nvSpPr>
          <p:cNvPr id="8" name="Text 6"/>
          <p:cNvSpPr/>
          <p:nvPr/>
        </p:nvSpPr>
        <p:spPr>
          <a:xfrm>
            <a:off x="661475" y="4566543"/>
            <a:ext cx="10868745" cy="1257498"/>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Increased </a:t>
            </a:r>
            <a:r>
              <a:rPr lang="en-US" sz="1150" b="1" dirty="0">
                <a:solidFill>
                  <a:srgbClr val="272525"/>
                </a:solidFill>
                <a:latin typeface="Inter Bold" pitchFamily="34" charset="0"/>
                <a:ea typeface="Inter Bold" pitchFamily="34" charset="-122"/>
                <a:cs typeface="Inter Bold" pitchFamily="34" charset="-120"/>
              </a:rPr>
              <a:t>transportation and logistics costs</a:t>
            </a:r>
            <a:r>
              <a:rPr lang="en-US" sz="1150" dirty="0">
                <a:solidFill>
                  <a:srgbClr val="272525"/>
                </a:solidFill>
                <a:latin typeface="Inter" pitchFamily="34" charset="0"/>
                <a:ea typeface="Inter" pitchFamily="34" charset="-122"/>
                <a:cs typeface="Inter" pitchFamily="34" charset="-120"/>
              </a:rPr>
              <a:t> due to heavy reliance on air freight.</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Higher risk of </a:t>
            </a:r>
            <a:r>
              <a:rPr lang="en-US" sz="1150" b="1" dirty="0">
                <a:solidFill>
                  <a:srgbClr val="272525"/>
                </a:solidFill>
                <a:latin typeface="Inter Bold" pitchFamily="34" charset="0"/>
                <a:ea typeface="Inter Bold" pitchFamily="34" charset="-122"/>
                <a:cs typeface="Inter Bold" pitchFamily="34" charset="-120"/>
              </a:rPr>
              <a:t>delivery delays</a:t>
            </a:r>
            <a:r>
              <a:rPr lang="en-US" sz="1150" dirty="0">
                <a:solidFill>
                  <a:srgbClr val="272525"/>
                </a:solidFill>
                <a:latin typeface="Inter" pitchFamily="34" charset="0"/>
                <a:ea typeface="Inter" pitchFamily="34" charset="-122"/>
                <a:cs typeface="Inter" pitchFamily="34" charset="-120"/>
              </a:rPr>
              <a:t>, particularly for categories with longer delivery cycles.</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Inventory holding inefficiencies</a:t>
            </a:r>
            <a:r>
              <a:rPr lang="en-US" sz="1150" dirty="0">
                <a:solidFill>
                  <a:srgbClr val="272525"/>
                </a:solidFill>
                <a:latin typeface="Inter" pitchFamily="34" charset="0"/>
                <a:ea typeface="Inter" pitchFamily="34" charset="-122"/>
                <a:cs typeface="Inter" pitchFamily="34" charset="-120"/>
              </a:rPr>
              <a:t> caused by declining inventory turnover and slow-moving stock.</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Difficulty in optimizing </a:t>
            </a:r>
            <a:r>
              <a:rPr lang="en-US" sz="1150" b="1" dirty="0">
                <a:solidFill>
                  <a:srgbClr val="272525"/>
                </a:solidFill>
                <a:latin typeface="Inter Bold" pitchFamily="34" charset="0"/>
                <a:ea typeface="Inter Bold" pitchFamily="34" charset="-122"/>
                <a:cs typeface="Inter Bold" pitchFamily="34" charset="-120"/>
              </a:rPr>
              <a:t>transport modes, supplier networks, and delivery routes</a:t>
            </a:r>
            <a:r>
              <a:rPr lang="en-US" sz="1150" dirty="0">
                <a:solidFill>
                  <a:srgbClr val="272525"/>
                </a:solidFill>
                <a:latin typeface="Inter" pitchFamily="34" charset="0"/>
                <a:ea typeface="Inter" pitchFamily="34" charset="-122"/>
                <a:cs typeface="Inter" pitchFamily="34" charset="-120"/>
              </a:rPr>
              <a:t>.</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Reduced operational efficiency and challenges in making </a:t>
            </a:r>
            <a:r>
              <a:rPr lang="en-US" sz="1150" b="1" dirty="0">
                <a:solidFill>
                  <a:srgbClr val="272525"/>
                </a:solidFill>
                <a:latin typeface="Inter Bold" pitchFamily="34" charset="0"/>
                <a:ea typeface="Inter Bold" pitchFamily="34" charset="-122"/>
                <a:cs typeface="Inter Bold" pitchFamily="34" charset="-120"/>
              </a:rPr>
              <a:t>data-driven supply chain decisions</a:t>
            </a:r>
            <a:r>
              <a:rPr lang="en-US" sz="1150" dirty="0">
                <a:solidFill>
                  <a:srgbClr val="272525"/>
                </a:solidFill>
                <a:latin typeface="Inter" pitchFamily="34" charset="0"/>
                <a:ea typeface="Inter" pitchFamily="34" charset="-122"/>
                <a:cs typeface="Inter" pitchFamily="34" charset="-120"/>
              </a:rPr>
              <a: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60288"/>
            <a:ext cx="10868745" cy="418703"/>
          </a:xfrm>
          <a:prstGeom prst="rect">
            <a:avLst/>
          </a:prstGeom>
          <a:noFill/>
          <a:ln/>
        </p:spPr>
        <p:txBody>
          <a:bodyPr wrap="none" lIns="0" tIns="0" rIns="0" bIns="0" rtlCol="0" anchor="t"/>
          <a:lstStyle/>
          <a:p>
            <a:pPr marL="0" indent="0" algn="l">
              <a:lnSpc>
                <a:spcPct val="104000"/>
              </a:lnSpc>
              <a:buNone/>
            </a:pPr>
            <a:r>
              <a:rPr lang="en-US" sz="2600" b="1" dirty="0">
                <a:solidFill>
                  <a:srgbClr val="000000"/>
                </a:solidFill>
                <a:latin typeface="Inter Bold" pitchFamily="34" charset="0"/>
                <a:ea typeface="Inter Bold" pitchFamily="34" charset="-122"/>
                <a:cs typeface="Inter Bold" pitchFamily="34" charset="-120"/>
              </a:rPr>
              <a:t>Data Collection &amp; Understanding</a:t>
            </a:r>
            <a:endParaRPr lang="en-US" sz="2600" dirty="0"/>
          </a:p>
        </p:txBody>
      </p:sp>
      <p:sp>
        <p:nvSpPr>
          <p:cNvPr id="3" name="Text 1"/>
          <p:cNvSpPr/>
          <p:nvPr/>
        </p:nvSpPr>
        <p:spPr>
          <a:xfrm>
            <a:off x="661475" y="1038324"/>
            <a:ext cx="10868745" cy="314027"/>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Inter Bold" pitchFamily="34" charset="0"/>
                <a:ea typeface="Inter Bold" pitchFamily="34" charset="-122"/>
                <a:cs typeface="Inter Bold" pitchFamily="34" charset="-120"/>
              </a:rPr>
              <a:t>Data Collection</a:t>
            </a:r>
            <a:endParaRPr lang="en-US" sz="1950" dirty="0"/>
          </a:p>
        </p:txBody>
      </p:sp>
      <p:sp>
        <p:nvSpPr>
          <p:cNvPr id="4" name="Text 2"/>
          <p:cNvSpPr/>
          <p:nvPr/>
        </p:nvSpPr>
        <p:spPr>
          <a:xfrm>
            <a:off x="661475" y="1574800"/>
            <a:ext cx="10868745" cy="861616"/>
          </a:xfrm>
          <a:prstGeom prst="rect">
            <a:avLst/>
          </a:prstGeom>
          <a:noFill/>
          <a:ln/>
        </p:spPr>
        <p:txBody>
          <a:bodyPr wrap="square" lIns="0" tIns="0" rIns="0" bIns="0" rtlCol="0" anchor="t">
            <a:normAutofit/>
          </a:bodyPr>
          <a:lstStyle/>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The supply chain dataset was obtained from </a:t>
            </a:r>
            <a:r>
              <a:rPr lang="en-US" sz="1300" b="1" dirty="0">
                <a:solidFill>
                  <a:srgbClr val="272525"/>
                </a:solidFill>
                <a:latin typeface="Inter Bold" pitchFamily="34" charset="0"/>
                <a:ea typeface="Inter Bold" pitchFamily="34" charset="-122"/>
                <a:cs typeface="Inter Bold" pitchFamily="34" charset="-120"/>
              </a:rPr>
              <a:t>Kaggle</a:t>
            </a:r>
            <a:r>
              <a:rPr lang="en-US" sz="1300" dirty="0">
                <a:solidFill>
                  <a:srgbClr val="272525"/>
                </a:solidFill>
                <a:latin typeface="Inter" pitchFamily="34" charset="0"/>
                <a:ea typeface="Inter" pitchFamily="34" charset="-122"/>
                <a:cs typeface="Inter" pitchFamily="34" charset="-120"/>
              </a:rPr>
              <a:t> for analytical purposes.</a:t>
            </a:r>
            <a:endParaRPr lang="en-US" sz="1300" dirty="0"/>
          </a:p>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The dataset consists of </a:t>
            </a:r>
            <a:r>
              <a:rPr lang="en-US" sz="1300" b="1" dirty="0">
                <a:solidFill>
                  <a:srgbClr val="272525"/>
                </a:solidFill>
                <a:latin typeface="Inter Bold" pitchFamily="34" charset="0"/>
                <a:ea typeface="Inter Bold" pitchFamily="34" charset="-122"/>
                <a:cs typeface="Inter Bold" pitchFamily="34" charset="-120"/>
              </a:rPr>
              <a:t>2,000 records and 21 attributes</a:t>
            </a:r>
            <a:r>
              <a:rPr lang="en-US" sz="1300" dirty="0">
                <a:solidFill>
                  <a:srgbClr val="272525"/>
                </a:solidFill>
                <a:latin typeface="Inter" pitchFamily="34" charset="0"/>
                <a:ea typeface="Inter" pitchFamily="34" charset="-122"/>
                <a:cs typeface="Inter" pitchFamily="34" charset="-120"/>
              </a:rPr>
              <a:t> covering key supply chain activities.</a:t>
            </a:r>
            <a:endParaRPr lang="en-US" sz="1300" dirty="0"/>
          </a:p>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It includes information related to </a:t>
            </a:r>
            <a:r>
              <a:rPr lang="en-US" sz="1300" b="1" dirty="0">
                <a:solidFill>
                  <a:srgbClr val="272525"/>
                </a:solidFill>
                <a:latin typeface="Inter Bold" pitchFamily="34" charset="0"/>
                <a:ea typeface="Inter Bold" pitchFamily="34" charset="-122"/>
                <a:cs typeface="Inter Bold" pitchFamily="34" charset="-120"/>
              </a:rPr>
              <a:t>orders, inventory, suppliers, transportation, logistics, and delivery performance</a:t>
            </a:r>
            <a:r>
              <a:rPr lang="en-US" sz="1300" dirty="0">
                <a:solidFill>
                  <a:srgbClr val="272525"/>
                </a:solidFill>
                <a:latin typeface="Inter" pitchFamily="34" charset="0"/>
                <a:ea typeface="Inter" pitchFamily="34" charset="-122"/>
                <a:cs typeface="Inter" pitchFamily="34" charset="-120"/>
              </a:rPr>
              <a:t>.</a:t>
            </a:r>
            <a:endParaRPr lang="en-US" sz="1300" dirty="0"/>
          </a:p>
        </p:txBody>
      </p:sp>
      <p:sp>
        <p:nvSpPr>
          <p:cNvPr id="5" name="Text 3"/>
          <p:cNvSpPr/>
          <p:nvPr/>
        </p:nvSpPr>
        <p:spPr>
          <a:xfrm>
            <a:off x="661475" y="2658864"/>
            <a:ext cx="10868745" cy="314027"/>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Inter Bold" pitchFamily="34" charset="0"/>
                <a:ea typeface="Inter Bold" pitchFamily="34" charset="-122"/>
                <a:cs typeface="Inter Bold" pitchFamily="34" charset="-120"/>
              </a:rPr>
              <a:t>Data Understanding</a:t>
            </a:r>
            <a:endParaRPr lang="en-US" sz="1950" dirty="0"/>
          </a:p>
        </p:txBody>
      </p:sp>
      <p:sp>
        <p:nvSpPr>
          <p:cNvPr id="6" name="Text 4"/>
          <p:cNvSpPr/>
          <p:nvPr/>
        </p:nvSpPr>
        <p:spPr>
          <a:xfrm>
            <a:off x="661475" y="3195340"/>
            <a:ext cx="10868745" cy="1418729"/>
          </a:xfrm>
          <a:prstGeom prst="rect">
            <a:avLst/>
          </a:prstGeom>
          <a:noFill/>
          <a:ln/>
        </p:spPr>
        <p:txBody>
          <a:bodyPr wrap="square" lIns="0" tIns="0" rIns="0" bIns="0" rtlCol="0" anchor="t">
            <a:normAutofit/>
          </a:bodyPr>
          <a:lstStyle/>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Examined the </a:t>
            </a:r>
            <a:r>
              <a:rPr lang="en-US" sz="1300" b="1" dirty="0">
                <a:solidFill>
                  <a:srgbClr val="272525"/>
                </a:solidFill>
                <a:latin typeface="Inter Bold" pitchFamily="34" charset="0"/>
                <a:ea typeface="Inter Bold" pitchFamily="34" charset="-122"/>
                <a:cs typeface="Inter Bold" pitchFamily="34" charset="-120"/>
              </a:rPr>
              <a:t>structure, attributes, and data types</a:t>
            </a:r>
            <a:r>
              <a:rPr lang="en-US" sz="1300" dirty="0">
                <a:solidFill>
                  <a:srgbClr val="272525"/>
                </a:solidFill>
                <a:latin typeface="Inter" pitchFamily="34" charset="0"/>
                <a:ea typeface="Inter" pitchFamily="34" charset="-122"/>
                <a:cs typeface="Inter" pitchFamily="34" charset="-120"/>
              </a:rPr>
              <a:t> of the dataset.</a:t>
            </a:r>
            <a:endParaRPr lang="en-US" sz="1300" dirty="0"/>
          </a:p>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Identified and assessed </a:t>
            </a:r>
            <a:r>
              <a:rPr lang="en-US" sz="1300" b="1" dirty="0">
                <a:solidFill>
                  <a:srgbClr val="272525"/>
                </a:solidFill>
                <a:latin typeface="Inter Bold" pitchFamily="34" charset="0"/>
                <a:ea typeface="Inter Bold" pitchFamily="34" charset="-122"/>
                <a:cs typeface="Inter Bold" pitchFamily="34" charset="-120"/>
              </a:rPr>
              <a:t>missing values, duplicate records, and data inconsistencies</a:t>
            </a:r>
            <a:r>
              <a:rPr lang="en-US" sz="1300" dirty="0">
                <a:solidFill>
                  <a:srgbClr val="272525"/>
                </a:solidFill>
                <a:latin typeface="Inter" pitchFamily="34" charset="0"/>
                <a:ea typeface="Inter" pitchFamily="34" charset="-122"/>
                <a:cs typeface="Inter" pitchFamily="34" charset="-120"/>
              </a:rPr>
              <a:t>.</a:t>
            </a:r>
            <a:endParaRPr lang="en-US" sz="1300" dirty="0"/>
          </a:p>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Analyzed the relationships between </a:t>
            </a:r>
            <a:r>
              <a:rPr lang="en-US" sz="1300" b="1" dirty="0">
                <a:solidFill>
                  <a:srgbClr val="272525"/>
                </a:solidFill>
                <a:latin typeface="Inter Bold" pitchFamily="34" charset="0"/>
                <a:ea typeface="Inter Bold" pitchFamily="34" charset="-122"/>
                <a:cs typeface="Inter Bold" pitchFamily="34" charset="-120"/>
              </a:rPr>
              <a:t>orders, inventory, transportation, delivery, and supplier information</a:t>
            </a:r>
            <a:r>
              <a:rPr lang="en-US" sz="1300" dirty="0">
                <a:solidFill>
                  <a:srgbClr val="272525"/>
                </a:solidFill>
                <a:latin typeface="Inter" pitchFamily="34" charset="0"/>
                <a:ea typeface="Inter" pitchFamily="34" charset="-122"/>
                <a:cs typeface="Inter" pitchFamily="34" charset="-120"/>
              </a:rPr>
              <a:t>.</a:t>
            </a:r>
            <a:endParaRPr lang="en-US" sz="1300" dirty="0"/>
          </a:p>
          <a:p>
            <a:pPr marL="264160" indent="-264160" algn="l">
              <a:lnSpc>
                <a:spcPct val="126000"/>
              </a:lnSpc>
              <a:buSzPct val="100000"/>
              <a:buChar char="•"/>
            </a:pPr>
            <a:r>
              <a:rPr lang="en-US" sz="1300" dirty="0">
                <a:solidFill>
                  <a:srgbClr val="272525"/>
                </a:solidFill>
                <a:latin typeface="Inter" pitchFamily="34" charset="0"/>
                <a:ea typeface="Inter" pitchFamily="34" charset="-122"/>
                <a:cs typeface="Inter" pitchFamily="34" charset="-120"/>
              </a:rPr>
              <a:t>Reviewed key variables such as </a:t>
            </a:r>
            <a:r>
              <a:rPr lang="en-US" sz="1300" b="1" dirty="0">
                <a:solidFill>
                  <a:srgbClr val="272525"/>
                </a:solidFill>
                <a:latin typeface="Inter Bold" pitchFamily="34" charset="0"/>
                <a:ea typeface="Inter Bold" pitchFamily="34" charset="-122"/>
                <a:cs typeface="Inter Bold" pitchFamily="34" charset="-120"/>
              </a:rPr>
              <a:t>transport cost, delivery time, inventory turnover, and product categories</a:t>
            </a:r>
            <a:r>
              <a:rPr lang="en-US" sz="1300" dirty="0">
                <a:solidFill>
                  <a:srgbClr val="272525"/>
                </a:solidFill>
                <a:latin typeface="Inter" pitchFamily="34" charset="0"/>
                <a:ea typeface="Inter" pitchFamily="34" charset="-122"/>
                <a:cs typeface="Inter" pitchFamily="34" charset="-120"/>
              </a:rPr>
              <a:t> to understand their impact on supply chain performance.</a:t>
            </a:r>
            <a:endParaRPr lang="en-US" sz="1300" dirty="0"/>
          </a:p>
        </p:txBody>
      </p:sp>
      <p:sp>
        <p:nvSpPr>
          <p:cNvPr id="7" name="Text 5"/>
          <p:cNvSpPr/>
          <p:nvPr/>
        </p:nvSpPr>
        <p:spPr>
          <a:xfrm>
            <a:off x="661475" y="4836517"/>
            <a:ext cx="10868745" cy="314027"/>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Inter Bold" pitchFamily="34" charset="0"/>
                <a:ea typeface="Inter Bold" pitchFamily="34" charset="-122"/>
                <a:cs typeface="Inter Bold" pitchFamily="34" charset="-120"/>
              </a:rPr>
              <a:t>Objective</a:t>
            </a:r>
            <a:endParaRPr lang="en-US" sz="1950" dirty="0"/>
          </a:p>
        </p:txBody>
      </p:sp>
      <p:sp>
        <p:nvSpPr>
          <p:cNvPr id="8" name="Text 6"/>
          <p:cNvSpPr/>
          <p:nvPr/>
        </p:nvSpPr>
        <p:spPr>
          <a:xfrm>
            <a:off x="661475" y="5372993"/>
            <a:ext cx="10868745" cy="505222"/>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272525"/>
                </a:solidFill>
                <a:latin typeface="Inter" pitchFamily="34" charset="0"/>
                <a:ea typeface="Inter" pitchFamily="34" charset="-122"/>
                <a:cs typeface="Inter" pitchFamily="34" charset="-120"/>
              </a:rPr>
              <a:t>To understand the </a:t>
            </a:r>
            <a:r>
              <a:rPr lang="en-US" sz="1300" b="1" dirty="0">
                <a:solidFill>
                  <a:srgbClr val="272525"/>
                </a:solidFill>
                <a:latin typeface="Inter Bold" pitchFamily="34" charset="0"/>
                <a:ea typeface="Inter Bold" pitchFamily="34" charset="-122"/>
                <a:cs typeface="Inter Bold" pitchFamily="34" charset="-120"/>
              </a:rPr>
              <a:t>structure, quality, and relationships within the supply chain dataset</a:t>
            </a:r>
            <a:r>
              <a:rPr lang="en-US" sz="1300" dirty="0">
                <a:solidFill>
                  <a:srgbClr val="272525"/>
                </a:solidFill>
                <a:latin typeface="Inter" pitchFamily="34" charset="0"/>
                <a:ea typeface="Inter" pitchFamily="34" charset="-122"/>
                <a:cs typeface="Inter" pitchFamily="34" charset="-120"/>
              </a:rPr>
              <a:t> and establish a reliable foundation for further data preprocessing, analysis, visualization, and performance optimization.</a:t>
            </a:r>
            <a:endParaRPr lang="en-US" sz="1300" dirty="0"/>
          </a:p>
        </p:txBody>
      </p:sp>
      <p:sp>
        <p:nvSpPr>
          <p:cNvPr id="9" name="Text 7"/>
          <p:cNvSpPr/>
          <p:nvPr/>
        </p:nvSpPr>
        <p:spPr>
          <a:xfrm>
            <a:off x="51890" y="6045101"/>
            <a:ext cx="11478330" cy="252611"/>
          </a:xfrm>
          <a:prstGeom prst="rect">
            <a:avLst/>
          </a:prstGeom>
          <a:noFill/>
          <a:ln/>
        </p:spPr>
        <p:txBody>
          <a:bodyPr wrap="none" lIns="0" tIns="0" rIns="0" bIns="0" rtlCol="0" anchor="t"/>
          <a:lstStyle/>
          <a:p>
            <a:pPr marL="0" indent="0" algn="r">
              <a:lnSpc>
                <a:spcPct val="126000"/>
              </a:lnSpc>
              <a:buNone/>
            </a:pPr>
            <a:r>
              <a:rPr lang="en-US" sz="1300" dirty="0">
                <a:solidFill>
                  <a:srgbClr val="272525"/>
                </a:solidFill>
                <a:latin typeface="Inter" pitchFamily="34" charset="0"/>
                <a:ea typeface="Inter" pitchFamily="34" charset="-122"/>
                <a:cs typeface="Inter"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217712"/>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Data Connection</a:t>
            </a:r>
            <a:endParaRPr lang="en-US" sz="2950" dirty="0"/>
          </a:p>
        </p:txBody>
      </p:sp>
      <p:sp>
        <p:nvSpPr>
          <p:cNvPr id="3" name="Text 1"/>
          <p:cNvSpPr/>
          <p:nvPr/>
        </p:nvSpPr>
        <p:spPr>
          <a:xfrm>
            <a:off x="661475" y="1765796"/>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Process:</a:t>
            </a:r>
            <a:endParaRPr lang="en-US" sz="2200" dirty="0"/>
          </a:p>
        </p:txBody>
      </p:sp>
      <p:sp>
        <p:nvSpPr>
          <p:cNvPr id="4" name="Text 2"/>
          <p:cNvSpPr/>
          <p:nvPr/>
        </p:nvSpPr>
        <p:spPr>
          <a:xfrm>
            <a:off x="661475" y="2403673"/>
            <a:ext cx="10868745" cy="171033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Connected the supply chain dataset to </a:t>
            </a:r>
            <a:r>
              <a:rPr lang="en-US" sz="1450" b="1" dirty="0">
                <a:solidFill>
                  <a:srgbClr val="272525"/>
                </a:solidFill>
                <a:latin typeface="Inter Bold" pitchFamily="34" charset="0"/>
                <a:ea typeface="Inter Bold" pitchFamily="34" charset="-122"/>
                <a:cs typeface="Inter Bold" pitchFamily="34" charset="-120"/>
              </a:rPr>
              <a:t>Power BI</a:t>
            </a:r>
            <a:r>
              <a:rPr lang="en-US" sz="1450" dirty="0">
                <a:solidFill>
                  <a:srgbClr val="272525"/>
                </a:solidFill>
                <a:latin typeface="Inter" pitchFamily="34" charset="0"/>
                <a:ea typeface="Inter" pitchFamily="34" charset="-122"/>
                <a:cs typeface="Inter" pitchFamily="34" charset="-120"/>
              </a:rPr>
              <a:t> for further analysis and visualization.</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Imported the available supply chain data containing </a:t>
            </a:r>
            <a:r>
              <a:rPr lang="en-US" sz="1450" b="1" dirty="0">
                <a:solidFill>
                  <a:srgbClr val="272525"/>
                </a:solidFill>
                <a:latin typeface="Inter Bold" pitchFamily="34" charset="0"/>
                <a:ea typeface="Inter Bold" pitchFamily="34" charset="-122"/>
                <a:cs typeface="Inter Bold" pitchFamily="34" charset="-120"/>
              </a:rPr>
              <a:t>order, inventory, supplier, transportation, and delivery information</a:t>
            </a:r>
            <a:r>
              <a:rPr lang="en-US" sz="1450" dirty="0">
                <a:solidFill>
                  <a:srgbClr val="272525"/>
                </a:solidFill>
                <a:latin typeface="Inter" pitchFamily="34" charset="0"/>
                <a:ea typeface="Inter" pitchFamily="34" charset="-122"/>
                <a:cs typeface="Inter" pitchFamily="34" charset="-120"/>
              </a:rPr>
              <a:t>.</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Established relationships between relevant fields to connect different aspects of the supply chain data.</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Created a structured data model to support </a:t>
            </a:r>
            <a:r>
              <a:rPr lang="en-US" sz="1450" b="1" dirty="0">
                <a:solidFill>
                  <a:srgbClr val="272525"/>
                </a:solidFill>
                <a:latin typeface="Inter Bold" pitchFamily="34" charset="0"/>
                <a:ea typeface="Inter Bold" pitchFamily="34" charset="-122"/>
                <a:cs typeface="Inter Bold" pitchFamily="34" charset="-120"/>
              </a:rPr>
              <a:t>interactive reporting and dashboard development</a:t>
            </a:r>
            <a:r>
              <a:rPr lang="en-US" sz="1450" dirty="0">
                <a:solidFill>
                  <a:srgbClr val="272525"/>
                </a:solidFill>
                <a:latin typeface="Inter" pitchFamily="34" charset="0"/>
                <a:ea typeface="Inter" pitchFamily="34" charset="-122"/>
                <a:cs typeface="Inter" pitchFamily="34" charset="-120"/>
              </a:rPr>
              <a:t>.</a:t>
            </a:r>
            <a:endParaRPr lang="en-US" sz="1450" dirty="0"/>
          </a:p>
        </p:txBody>
      </p:sp>
      <p:sp>
        <p:nvSpPr>
          <p:cNvPr id="5" name="Text 3"/>
          <p:cNvSpPr/>
          <p:nvPr/>
        </p:nvSpPr>
        <p:spPr>
          <a:xfrm>
            <a:off x="661475" y="4397474"/>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Outcome:</a:t>
            </a:r>
            <a:endParaRPr lang="en-US" sz="2200" dirty="0"/>
          </a:p>
        </p:txBody>
      </p:sp>
      <p:sp>
        <p:nvSpPr>
          <p:cNvPr id="6" name="Text 4"/>
          <p:cNvSpPr/>
          <p:nvPr/>
        </p:nvSpPr>
        <p:spPr>
          <a:xfrm>
            <a:off x="661475" y="5035352"/>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A </a:t>
            </a:r>
            <a:r>
              <a:rPr lang="en-US" sz="1450" b="1" dirty="0">
                <a:solidFill>
                  <a:srgbClr val="272525"/>
                </a:solidFill>
                <a:latin typeface="Inter Bold" pitchFamily="34" charset="0"/>
                <a:ea typeface="Inter Bold" pitchFamily="34" charset="-122"/>
                <a:cs typeface="Inter Bold" pitchFamily="34" charset="-120"/>
              </a:rPr>
              <a:t>connected and structured data model</a:t>
            </a:r>
            <a:r>
              <a:rPr lang="en-US" sz="1450" dirty="0">
                <a:solidFill>
                  <a:srgbClr val="272525"/>
                </a:solidFill>
                <a:latin typeface="Inter" pitchFamily="34" charset="0"/>
                <a:ea typeface="Inter" pitchFamily="34" charset="-122"/>
                <a:cs typeface="Inter" pitchFamily="34" charset="-120"/>
              </a:rPr>
              <a:t> that provides a comprehensive view of supply chain operations and enables effective analysis of </a:t>
            </a:r>
            <a:r>
              <a:rPr lang="en-US" sz="1450" b="1" dirty="0">
                <a:solidFill>
                  <a:srgbClr val="272525"/>
                </a:solidFill>
                <a:latin typeface="Inter Bold" pitchFamily="34" charset="0"/>
                <a:ea typeface="Inter Bold" pitchFamily="34" charset="-122"/>
                <a:cs typeface="Inter Bold" pitchFamily="34" charset="-120"/>
              </a:rPr>
              <a:t>transport costs, delivery performance, inventory turnover, and supplier activity</a:t>
            </a:r>
            <a:r>
              <a:rPr lang="en-US" sz="1450" dirty="0">
                <a:solidFill>
                  <a:srgbClr val="272525"/>
                </a:solidFill>
                <a:latin typeface="Inter" pitchFamily="34" charset="0"/>
                <a:ea typeface="Inter" pitchFamily="34" charset="-122"/>
                <a:cs typeface="Inter" pitchFamily="34" charset="-120"/>
              </a:rPr>
              <a:t>.7</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99679"/>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Data Preprocessing</a:t>
            </a:r>
            <a:endParaRPr lang="en-US" sz="2950" dirty="0"/>
          </a:p>
        </p:txBody>
      </p:sp>
      <p:sp>
        <p:nvSpPr>
          <p:cNvPr id="3" name="Text 1"/>
          <p:cNvSpPr/>
          <p:nvPr/>
        </p:nvSpPr>
        <p:spPr>
          <a:xfrm>
            <a:off x="661475" y="2155627"/>
            <a:ext cx="10868745" cy="177641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Removed </a:t>
            </a:r>
            <a:r>
              <a:rPr lang="en-US" sz="1450" b="1" dirty="0">
                <a:solidFill>
                  <a:srgbClr val="272525"/>
                </a:solidFill>
                <a:latin typeface="Inter Bold" pitchFamily="34" charset="0"/>
                <a:ea typeface="Inter Bold" pitchFamily="34" charset="-122"/>
                <a:cs typeface="Inter Bold" pitchFamily="34" charset="-120"/>
              </a:rPr>
              <a:t>duplicate records</a:t>
            </a:r>
            <a:r>
              <a:rPr lang="en-US" sz="1450" dirty="0">
                <a:solidFill>
                  <a:srgbClr val="272525"/>
                </a:solidFill>
                <a:latin typeface="Inter" pitchFamily="34" charset="0"/>
                <a:ea typeface="Inter" pitchFamily="34" charset="-122"/>
                <a:cs typeface="Inter" pitchFamily="34" charset="-120"/>
              </a:rPr>
              <a:t> to maintain data accuracy and consistency.</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Identified and handled </a:t>
            </a:r>
            <a:r>
              <a:rPr lang="en-US" sz="1450" b="1" dirty="0">
                <a:solidFill>
                  <a:srgbClr val="272525"/>
                </a:solidFill>
                <a:latin typeface="Inter Bold" pitchFamily="34" charset="0"/>
                <a:ea typeface="Inter Bold" pitchFamily="34" charset="-122"/>
                <a:cs typeface="Inter Bold" pitchFamily="34" charset="-120"/>
              </a:rPr>
              <a:t>missing and inconsistent values</a:t>
            </a:r>
            <a:r>
              <a:rPr lang="en-US" sz="1450" dirty="0">
                <a:solidFill>
                  <a:srgbClr val="272525"/>
                </a:solidFill>
                <a:latin typeface="Inter" pitchFamily="34" charset="0"/>
                <a:ea typeface="Inter" pitchFamily="34" charset="-122"/>
                <a:cs typeface="Inter" pitchFamily="34" charset="-120"/>
              </a:rPr>
              <a:t> in the dataset.</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Standardized </a:t>
            </a:r>
            <a:r>
              <a:rPr lang="en-US" sz="1450" b="1" dirty="0">
                <a:solidFill>
                  <a:srgbClr val="272525"/>
                </a:solidFill>
                <a:latin typeface="Inter Bold" pitchFamily="34" charset="0"/>
                <a:ea typeface="Inter Bold" pitchFamily="34" charset="-122"/>
                <a:cs typeface="Inter Bold" pitchFamily="34" charset="-120"/>
              </a:rPr>
              <a:t>date formats and location-related data</a:t>
            </a:r>
            <a:r>
              <a:rPr lang="en-US" sz="1450" dirty="0">
                <a:solidFill>
                  <a:srgbClr val="272525"/>
                </a:solidFill>
                <a:latin typeface="Inter" pitchFamily="34" charset="0"/>
                <a:ea typeface="Inter" pitchFamily="34" charset="-122"/>
                <a:cs typeface="Inter" pitchFamily="34" charset="-120"/>
              </a:rPr>
              <a:t> for consistent analysis.</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Created and derived relevant fields to support analysis of </a:t>
            </a:r>
            <a:r>
              <a:rPr lang="en-US" sz="1450" b="1" dirty="0">
                <a:solidFill>
                  <a:srgbClr val="272525"/>
                </a:solidFill>
                <a:latin typeface="Inter Bold" pitchFamily="34" charset="0"/>
                <a:ea typeface="Inter Bold" pitchFamily="34" charset="-122"/>
                <a:cs typeface="Inter Bold" pitchFamily="34" charset="-120"/>
              </a:rPr>
              <a:t>delivery performance and inventory movement</a:t>
            </a:r>
            <a:r>
              <a:rPr lang="en-US" sz="1450" dirty="0">
                <a:solidFill>
                  <a:srgbClr val="272525"/>
                </a:solidFill>
                <a:latin typeface="Inter" pitchFamily="34" charset="0"/>
                <a:ea typeface="Inter" pitchFamily="34" charset="-122"/>
                <a:cs typeface="Inter" pitchFamily="34" charset="-120"/>
              </a:rPr>
              <a:t>.</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Validated the processed data to ensure </a:t>
            </a:r>
            <a:r>
              <a:rPr lang="en-US" sz="1450" b="1" dirty="0">
                <a:solidFill>
                  <a:srgbClr val="272525"/>
                </a:solidFill>
                <a:latin typeface="Inter Bold" pitchFamily="34" charset="0"/>
                <a:ea typeface="Inter Bold" pitchFamily="34" charset="-122"/>
                <a:cs typeface="Inter Bold" pitchFamily="34" charset="-120"/>
              </a:rPr>
              <a:t>data quality and reliability</a:t>
            </a:r>
            <a:r>
              <a:rPr lang="en-US" sz="1450" dirty="0">
                <a:solidFill>
                  <a:srgbClr val="272525"/>
                </a:solidFill>
                <a:latin typeface="Inter" pitchFamily="34" charset="0"/>
                <a:ea typeface="Inter" pitchFamily="34" charset="-122"/>
                <a:cs typeface="Inter" pitchFamily="34" charset="-120"/>
              </a:rPr>
              <a:t> for reporting and visualization.</a:t>
            </a:r>
            <a:endParaRPr lang="en-US" sz="1450" dirty="0"/>
          </a:p>
        </p:txBody>
      </p:sp>
      <p:sp>
        <p:nvSpPr>
          <p:cNvPr id="4" name="Text 2"/>
          <p:cNvSpPr/>
          <p:nvPr/>
        </p:nvSpPr>
        <p:spPr>
          <a:xfrm>
            <a:off x="661475" y="4215507"/>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Result</a:t>
            </a:r>
            <a:endParaRPr lang="en-US" sz="2200" dirty="0"/>
          </a:p>
        </p:txBody>
      </p:sp>
      <p:sp>
        <p:nvSpPr>
          <p:cNvPr id="5" name="Text 3"/>
          <p:cNvSpPr/>
          <p:nvPr/>
        </p:nvSpPr>
        <p:spPr>
          <a:xfrm>
            <a:off x="661475" y="4853384"/>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A </a:t>
            </a:r>
            <a:r>
              <a:rPr lang="en-US" sz="1450" b="1" dirty="0">
                <a:solidFill>
                  <a:srgbClr val="272525"/>
                </a:solidFill>
                <a:latin typeface="Inter Bold" pitchFamily="34" charset="0"/>
                <a:ea typeface="Inter Bold" pitchFamily="34" charset="-122"/>
                <a:cs typeface="Inter Bold" pitchFamily="34" charset="-120"/>
              </a:rPr>
              <a:t>clean, consistent, and analysis-ready dataset</a:t>
            </a:r>
            <a:r>
              <a:rPr lang="en-US" sz="1450" dirty="0">
                <a:solidFill>
                  <a:srgbClr val="272525"/>
                </a:solidFill>
                <a:latin typeface="Inter" pitchFamily="34" charset="0"/>
                <a:ea typeface="Inter" pitchFamily="34" charset="-122"/>
                <a:cs typeface="Inter" pitchFamily="34" charset="-120"/>
              </a:rPr>
              <a:t> that improves the accuracy of supply chain analysis, dashboards, and business insights.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21023"/>
            <a:ext cx="10868745" cy="378023"/>
          </a:xfrm>
          <a:prstGeom prst="rect">
            <a:avLst/>
          </a:prstGeom>
          <a:noFill/>
          <a:ln/>
        </p:spPr>
        <p:txBody>
          <a:bodyPr wrap="none" lIns="0" tIns="0" rIns="0" bIns="0" rtlCol="0" anchor="t"/>
          <a:lstStyle/>
          <a:p>
            <a:pPr marL="0" indent="0" algn="l">
              <a:lnSpc>
                <a:spcPct val="104000"/>
              </a:lnSpc>
              <a:buNone/>
            </a:pPr>
            <a:r>
              <a:rPr lang="en-US" sz="2350" b="1" dirty="0">
                <a:solidFill>
                  <a:srgbClr val="000000"/>
                </a:solidFill>
                <a:latin typeface="Inter Bold" pitchFamily="34" charset="0"/>
                <a:ea typeface="Inter Bold" pitchFamily="34" charset="-122"/>
                <a:cs typeface="Inter Bold" pitchFamily="34" charset="-120"/>
              </a:rPr>
              <a:t>Data Modeling</a:t>
            </a:r>
            <a:endParaRPr lang="en-US" sz="2350" dirty="0"/>
          </a:p>
        </p:txBody>
      </p:sp>
      <p:sp>
        <p:nvSpPr>
          <p:cNvPr id="3" name="Text 1"/>
          <p:cNvSpPr/>
          <p:nvPr/>
        </p:nvSpPr>
        <p:spPr>
          <a:xfrm>
            <a:off x="661475" y="1280418"/>
            <a:ext cx="10868745" cy="1257498"/>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Analyzed </a:t>
            </a:r>
            <a:r>
              <a:rPr lang="en-US" sz="1150" b="1" dirty="0">
                <a:solidFill>
                  <a:srgbClr val="272525"/>
                </a:solidFill>
                <a:latin typeface="Inter Bold" pitchFamily="34" charset="0"/>
                <a:ea typeface="Inter Bold" pitchFamily="34" charset="-122"/>
                <a:cs typeface="Inter Bold" pitchFamily="34" charset="-120"/>
              </a:rPr>
              <a:t>inventory trends</a:t>
            </a:r>
            <a:r>
              <a:rPr lang="en-US" sz="1150" dirty="0">
                <a:solidFill>
                  <a:srgbClr val="272525"/>
                </a:solidFill>
                <a:latin typeface="Inter" pitchFamily="34" charset="0"/>
                <a:ea typeface="Inter" pitchFamily="34" charset="-122"/>
                <a:cs typeface="Inter" pitchFamily="34" charset="-120"/>
              </a:rPr>
              <a:t> across different warehouses and product categories.</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Evaluated </a:t>
            </a:r>
            <a:r>
              <a:rPr lang="en-US" sz="1150" b="1" dirty="0">
                <a:solidFill>
                  <a:srgbClr val="272525"/>
                </a:solidFill>
                <a:latin typeface="Inter Bold" pitchFamily="34" charset="0"/>
                <a:ea typeface="Inter Bold" pitchFamily="34" charset="-122"/>
                <a:cs typeface="Inter Bold" pitchFamily="34" charset="-120"/>
              </a:rPr>
              <a:t>supplier and delivery performance</a:t>
            </a:r>
            <a:r>
              <a:rPr lang="en-US" sz="1150" dirty="0">
                <a:solidFill>
                  <a:srgbClr val="272525"/>
                </a:solidFill>
                <a:latin typeface="Inter" pitchFamily="34" charset="0"/>
                <a:ea typeface="Inter" pitchFamily="34" charset="-122"/>
                <a:cs typeface="Inter" pitchFamily="34" charset="-120"/>
              </a:rPr>
              <a:t> to identify variations in operational efficiency.</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Compared </a:t>
            </a:r>
            <a:r>
              <a:rPr lang="en-US" sz="1150" b="1" dirty="0">
                <a:solidFill>
                  <a:srgbClr val="272525"/>
                </a:solidFill>
                <a:latin typeface="Inter Bold" pitchFamily="34" charset="0"/>
                <a:ea typeface="Inter Bold" pitchFamily="34" charset="-122"/>
                <a:cs typeface="Inter Bold" pitchFamily="34" charset="-120"/>
              </a:rPr>
              <a:t>planned and actual delivery times</a:t>
            </a:r>
            <a:r>
              <a:rPr lang="en-US" sz="1150" dirty="0">
                <a:solidFill>
                  <a:srgbClr val="272525"/>
                </a:solidFill>
                <a:latin typeface="Inter" pitchFamily="34" charset="0"/>
                <a:ea typeface="Inter" pitchFamily="34" charset="-122"/>
                <a:cs typeface="Inter" pitchFamily="34" charset="-120"/>
              </a:rPr>
              <a:t> to identify potential delays and performance gaps.</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Analyzed </a:t>
            </a:r>
            <a:r>
              <a:rPr lang="en-US" sz="1150" b="1" dirty="0">
                <a:solidFill>
                  <a:srgbClr val="272525"/>
                </a:solidFill>
                <a:latin typeface="Inter Bold" pitchFamily="34" charset="0"/>
                <a:ea typeface="Inter Bold" pitchFamily="34" charset="-122"/>
                <a:cs typeface="Inter Bold" pitchFamily="34" charset="-120"/>
              </a:rPr>
              <a:t>transportation costs</a:t>
            </a:r>
            <a:r>
              <a:rPr lang="en-US" sz="1150" dirty="0">
                <a:solidFill>
                  <a:srgbClr val="272525"/>
                </a:solidFill>
                <a:latin typeface="Inter" pitchFamily="34" charset="0"/>
                <a:ea typeface="Inter" pitchFamily="34" charset="-122"/>
                <a:cs typeface="Inter" pitchFamily="34" charset="-120"/>
              </a:rPr>
              <a:t> to identify high-cost transport modes and areas for cost optimization.</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Monitored key </a:t>
            </a:r>
            <a:r>
              <a:rPr lang="en-US" sz="1150" b="1" dirty="0">
                <a:solidFill>
                  <a:srgbClr val="272525"/>
                </a:solidFill>
                <a:latin typeface="Inter Bold" pitchFamily="34" charset="0"/>
                <a:ea typeface="Inter Bold" pitchFamily="34" charset="-122"/>
                <a:cs typeface="Inter Bold" pitchFamily="34" charset="-120"/>
              </a:rPr>
              <a:t>supply chain performance indicators (KPIs)</a:t>
            </a:r>
            <a:r>
              <a:rPr lang="en-US" sz="1150" dirty="0">
                <a:solidFill>
                  <a:srgbClr val="272525"/>
                </a:solidFill>
                <a:latin typeface="Inter" pitchFamily="34" charset="0"/>
                <a:ea typeface="Inter" pitchFamily="34" charset="-122"/>
                <a:cs typeface="Inter" pitchFamily="34" charset="-120"/>
              </a:rPr>
              <a:t> to evaluate overall operational efficiency.</a:t>
            </a:r>
            <a:endParaRPr lang="en-US" sz="1150" dirty="0"/>
          </a:p>
        </p:txBody>
      </p:sp>
      <p:sp>
        <p:nvSpPr>
          <p:cNvPr id="4" name="Text 2"/>
          <p:cNvSpPr/>
          <p:nvPr/>
        </p:nvSpPr>
        <p:spPr>
          <a:xfrm>
            <a:off x="661475" y="2719288"/>
            <a:ext cx="10868745" cy="283468"/>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Inter Bold" pitchFamily="34" charset="0"/>
                <a:ea typeface="Inter Bold" pitchFamily="34" charset="-122"/>
                <a:cs typeface="Inter Bold" pitchFamily="34" charset="-120"/>
              </a:rPr>
              <a:t>Key Performance Indicators (KPIs)</a:t>
            </a:r>
            <a:endParaRPr lang="en-US" sz="1750" dirty="0"/>
          </a:p>
        </p:txBody>
      </p:sp>
      <p:sp>
        <p:nvSpPr>
          <p:cNvPr id="5" name="Text 3"/>
          <p:cNvSpPr/>
          <p:nvPr/>
        </p:nvSpPr>
        <p:spPr>
          <a:xfrm>
            <a:off x="661475" y="3184128"/>
            <a:ext cx="10868745" cy="1517452"/>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On-Time Delivery Rate</a:t>
            </a:r>
            <a:r>
              <a:rPr lang="en-US" sz="1150" dirty="0">
                <a:solidFill>
                  <a:srgbClr val="272525"/>
                </a:solidFill>
                <a:latin typeface="Inter" pitchFamily="34" charset="0"/>
                <a:ea typeface="Inter" pitchFamily="34" charset="-122"/>
                <a:cs typeface="Inter" pitchFamily="34" charset="-120"/>
              </a:rPr>
              <a:t> – Measures the percentage of orders delivered on or before the expected delivery date.</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Average Delivery Time</a:t>
            </a:r>
            <a:r>
              <a:rPr lang="en-US" sz="1150" dirty="0">
                <a:solidFill>
                  <a:srgbClr val="272525"/>
                </a:solidFill>
                <a:latin typeface="Inter" pitchFamily="34" charset="0"/>
                <a:ea typeface="Inter" pitchFamily="34" charset="-122"/>
                <a:cs typeface="Inter" pitchFamily="34" charset="-120"/>
              </a:rPr>
              <a:t> – Measures the average number of days required to complete deliveries.</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Inventory Turnover</a:t>
            </a:r>
            <a:r>
              <a:rPr lang="en-US" sz="1150" dirty="0">
                <a:solidFill>
                  <a:srgbClr val="272525"/>
                </a:solidFill>
                <a:latin typeface="Inter" pitchFamily="34" charset="0"/>
                <a:ea typeface="Inter" pitchFamily="34" charset="-122"/>
                <a:cs typeface="Inter" pitchFamily="34" charset="-120"/>
              </a:rPr>
              <a:t> – Evaluates how efficiently inventory is utilized and replenished.</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Order Fulfillment Rate</a:t>
            </a:r>
            <a:r>
              <a:rPr lang="en-US" sz="1150" dirty="0">
                <a:solidFill>
                  <a:srgbClr val="272525"/>
                </a:solidFill>
                <a:latin typeface="Inter" pitchFamily="34" charset="0"/>
                <a:ea typeface="Inter" pitchFamily="34" charset="-122"/>
                <a:cs typeface="Inter" pitchFamily="34" charset="-120"/>
              </a:rPr>
              <a:t> – Measures the percentage of customer orders successfully fulfilled.</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Transportation Cost</a:t>
            </a:r>
            <a:r>
              <a:rPr lang="en-US" sz="1150" dirty="0">
                <a:solidFill>
                  <a:srgbClr val="272525"/>
                </a:solidFill>
                <a:latin typeface="Inter" pitchFamily="34" charset="0"/>
                <a:ea typeface="Inter" pitchFamily="34" charset="-122"/>
                <a:cs typeface="Inter" pitchFamily="34" charset="-120"/>
              </a:rPr>
              <a:t> – Tracks logistics and transportation expenses to identify cost-saving opportunities.</a:t>
            </a:r>
            <a:endParaRPr lang="en-US" sz="1150" dirty="0"/>
          </a:p>
          <a:p>
            <a:pPr marL="233680" indent="-233680" algn="l">
              <a:lnSpc>
                <a:spcPct val="120000"/>
              </a:lnSpc>
              <a:buSzPct val="100000"/>
              <a:buChar char="•"/>
            </a:pPr>
            <a:r>
              <a:rPr lang="en-US" sz="1150" b="1" dirty="0">
                <a:solidFill>
                  <a:srgbClr val="272525"/>
                </a:solidFill>
                <a:latin typeface="Inter Bold" pitchFamily="34" charset="0"/>
                <a:ea typeface="Inter Bold" pitchFamily="34" charset="-122"/>
                <a:cs typeface="Inter Bold" pitchFamily="34" charset="-120"/>
              </a:rPr>
              <a:t>Stock Availability</a:t>
            </a:r>
            <a:r>
              <a:rPr lang="en-US" sz="1150" dirty="0">
                <a:solidFill>
                  <a:srgbClr val="272525"/>
                </a:solidFill>
                <a:latin typeface="Inter" pitchFamily="34" charset="0"/>
                <a:ea typeface="Inter" pitchFamily="34" charset="-122"/>
                <a:cs typeface="Inter" pitchFamily="34" charset="-120"/>
              </a:rPr>
              <a:t> – Monitors the availability of products and helps identify potential shortages or excess inventory.</a:t>
            </a:r>
            <a:endParaRPr lang="en-US" sz="1150" dirty="0"/>
          </a:p>
        </p:txBody>
      </p:sp>
      <p:sp>
        <p:nvSpPr>
          <p:cNvPr id="6" name="Text 4"/>
          <p:cNvSpPr/>
          <p:nvPr/>
        </p:nvSpPr>
        <p:spPr>
          <a:xfrm>
            <a:off x="661475" y="4882952"/>
            <a:ext cx="10868745" cy="283468"/>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Inter Bold" pitchFamily="34" charset="0"/>
                <a:ea typeface="Inter Bold" pitchFamily="34" charset="-122"/>
                <a:cs typeface="Inter Bold" pitchFamily="34" charset="-120"/>
              </a:rPr>
              <a:t>Outcome</a:t>
            </a:r>
            <a:endParaRPr lang="en-US" sz="1750" dirty="0"/>
          </a:p>
        </p:txBody>
      </p:sp>
      <p:sp>
        <p:nvSpPr>
          <p:cNvPr id="7" name="Text 5"/>
          <p:cNvSpPr/>
          <p:nvPr/>
        </p:nvSpPr>
        <p:spPr>
          <a:xfrm>
            <a:off x="661475" y="5347791"/>
            <a:ext cx="10868745" cy="789087"/>
          </a:xfrm>
          <a:prstGeom prst="rect">
            <a:avLst/>
          </a:prstGeom>
          <a:noFill/>
          <a:ln/>
        </p:spPr>
        <p:txBody>
          <a:bodyPr wrap="square" lIns="0" tIns="0" rIns="0" bIns="0" rtlCol="0" anchor="t">
            <a:normAutofit/>
          </a:bodyPr>
          <a:lstStyle/>
          <a:p>
            <a:pPr marL="0" indent="0" algn="l">
              <a:lnSpc>
                <a:spcPct val="120000"/>
              </a:lnSpc>
              <a:spcAft>
                <a:spcPts val="1050"/>
              </a:spcAft>
              <a:buNone/>
            </a:pPr>
            <a:r>
              <a:rPr lang="en-US" sz="1150" dirty="0">
                <a:solidFill>
                  <a:srgbClr val="272525"/>
                </a:solidFill>
                <a:latin typeface="Inter" pitchFamily="34" charset="0"/>
                <a:ea typeface="Inter" pitchFamily="34" charset="-122"/>
                <a:cs typeface="Inter" pitchFamily="34" charset="-120"/>
              </a:rPr>
              <a:t>A structured data model that enables effective analysis of </a:t>
            </a:r>
            <a:r>
              <a:rPr lang="en-US" sz="1150" b="1" dirty="0">
                <a:solidFill>
                  <a:srgbClr val="272525"/>
                </a:solidFill>
                <a:latin typeface="Inter Bold" pitchFamily="34" charset="0"/>
                <a:ea typeface="Inter Bold" pitchFamily="34" charset="-122"/>
                <a:cs typeface="Inter Bold" pitchFamily="34" charset="-120"/>
              </a:rPr>
              <a:t>inventory, logistics, delivery, supplier, and transportation performance</a:t>
            </a:r>
            <a:r>
              <a:rPr lang="en-US" sz="1150" dirty="0">
                <a:solidFill>
                  <a:srgbClr val="272525"/>
                </a:solidFill>
                <a:latin typeface="Inter" pitchFamily="34" charset="0"/>
                <a:ea typeface="Inter" pitchFamily="34" charset="-122"/>
                <a:cs typeface="Inter" pitchFamily="34" charset="-120"/>
              </a:rPr>
              <a:t>, supporting interactive dashboards and data-driven supply chain optimization</a:t>
            </a:r>
            <a:endParaRPr lang="en-US" sz="1150" dirty="0"/>
          </a:p>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A </a:t>
            </a:r>
            <a:r>
              <a:rPr lang="en-US" sz="1150" b="1" dirty="0">
                <a:solidFill>
                  <a:srgbClr val="272525"/>
                </a:solidFill>
                <a:latin typeface="Inter Bold" pitchFamily="34" charset="0"/>
                <a:ea typeface="Inter Bold" pitchFamily="34" charset="-122"/>
                <a:cs typeface="Inter Bold" pitchFamily="34" charset="-120"/>
              </a:rPr>
              <a:t>clean, consistent, and analysis-ready dataset</a:t>
            </a:r>
            <a:r>
              <a:rPr lang="en-US" sz="1150" dirty="0">
                <a:solidFill>
                  <a:srgbClr val="272525"/>
                </a:solidFill>
                <a:latin typeface="Inter" pitchFamily="34" charset="0"/>
                <a:ea typeface="Inter" pitchFamily="34" charset="-122"/>
                <a:cs typeface="Inter" pitchFamily="34" charset="-120"/>
              </a:rPr>
              <a:t> that improves the accuracy of supply chain analysis, dashboards, and business insights.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77552"/>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Dashboard Creation</a:t>
            </a:r>
            <a:endParaRPr lang="en-US" sz="2950" dirty="0"/>
          </a:p>
        </p:txBody>
      </p:sp>
      <p:sp>
        <p:nvSpPr>
          <p:cNvPr id="3" name="Text 1"/>
          <p:cNvSpPr/>
          <p:nvPr/>
        </p:nvSpPr>
        <p:spPr>
          <a:xfrm>
            <a:off x="661475" y="1333500"/>
            <a:ext cx="10868745" cy="3118247"/>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Analyzed </a:t>
            </a:r>
            <a:r>
              <a:rPr lang="en-US" sz="1450" b="1" dirty="0">
                <a:solidFill>
                  <a:srgbClr val="272525"/>
                </a:solidFill>
                <a:latin typeface="Inter Bold" pitchFamily="34" charset="0"/>
                <a:ea typeface="Inter Bold" pitchFamily="34" charset="-122"/>
                <a:cs typeface="Inter Bold" pitchFamily="34" charset="-120"/>
              </a:rPr>
              <a:t>inventory trends</a:t>
            </a:r>
            <a:r>
              <a:rPr lang="en-US" sz="1450" dirty="0">
                <a:solidFill>
                  <a:srgbClr val="272525"/>
                </a:solidFill>
                <a:latin typeface="Inter" pitchFamily="34" charset="0"/>
                <a:ea typeface="Inter" pitchFamily="34" charset="-122"/>
                <a:cs typeface="Inter" pitchFamily="34" charset="-120"/>
              </a:rPr>
              <a:t> across different warehouses and product categories.</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Dashboard Development</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Designed an </a:t>
            </a:r>
            <a:r>
              <a:rPr lang="en-US" sz="1450" b="1" dirty="0">
                <a:solidFill>
                  <a:srgbClr val="272525"/>
                </a:solidFill>
                <a:latin typeface="Inter Bold" pitchFamily="34" charset="0"/>
                <a:ea typeface="Inter Bold" pitchFamily="34" charset="-122"/>
                <a:cs typeface="Inter Bold" pitchFamily="34" charset="-120"/>
              </a:rPr>
              <a:t>interactive Power BI dashboard</a:t>
            </a:r>
            <a:r>
              <a:rPr lang="en-US" sz="1450" dirty="0">
                <a:solidFill>
                  <a:srgbClr val="272525"/>
                </a:solidFill>
                <a:latin typeface="Inter" pitchFamily="34" charset="0"/>
                <a:ea typeface="Inter" pitchFamily="34" charset="-122"/>
                <a:cs typeface="Inter" pitchFamily="34" charset="-120"/>
              </a:rPr>
              <a:t> to provide a comprehensive overview of supply chain performance.</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Created visualizations to monitor </a:t>
            </a:r>
            <a:r>
              <a:rPr lang="en-US" sz="1450" b="1" dirty="0">
                <a:solidFill>
                  <a:srgbClr val="272525"/>
                </a:solidFill>
                <a:latin typeface="Inter Bold" pitchFamily="34" charset="0"/>
                <a:ea typeface="Inter Bold" pitchFamily="34" charset="-122"/>
                <a:cs typeface="Inter Bold" pitchFamily="34" charset="-120"/>
              </a:rPr>
              <a:t>transportation costs, delivery performance, inventory turnover, and order trends</a:t>
            </a:r>
            <a:r>
              <a:rPr lang="en-US" sz="1450" dirty="0">
                <a:solidFill>
                  <a:srgbClr val="272525"/>
                </a:solidFill>
                <a:latin typeface="Inter" pitchFamily="34" charset="0"/>
                <a:ea typeface="Inter" pitchFamily="34" charset="-122"/>
                <a:cs typeface="Inter" pitchFamily="34" charset="-120"/>
              </a:rPr>
              <a:t>.</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Developed charts and KPIs to compare </a:t>
            </a:r>
            <a:r>
              <a:rPr lang="en-US" sz="1450" b="1" dirty="0">
                <a:solidFill>
                  <a:srgbClr val="272525"/>
                </a:solidFill>
                <a:latin typeface="Inter Bold" pitchFamily="34" charset="0"/>
                <a:ea typeface="Inter Bold" pitchFamily="34" charset="-122"/>
                <a:cs typeface="Inter Bold" pitchFamily="34" charset="-120"/>
              </a:rPr>
              <a:t>transport modes, product categories, supplier locations, and delivery cycles</a:t>
            </a:r>
            <a:r>
              <a:rPr lang="en-US" sz="1450" dirty="0">
                <a:solidFill>
                  <a:srgbClr val="272525"/>
                </a:solidFill>
                <a:latin typeface="Inter" pitchFamily="34" charset="0"/>
                <a:ea typeface="Inter" pitchFamily="34" charset="-122"/>
                <a:cs typeface="Inter" pitchFamily="34" charset="-120"/>
              </a:rPr>
              <a:t>.</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Added interactive </a:t>
            </a:r>
            <a:r>
              <a:rPr lang="en-US" sz="1450" b="1" dirty="0">
                <a:solidFill>
                  <a:srgbClr val="272525"/>
                </a:solidFill>
                <a:latin typeface="Inter Bold" pitchFamily="34" charset="0"/>
                <a:ea typeface="Inter Bold" pitchFamily="34" charset="-122"/>
                <a:cs typeface="Inter Bold" pitchFamily="34" charset="-120"/>
              </a:rPr>
              <a:t>filters and slicers</a:t>
            </a:r>
            <a:r>
              <a:rPr lang="en-US" sz="1450" dirty="0">
                <a:solidFill>
                  <a:srgbClr val="272525"/>
                </a:solidFill>
                <a:latin typeface="Inter" pitchFamily="34" charset="0"/>
                <a:ea typeface="Inter" pitchFamily="34" charset="-122"/>
                <a:cs typeface="Inter" pitchFamily="34" charset="-120"/>
              </a:rPr>
              <a:t> to enable users to explore data based on relevant categories and business dimensions.</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Presented key insights through </a:t>
            </a:r>
            <a:r>
              <a:rPr lang="en-US" sz="1450" b="1" dirty="0">
                <a:solidFill>
                  <a:srgbClr val="272525"/>
                </a:solidFill>
                <a:latin typeface="Inter Bold" pitchFamily="34" charset="0"/>
                <a:ea typeface="Inter Bold" pitchFamily="34" charset="-122"/>
                <a:cs typeface="Inter Bold" pitchFamily="34" charset="-120"/>
              </a:rPr>
              <a:t>KPI cards, charts, maps, and trend visualizations</a:t>
            </a:r>
            <a:r>
              <a:rPr lang="en-US" sz="1450" dirty="0">
                <a:solidFill>
                  <a:srgbClr val="272525"/>
                </a:solidFill>
                <a:latin typeface="Inter" pitchFamily="34" charset="0"/>
                <a:ea typeface="Inter" pitchFamily="34" charset="-122"/>
                <a:cs typeface="Inter" pitchFamily="34" charset="-120"/>
              </a:rPr>
              <a:t> for easy interpretation.</a:t>
            </a:r>
            <a:endParaRPr lang="en-US" sz="1450" dirty="0"/>
          </a:p>
        </p:txBody>
      </p:sp>
      <p:sp>
        <p:nvSpPr>
          <p:cNvPr id="4" name="Text 2"/>
          <p:cNvSpPr/>
          <p:nvPr/>
        </p:nvSpPr>
        <p:spPr>
          <a:xfrm>
            <a:off x="661475" y="4735215"/>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Dashboard Outcome</a:t>
            </a:r>
            <a:endParaRPr lang="en-US" sz="2200" dirty="0"/>
          </a:p>
        </p:txBody>
      </p:sp>
      <p:sp>
        <p:nvSpPr>
          <p:cNvPr id="5" name="Text 3"/>
          <p:cNvSpPr/>
          <p:nvPr/>
        </p:nvSpPr>
        <p:spPr>
          <a:xfrm>
            <a:off x="661475" y="5373092"/>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A user-friendly and interactive dashboard that provides </a:t>
            </a:r>
            <a:r>
              <a:rPr lang="en-US" sz="1450" b="1" dirty="0">
                <a:solidFill>
                  <a:srgbClr val="272525"/>
                </a:solidFill>
                <a:latin typeface="Inter Bold" pitchFamily="34" charset="0"/>
                <a:ea typeface="Inter Bold" pitchFamily="34" charset="-122"/>
                <a:cs typeface="Inter Bold" pitchFamily="34" charset="-120"/>
              </a:rPr>
              <a:t>end-to-end visibility into supply chain operations</a:t>
            </a:r>
            <a:r>
              <a:rPr lang="en-US" sz="1450" dirty="0">
                <a:solidFill>
                  <a:srgbClr val="272525"/>
                </a:solidFill>
                <a:latin typeface="Inter" pitchFamily="34" charset="0"/>
                <a:ea typeface="Inter" pitchFamily="34" charset="-122"/>
                <a:cs typeface="Inter" pitchFamily="34" charset="-120"/>
              </a:rPr>
              <a:t>, helping stakeholders identify cost drivers, monitor performance, detect inefficiencies, and make informed decisions for supply chain optimization.</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21308"/>
            <a:ext cx="11478330" cy="185341"/>
          </a:xfrm>
          <a:prstGeom prst="rect">
            <a:avLst/>
          </a:prstGeom>
          <a:noFill/>
          <a:ln/>
        </p:spPr>
        <p:txBody>
          <a:bodyPr wrap="none" lIns="0" tIns="0" rIns="0" bIns="0" rtlCol="0" anchor="t"/>
          <a:lstStyle/>
          <a:p>
            <a:pPr marL="0" indent="0" algn="l">
              <a:lnSpc>
                <a:spcPct val="114000"/>
              </a:lnSpc>
              <a:buNone/>
            </a:pPr>
            <a:r>
              <a:rPr lang="en-US" sz="1050" b="1" dirty="0">
                <a:solidFill>
                  <a:srgbClr val="FFFFFF"/>
                </a:solidFill>
                <a:latin typeface="Inter Bold" pitchFamily="34" charset="0"/>
                <a:ea typeface="Inter Bold" pitchFamily="34" charset="-122"/>
                <a:cs typeface="Inter Bold" pitchFamily="34" charset="-120"/>
              </a:rPr>
              <a:t>DASHBOARD 1</a:t>
            </a:r>
            <a:endParaRPr lang="en-US" sz="1050" dirty="0"/>
          </a:p>
        </p:txBody>
      </p:sp>
      <p:sp>
        <p:nvSpPr>
          <p:cNvPr id="3" name="Text 1"/>
          <p:cNvSpPr/>
          <p:nvPr/>
        </p:nvSpPr>
        <p:spPr>
          <a:xfrm>
            <a:off x="661475" y="903188"/>
            <a:ext cx="10868745" cy="337840"/>
          </a:xfrm>
          <a:prstGeom prst="rect">
            <a:avLst/>
          </a:prstGeom>
          <a:noFill/>
          <a:ln/>
        </p:spPr>
        <p:txBody>
          <a:bodyPr wrap="none" lIns="0" tIns="0" rIns="0" bIns="0" rtlCol="0" anchor="t"/>
          <a:lstStyle/>
          <a:p>
            <a:pPr marL="0" indent="0" algn="l">
              <a:lnSpc>
                <a:spcPct val="104000"/>
              </a:lnSpc>
              <a:buNone/>
            </a:pPr>
            <a:r>
              <a:rPr lang="en-US" sz="2100" b="1" dirty="0">
                <a:solidFill>
                  <a:srgbClr val="FFFFFF"/>
                </a:solidFill>
                <a:latin typeface="Inter Bold" pitchFamily="34" charset="0"/>
                <a:ea typeface="Inter Bold" pitchFamily="34" charset="-122"/>
                <a:cs typeface="Inter Bold" pitchFamily="34" charset="-120"/>
              </a:rPr>
              <a:t>Cost &amp; Delivery Overview</a:t>
            </a:r>
            <a:endParaRPr lang="en-US" sz="2100" dirty="0"/>
          </a:p>
        </p:txBody>
      </p:sp>
      <p:sp>
        <p:nvSpPr>
          <p:cNvPr id="5" name="Text 2"/>
          <p:cNvSpPr/>
          <p:nvPr/>
        </p:nvSpPr>
        <p:spPr>
          <a:xfrm>
            <a:off x="661475" y="5844183"/>
            <a:ext cx="11478330" cy="185341"/>
          </a:xfrm>
          <a:prstGeom prst="rect">
            <a:avLst/>
          </a:prstGeom>
          <a:noFill/>
          <a:ln/>
        </p:spPr>
        <p:txBody>
          <a:bodyPr wrap="none" lIns="0" tIns="0" rIns="0" bIns="0" rtlCol="0" anchor="t"/>
          <a:lstStyle/>
          <a:p>
            <a:pPr marL="0" indent="0" algn="l">
              <a:lnSpc>
                <a:spcPct val="114000"/>
              </a:lnSpc>
              <a:buNone/>
            </a:pPr>
            <a:r>
              <a:rPr lang="en-US" sz="1050" dirty="0">
                <a:solidFill>
                  <a:srgbClr val="FFFFFF"/>
                </a:solidFill>
                <a:latin typeface="Inter" pitchFamily="34" charset="0"/>
                <a:ea typeface="Inter" pitchFamily="34" charset="-122"/>
                <a:cs typeface="Inter" pitchFamily="34" charset="-120"/>
              </a:rPr>
              <a:t>Infosys Supply Chain Visibility &amp; Optimization  |  Batch C</a:t>
            </a:r>
            <a:endParaRPr lang="en-US" sz="1050" dirty="0"/>
          </a:p>
        </p:txBody>
      </p:sp>
      <p:pic>
        <p:nvPicPr>
          <p:cNvPr id="7" name="Picture 6">
            <a:extLst>
              <a:ext uri="{FF2B5EF4-FFF2-40B4-BE49-F238E27FC236}">
                <a16:creationId xmlns:a16="http://schemas.microsoft.com/office/drawing/2014/main" id="{A109C4DD-6830-95FE-E8A5-81C41D98D9F7}"/>
              </a:ext>
            </a:extLst>
          </p:cNvPr>
          <p:cNvPicPr>
            <a:picLocks noChangeAspect="1"/>
          </p:cNvPicPr>
          <p:nvPr/>
        </p:nvPicPr>
        <p:blipFill>
          <a:blip r:embed="rId3"/>
          <a:stretch>
            <a:fillRect/>
          </a:stretch>
        </p:blipFill>
        <p:spPr>
          <a:xfrm>
            <a:off x="661475" y="1337567"/>
            <a:ext cx="7722292" cy="42914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668139"/>
            <a:ext cx="11478330" cy="198438"/>
          </a:xfrm>
          <a:prstGeom prst="rect">
            <a:avLst/>
          </a:prstGeom>
          <a:noFill/>
          <a:ln/>
        </p:spPr>
        <p:txBody>
          <a:bodyPr wrap="none" lIns="0" tIns="0" rIns="0" bIns="0" rtlCol="0" anchor="t"/>
          <a:lstStyle/>
          <a:p>
            <a:pPr marL="0" indent="0" algn="l">
              <a:lnSpc>
                <a:spcPct val="117000"/>
              </a:lnSpc>
              <a:buNone/>
            </a:pPr>
            <a:r>
              <a:rPr lang="en-US" sz="1100" b="1" dirty="0">
                <a:solidFill>
                  <a:srgbClr val="FFFFFF"/>
                </a:solidFill>
                <a:latin typeface="Inter Bold" pitchFamily="34" charset="0"/>
                <a:ea typeface="Inter Bold" pitchFamily="34" charset="-122"/>
                <a:cs typeface="Inter Bold" pitchFamily="34" charset="-120"/>
              </a:rPr>
              <a:t>DASHBOARD 2</a:t>
            </a:r>
            <a:endParaRPr lang="en-US" sz="1100" dirty="0"/>
          </a:p>
        </p:txBody>
      </p:sp>
      <p:sp>
        <p:nvSpPr>
          <p:cNvPr id="3" name="Text 1"/>
          <p:cNvSpPr/>
          <p:nvPr/>
        </p:nvSpPr>
        <p:spPr>
          <a:xfrm>
            <a:off x="661475" y="972840"/>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FFFFFF"/>
                </a:solidFill>
                <a:latin typeface="Inter Bold" pitchFamily="34" charset="0"/>
                <a:ea typeface="Inter Bold" pitchFamily="34" charset="-122"/>
                <a:cs typeface="Inter Bold" pitchFamily="34" charset="-120"/>
              </a:rPr>
              <a:t>Supplier &amp; Delay Overview</a:t>
            </a:r>
            <a:endParaRPr lang="en-US" sz="2200" dirty="0"/>
          </a:p>
        </p:txBody>
      </p:sp>
      <p:sp>
        <p:nvSpPr>
          <p:cNvPr id="5" name="Text 2"/>
          <p:cNvSpPr/>
          <p:nvPr/>
        </p:nvSpPr>
        <p:spPr>
          <a:xfrm>
            <a:off x="661475" y="5768975"/>
            <a:ext cx="11478330" cy="198438"/>
          </a:xfrm>
          <a:prstGeom prst="rect">
            <a:avLst/>
          </a:prstGeom>
          <a:noFill/>
          <a:ln/>
        </p:spPr>
        <p:txBody>
          <a:bodyPr wrap="none" lIns="0" tIns="0" rIns="0" bIns="0" rtlCol="0" anchor="t"/>
          <a:lstStyle/>
          <a:p>
            <a:pPr marL="0" indent="0" algn="l">
              <a:lnSpc>
                <a:spcPct val="117000"/>
              </a:lnSpc>
              <a:buNone/>
            </a:pPr>
            <a:r>
              <a:rPr lang="en-US" sz="1100" dirty="0">
                <a:solidFill>
                  <a:srgbClr val="FFFFFF"/>
                </a:solidFill>
                <a:latin typeface="Inter" pitchFamily="34" charset="0"/>
                <a:ea typeface="Inter" pitchFamily="34" charset="-122"/>
                <a:cs typeface="Inter" pitchFamily="34" charset="-120"/>
              </a:rPr>
              <a:t>Infosys Supply Chain Visibility &amp; Optimization  |  Batch C</a:t>
            </a:r>
            <a:endParaRPr lang="en-US" sz="1100" dirty="0"/>
          </a:p>
        </p:txBody>
      </p:sp>
      <p:pic>
        <p:nvPicPr>
          <p:cNvPr id="7" name="Picture 6">
            <a:extLst>
              <a:ext uri="{FF2B5EF4-FFF2-40B4-BE49-F238E27FC236}">
                <a16:creationId xmlns:a16="http://schemas.microsoft.com/office/drawing/2014/main" id="{F96A89EB-FED5-24F0-3DE3-B808A85EDEFA}"/>
              </a:ext>
            </a:extLst>
          </p:cNvPr>
          <p:cNvPicPr>
            <a:picLocks noChangeAspect="1"/>
          </p:cNvPicPr>
          <p:nvPr/>
        </p:nvPicPr>
        <p:blipFill>
          <a:blip r:embed="rId3"/>
          <a:stretch>
            <a:fillRect/>
          </a:stretch>
        </p:blipFill>
        <p:spPr>
          <a:xfrm>
            <a:off x="661475" y="1433512"/>
            <a:ext cx="7372930" cy="416706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D1DAC9-07BF-C681-D287-81CD3B4DA952}"/>
              </a:ext>
            </a:extLst>
          </p:cNvPr>
          <p:cNvSpPr txBox="1"/>
          <p:nvPr/>
        </p:nvSpPr>
        <p:spPr>
          <a:xfrm>
            <a:off x="606105" y="649733"/>
            <a:ext cx="6094602" cy="395108"/>
          </a:xfrm>
          <a:prstGeom prst="rect">
            <a:avLst/>
          </a:prstGeom>
          <a:noFill/>
        </p:spPr>
        <p:txBody>
          <a:bodyPr wrap="square">
            <a:spAutoFit/>
          </a:bodyPr>
          <a:lstStyle/>
          <a:p>
            <a:pPr marL="0" indent="0" algn="l">
              <a:lnSpc>
                <a:spcPct val="117000"/>
              </a:lnSpc>
              <a:buNone/>
            </a:pPr>
            <a:r>
              <a:rPr lang="en-US" sz="1800" b="1" dirty="0">
                <a:solidFill>
                  <a:srgbClr val="FFFFFF"/>
                </a:solidFill>
                <a:latin typeface="Inter Bold" pitchFamily="34" charset="0"/>
                <a:ea typeface="Inter Bold" pitchFamily="34" charset="-122"/>
                <a:cs typeface="Inter Bold" pitchFamily="34" charset="-120"/>
              </a:rPr>
              <a:t>DASHBOARD 3</a:t>
            </a:r>
            <a:endParaRPr lang="en-US" sz="1800" dirty="0"/>
          </a:p>
        </p:txBody>
      </p:sp>
      <p:pic>
        <p:nvPicPr>
          <p:cNvPr id="6" name="Picture 5">
            <a:extLst>
              <a:ext uri="{FF2B5EF4-FFF2-40B4-BE49-F238E27FC236}">
                <a16:creationId xmlns:a16="http://schemas.microsoft.com/office/drawing/2014/main" id="{EB783F53-8EC5-02AC-817A-39C503309BAB}"/>
              </a:ext>
            </a:extLst>
          </p:cNvPr>
          <p:cNvPicPr>
            <a:picLocks noChangeAspect="1"/>
          </p:cNvPicPr>
          <p:nvPr/>
        </p:nvPicPr>
        <p:blipFill>
          <a:blip r:embed="rId2"/>
          <a:stretch>
            <a:fillRect/>
          </a:stretch>
        </p:blipFill>
        <p:spPr>
          <a:xfrm>
            <a:off x="696286" y="1723525"/>
            <a:ext cx="6791957" cy="3800627"/>
          </a:xfrm>
          <a:prstGeom prst="rect">
            <a:avLst/>
          </a:prstGeom>
        </p:spPr>
      </p:pic>
      <p:sp>
        <p:nvSpPr>
          <p:cNvPr id="8" name="TextBox 7">
            <a:extLst>
              <a:ext uri="{FF2B5EF4-FFF2-40B4-BE49-F238E27FC236}">
                <a16:creationId xmlns:a16="http://schemas.microsoft.com/office/drawing/2014/main" id="{74EDD398-80A7-985E-0769-753349BA85C8}"/>
              </a:ext>
            </a:extLst>
          </p:cNvPr>
          <p:cNvSpPr txBox="1"/>
          <p:nvPr/>
        </p:nvSpPr>
        <p:spPr>
          <a:xfrm>
            <a:off x="606105" y="5847540"/>
            <a:ext cx="7636778" cy="277384"/>
          </a:xfrm>
          <a:prstGeom prst="rect">
            <a:avLst/>
          </a:prstGeom>
          <a:noFill/>
        </p:spPr>
        <p:txBody>
          <a:bodyPr wrap="square">
            <a:spAutoFit/>
          </a:bodyPr>
          <a:lstStyle/>
          <a:p>
            <a:pPr marL="0" indent="0" algn="l">
              <a:lnSpc>
                <a:spcPct val="117000"/>
              </a:lnSpc>
              <a:buNone/>
            </a:pPr>
            <a:r>
              <a:rPr lang="en-US" sz="1100" dirty="0">
                <a:solidFill>
                  <a:srgbClr val="FFFFFF"/>
                </a:solidFill>
                <a:latin typeface="Inter" pitchFamily="34" charset="0"/>
                <a:ea typeface="Inter" pitchFamily="34" charset="-122"/>
                <a:cs typeface="Inter" pitchFamily="34" charset="-120"/>
              </a:rPr>
              <a:t>Infosys Supply Chain Visibility &amp; Optimization  |  Batch C</a:t>
            </a:r>
            <a:endParaRPr lang="en-US" sz="1100" dirty="0"/>
          </a:p>
        </p:txBody>
      </p:sp>
      <p:sp>
        <p:nvSpPr>
          <p:cNvPr id="4" name="TextBox 3">
            <a:extLst>
              <a:ext uri="{FF2B5EF4-FFF2-40B4-BE49-F238E27FC236}">
                <a16:creationId xmlns:a16="http://schemas.microsoft.com/office/drawing/2014/main" id="{C1E44F7C-93FF-B7EC-69E9-98E8D775D2BF}"/>
              </a:ext>
            </a:extLst>
          </p:cNvPr>
          <p:cNvSpPr txBox="1"/>
          <p:nvPr/>
        </p:nvSpPr>
        <p:spPr>
          <a:xfrm>
            <a:off x="562063" y="1199517"/>
            <a:ext cx="6094602" cy="369332"/>
          </a:xfrm>
          <a:prstGeom prst="rect">
            <a:avLst/>
          </a:prstGeom>
          <a:noFill/>
        </p:spPr>
        <p:txBody>
          <a:bodyPr wrap="square">
            <a:spAutoFit/>
          </a:bodyPr>
          <a:lstStyle/>
          <a:p>
            <a:r>
              <a:rPr lang="en-US" sz="1800" kern="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CUSTOMER AND SUPPLIER ANALYSIS</a:t>
            </a:r>
            <a:endParaRPr lang="en-US" dirty="0">
              <a:solidFill>
                <a:srgbClr val="FF0000"/>
              </a:solidFill>
            </a:endParaRPr>
          </a:p>
        </p:txBody>
      </p:sp>
    </p:spTree>
    <p:extLst>
      <p:ext uri="{BB962C8B-B14F-4D97-AF65-F5344CB8AC3E}">
        <p14:creationId xmlns:p14="http://schemas.microsoft.com/office/powerpoint/2010/main" val="266334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89EFB-1235-AE85-6F4C-35D99823CD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BAA6FA-EA05-3D86-0843-90CDA317A432}"/>
              </a:ext>
            </a:extLst>
          </p:cNvPr>
          <p:cNvPicPr>
            <a:picLocks noChangeAspect="1"/>
          </p:cNvPicPr>
          <p:nvPr/>
        </p:nvPicPr>
        <p:blipFill>
          <a:blip r:embed="rId2"/>
          <a:stretch>
            <a:fillRect/>
          </a:stretch>
        </p:blipFill>
        <p:spPr>
          <a:xfrm>
            <a:off x="463709" y="1560352"/>
            <a:ext cx="7045092" cy="4123189"/>
          </a:xfrm>
          <a:prstGeom prst="rect">
            <a:avLst/>
          </a:prstGeom>
        </p:spPr>
      </p:pic>
      <p:sp>
        <p:nvSpPr>
          <p:cNvPr id="5" name="TextBox 4">
            <a:extLst>
              <a:ext uri="{FF2B5EF4-FFF2-40B4-BE49-F238E27FC236}">
                <a16:creationId xmlns:a16="http://schemas.microsoft.com/office/drawing/2014/main" id="{023DEA1B-8256-F9C7-73A6-0536424313A3}"/>
              </a:ext>
            </a:extLst>
          </p:cNvPr>
          <p:cNvSpPr txBox="1"/>
          <p:nvPr/>
        </p:nvSpPr>
        <p:spPr>
          <a:xfrm>
            <a:off x="463709" y="599400"/>
            <a:ext cx="6094602" cy="395108"/>
          </a:xfrm>
          <a:prstGeom prst="rect">
            <a:avLst/>
          </a:prstGeom>
          <a:noFill/>
        </p:spPr>
        <p:txBody>
          <a:bodyPr wrap="square">
            <a:spAutoFit/>
          </a:bodyPr>
          <a:lstStyle/>
          <a:p>
            <a:pPr marL="0" indent="0" algn="l">
              <a:lnSpc>
                <a:spcPct val="117000"/>
              </a:lnSpc>
              <a:buNone/>
            </a:pPr>
            <a:r>
              <a:rPr lang="en-US" sz="1800" b="1" dirty="0">
                <a:solidFill>
                  <a:srgbClr val="FFFFFF"/>
                </a:solidFill>
                <a:latin typeface="Inter Bold" pitchFamily="34" charset="0"/>
                <a:ea typeface="Inter Bold" pitchFamily="34" charset="-122"/>
                <a:cs typeface="Inter Bold" pitchFamily="34" charset="-120"/>
              </a:rPr>
              <a:t>DASHBOARD 4</a:t>
            </a:r>
            <a:endParaRPr lang="en-US" sz="1800" dirty="0"/>
          </a:p>
        </p:txBody>
      </p:sp>
      <p:sp>
        <p:nvSpPr>
          <p:cNvPr id="7" name="TextBox 6">
            <a:extLst>
              <a:ext uri="{FF2B5EF4-FFF2-40B4-BE49-F238E27FC236}">
                <a16:creationId xmlns:a16="http://schemas.microsoft.com/office/drawing/2014/main" id="{F74DAF19-1BE5-3894-4AC6-39E2A8155BA8}"/>
              </a:ext>
            </a:extLst>
          </p:cNvPr>
          <p:cNvSpPr txBox="1"/>
          <p:nvPr/>
        </p:nvSpPr>
        <p:spPr>
          <a:xfrm>
            <a:off x="463709" y="5718238"/>
            <a:ext cx="6094602" cy="277384"/>
          </a:xfrm>
          <a:prstGeom prst="rect">
            <a:avLst/>
          </a:prstGeom>
          <a:noFill/>
        </p:spPr>
        <p:txBody>
          <a:bodyPr wrap="square">
            <a:spAutoFit/>
          </a:bodyPr>
          <a:lstStyle/>
          <a:p>
            <a:pPr marL="0" indent="0" algn="l">
              <a:lnSpc>
                <a:spcPct val="117000"/>
              </a:lnSpc>
              <a:buNone/>
            </a:pPr>
            <a:r>
              <a:rPr lang="en-US" sz="1100" dirty="0">
                <a:solidFill>
                  <a:srgbClr val="FFFFFF"/>
                </a:solidFill>
                <a:latin typeface="Inter" pitchFamily="34" charset="0"/>
                <a:ea typeface="Inter" pitchFamily="34" charset="-122"/>
                <a:cs typeface="Inter" pitchFamily="34" charset="-120"/>
              </a:rPr>
              <a:t>Infosys Supply Chain Visibility &amp; Optimization  |  Batch C</a:t>
            </a:r>
            <a:endParaRPr lang="en-US" sz="1100" dirty="0"/>
          </a:p>
        </p:txBody>
      </p:sp>
      <p:sp>
        <p:nvSpPr>
          <p:cNvPr id="4" name="TextBox 3">
            <a:extLst>
              <a:ext uri="{FF2B5EF4-FFF2-40B4-BE49-F238E27FC236}">
                <a16:creationId xmlns:a16="http://schemas.microsoft.com/office/drawing/2014/main" id="{A74CC3D5-2E13-4EC9-F85E-6FBB26211332}"/>
              </a:ext>
            </a:extLst>
          </p:cNvPr>
          <p:cNvSpPr txBox="1"/>
          <p:nvPr/>
        </p:nvSpPr>
        <p:spPr>
          <a:xfrm>
            <a:off x="463709" y="1029205"/>
            <a:ext cx="6094602" cy="369332"/>
          </a:xfrm>
          <a:prstGeom prst="rect">
            <a:avLst/>
          </a:prstGeom>
          <a:noFill/>
        </p:spPr>
        <p:txBody>
          <a:bodyPr wrap="square">
            <a:spAutoFit/>
          </a:bodyPr>
          <a:lstStyle/>
          <a:p>
            <a:r>
              <a:rPr lang="en-US" sz="1800" kern="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DELIVERY AND TRANSPORTATION ANALYSIS</a:t>
            </a:r>
            <a:endParaRPr lang="en-US" dirty="0">
              <a:solidFill>
                <a:srgbClr val="FF0000"/>
              </a:solidFill>
            </a:endParaRPr>
          </a:p>
        </p:txBody>
      </p:sp>
    </p:spTree>
    <p:extLst>
      <p:ext uri="{BB962C8B-B14F-4D97-AF65-F5344CB8AC3E}">
        <p14:creationId xmlns:p14="http://schemas.microsoft.com/office/powerpoint/2010/main" val="4235040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DDAC-2D95-D87A-BCDF-944A7FB36D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ED5A343-44EA-0628-4BF7-D35A8714A673}"/>
              </a:ext>
            </a:extLst>
          </p:cNvPr>
          <p:cNvPicPr>
            <a:picLocks noChangeAspect="1"/>
          </p:cNvPicPr>
          <p:nvPr/>
        </p:nvPicPr>
        <p:blipFill>
          <a:blip r:embed="rId2"/>
          <a:stretch>
            <a:fillRect/>
          </a:stretch>
        </p:blipFill>
        <p:spPr>
          <a:xfrm>
            <a:off x="813731" y="1496293"/>
            <a:ext cx="6796872" cy="3994299"/>
          </a:xfrm>
          <a:prstGeom prst="rect">
            <a:avLst/>
          </a:prstGeom>
        </p:spPr>
      </p:pic>
      <p:sp>
        <p:nvSpPr>
          <p:cNvPr id="5" name="TextBox 4">
            <a:extLst>
              <a:ext uri="{FF2B5EF4-FFF2-40B4-BE49-F238E27FC236}">
                <a16:creationId xmlns:a16="http://schemas.microsoft.com/office/drawing/2014/main" id="{10F698D0-FC93-0641-273A-0A740D99D397}"/>
              </a:ext>
            </a:extLst>
          </p:cNvPr>
          <p:cNvSpPr txBox="1"/>
          <p:nvPr/>
        </p:nvSpPr>
        <p:spPr>
          <a:xfrm>
            <a:off x="813731" y="515510"/>
            <a:ext cx="6094602" cy="395108"/>
          </a:xfrm>
          <a:prstGeom prst="rect">
            <a:avLst/>
          </a:prstGeom>
          <a:noFill/>
        </p:spPr>
        <p:txBody>
          <a:bodyPr wrap="square">
            <a:spAutoFit/>
          </a:bodyPr>
          <a:lstStyle/>
          <a:p>
            <a:pPr marL="0" indent="0" algn="l">
              <a:lnSpc>
                <a:spcPct val="117000"/>
              </a:lnSpc>
              <a:buNone/>
            </a:pPr>
            <a:r>
              <a:rPr lang="en-US" sz="1800" b="1" dirty="0">
                <a:solidFill>
                  <a:srgbClr val="FFFFFF"/>
                </a:solidFill>
                <a:latin typeface="Inter Bold" pitchFamily="34" charset="0"/>
                <a:ea typeface="Inter Bold" pitchFamily="34" charset="-122"/>
                <a:cs typeface="Inter Bold" pitchFamily="34" charset="-120"/>
              </a:rPr>
              <a:t>DASHBOARD 5</a:t>
            </a:r>
            <a:endParaRPr lang="en-US" sz="1800" dirty="0"/>
          </a:p>
        </p:txBody>
      </p:sp>
      <p:sp>
        <p:nvSpPr>
          <p:cNvPr id="7" name="TextBox 6">
            <a:extLst>
              <a:ext uri="{FF2B5EF4-FFF2-40B4-BE49-F238E27FC236}">
                <a16:creationId xmlns:a16="http://schemas.microsoft.com/office/drawing/2014/main" id="{DEF4FA80-7C28-2276-B5D7-D5896196C973}"/>
              </a:ext>
            </a:extLst>
          </p:cNvPr>
          <p:cNvSpPr txBox="1"/>
          <p:nvPr/>
        </p:nvSpPr>
        <p:spPr>
          <a:xfrm>
            <a:off x="813731" y="5571431"/>
            <a:ext cx="6094602" cy="277384"/>
          </a:xfrm>
          <a:prstGeom prst="rect">
            <a:avLst/>
          </a:prstGeom>
          <a:noFill/>
        </p:spPr>
        <p:txBody>
          <a:bodyPr wrap="square">
            <a:spAutoFit/>
          </a:bodyPr>
          <a:lstStyle/>
          <a:p>
            <a:pPr marL="0" indent="0" algn="l">
              <a:lnSpc>
                <a:spcPct val="117000"/>
              </a:lnSpc>
              <a:buNone/>
            </a:pPr>
            <a:r>
              <a:rPr lang="en-US" sz="1100" dirty="0">
                <a:solidFill>
                  <a:srgbClr val="FFFFFF"/>
                </a:solidFill>
                <a:latin typeface="Inter" pitchFamily="34" charset="0"/>
                <a:ea typeface="Inter" pitchFamily="34" charset="-122"/>
                <a:cs typeface="Inter" pitchFamily="34" charset="-120"/>
              </a:rPr>
              <a:t>Infosys Supply Chain Visibility &amp; Optimization  |  Batch C</a:t>
            </a:r>
            <a:endParaRPr lang="en-US" sz="1100" dirty="0"/>
          </a:p>
        </p:txBody>
      </p:sp>
      <p:sp>
        <p:nvSpPr>
          <p:cNvPr id="4" name="TextBox 3">
            <a:extLst>
              <a:ext uri="{FF2B5EF4-FFF2-40B4-BE49-F238E27FC236}">
                <a16:creationId xmlns:a16="http://schemas.microsoft.com/office/drawing/2014/main" id="{BE8EC6D4-CBD6-D593-55BF-50FC72824DE0}"/>
              </a:ext>
            </a:extLst>
          </p:cNvPr>
          <p:cNvSpPr txBox="1"/>
          <p:nvPr/>
        </p:nvSpPr>
        <p:spPr>
          <a:xfrm>
            <a:off x="813731" y="981190"/>
            <a:ext cx="6094602" cy="369332"/>
          </a:xfrm>
          <a:prstGeom prst="rect">
            <a:avLst/>
          </a:prstGeom>
          <a:noFill/>
        </p:spPr>
        <p:txBody>
          <a:bodyPr wrap="square">
            <a:spAutoFit/>
          </a:bodyPr>
          <a:lstStyle/>
          <a:p>
            <a:r>
              <a:rPr lang="en-US" sz="1800" kern="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OPERATIONAL PERFORMANCE ANALYSIS</a:t>
            </a:r>
            <a:endParaRPr lang="en-US" dirty="0">
              <a:solidFill>
                <a:srgbClr val="FF0000"/>
              </a:solidFill>
            </a:endParaRPr>
          </a:p>
        </p:txBody>
      </p:sp>
    </p:spTree>
    <p:extLst>
      <p:ext uri="{BB962C8B-B14F-4D97-AF65-F5344CB8AC3E}">
        <p14:creationId xmlns:p14="http://schemas.microsoft.com/office/powerpoint/2010/main" val="2350889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B50EF0-C636-4ACF-78CC-0114B4C92347}"/>
              </a:ext>
            </a:extLst>
          </p:cNvPr>
          <p:cNvPicPr>
            <a:picLocks noChangeAspect="1"/>
          </p:cNvPicPr>
          <p:nvPr/>
        </p:nvPicPr>
        <p:blipFill>
          <a:blip r:embed="rId2"/>
          <a:stretch>
            <a:fillRect/>
          </a:stretch>
        </p:blipFill>
        <p:spPr>
          <a:xfrm>
            <a:off x="813731" y="1753298"/>
            <a:ext cx="7061376" cy="3956850"/>
          </a:xfrm>
          <a:prstGeom prst="rect">
            <a:avLst/>
          </a:prstGeom>
        </p:spPr>
      </p:pic>
      <p:sp>
        <p:nvSpPr>
          <p:cNvPr id="4" name="TextBox 3">
            <a:extLst>
              <a:ext uri="{FF2B5EF4-FFF2-40B4-BE49-F238E27FC236}">
                <a16:creationId xmlns:a16="http://schemas.microsoft.com/office/drawing/2014/main" id="{4262E7B3-1B05-1074-2842-3F434137C46E}"/>
              </a:ext>
            </a:extLst>
          </p:cNvPr>
          <p:cNvSpPr txBox="1"/>
          <p:nvPr/>
        </p:nvSpPr>
        <p:spPr>
          <a:xfrm>
            <a:off x="813731" y="515510"/>
            <a:ext cx="6094602" cy="395108"/>
          </a:xfrm>
          <a:prstGeom prst="rect">
            <a:avLst/>
          </a:prstGeom>
          <a:noFill/>
        </p:spPr>
        <p:txBody>
          <a:bodyPr wrap="square">
            <a:spAutoFit/>
          </a:bodyPr>
          <a:lstStyle/>
          <a:p>
            <a:pPr marL="0" indent="0" algn="l">
              <a:lnSpc>
                <a:spcPct val="117000"/>
              </a:lnSpc>
              <a:buNone/>
            </a:pPr>
            <a:r>
              <a:rPr lang="en-US" sz="1800" b="1" dirty="0">
                <a:solidFill>
                  <a:srgbClr val="FFFFFF"/>
                </a:solidFill>
                <a:latin typeface="Inter Bold" pitchFamily="34" charset="0"/>
                <a:ea typeface="Inter Bold" pitchFamily="34" charset="-122"/>
                <a:cs typeface="Inter Bold" pitchFamily="34" charset="-120"/>
              </a:rPr>
              <a:t>DASHBOARD 6</a:t>
            </a:r>
            <a:endParaRPr lang="en-US" sz="1800" dirty="0"/>
          </a:p>
        </p:txBody>
      </p:sp>
      <p:sp>
        <p:nvSpPr>
          <p:cNvPr id="6" name="TextBox 5">
            <a:extLst>
              <a:ext uri="{FF2B5EF4-FFF2-40B4-BE49-F238E27FC236}">
                <a16:creationId xmlns:a16="http://schemas.microsoft.com/office/drawing/2014/main" id="{7231A2D7-36D6-B3AD-EE57-89207655B70B}"/>
              </a:ext>
            </a:extLst>
          </p:cNvPr>
          <p:cNvSpPr txBox="1"/>
          <p:nvPr/>
        </p:nvSpPr>
        <p:spPr>
          <a:xfrm>
            <a:off x="813731" y="1147292"/>
            <a:ext cx="6094602" cy="369332"/>
          </a:xfrm>
          <a:prstGeom prst="rect">
            <a:avLst/>
          </a:prstGeom>
          <a:noFill/>
        </p:spPr>
        <p:txBody>
          <a:bodyPr wrap="square">
            <a:spAutoFit/>
          </a:bodyPr>
          <a:lstStyle/>
          <a:p>
            <a:r>
              <a:rPr lang="en-US" dirty="0">
                <a:solidFill>
                  <a:srgbClr val="FF0000"/>
                </a:solidFill>
              </a:rPr>
              <a:t>Supply Chain Risk &amp; Service Quality</a:t>
            </a:r>
          </a:p>
        </p:txBody>
      </p:sp>
      <p:sp>
        <p:nvSpPr>
          <p:cNvPr id="8" name="TextBox 7">
            <a:extLst>
              <a:ext uri="{FF2B5EF4-FFF2-40B4-BE49-F238E27FC236}">
                <a16:creationId xmlns:a16="http://schemas.microsoft.com/office/drawing/2014/main" id="{9A9C0775-A38C-E06B-9565-1A853EE37EE3}"/>
              </a:ext>
            </a:extLst>
          </p:cNvPr>
          <p:cNvSpPr txBox="1"/>
          <p:nvPr/>
        </p:nvSpPr>
        <p:spPr>
          <a:xfrm>
            <a:off x="813731" y="5856657"/>
            <a:ext cx="6574871" cy="395108"/>
          </a:xfrm>
          <a:prstGeom prst="rect">
            <a:avLst/>
          </a:prstGeom>
          <a:noFill/>
        </p:spPr>
        <p:txBody>
          <a:bodyPr wrap="square">
            <a:spAutoFit/>
          </a:bodyPr>
          <a:lstStyle/>
          <a:p>
            <a:pPr marL="0" indent="0" algn="l">
              <a:lnSpc>
                <a:spcPct val="117000"/>
              </a:lnSpc>
              <a:buNone/>
            </a:pPr>
            <a:r>
              <a:rPr lang="en-US" sz="1800" dirty="0">
                <a:solidFill>
                  <a:srgbClr val="FFFFFF"/>
                </a:solidFill>
                <a:latin typeface="Inter" pitchFamily="34" charset="0"/>
                <a:ea typeface="Inter" pitchFamily="34" charset="-122"/>
                <a:cs typeface="Inter" pitchFamily="34" charset="-120"/>
              </a:rPr>
              <a:t>Infosys Supply Chain Visibility &amp; Optimization  |  Batch C</a:t>
            </a:r>
            <a:endParaRPr lang="en-US" sz="1800" dirty="0"/>
          </a:p>
        </p:txBody>
      </p:sp>
    </p:spTree>
    <p:extLst>
      <p:ext uri="{BB962C8B-B14F-4D97-AF65-F5344CB8AC3E}">
        <p14:creationId xmlns:p14="http://schemas.microsoft.com/office/powerpoint/2010/main" val="2407894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F0DFE-97D6-CA2E-01B9-A2780F6643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375C5B-9403-7F61-4CFC-8788E43138A1}"/>
              </a:ext>
            </a:extLst>
          </p:cNvPr>
          <p:cNvSpPr txBox="1"/>
          <p:nvPr/>
        </p:nvSpPr>
        <p:spPr>
          <a:xfrm>
            <a:off x="813731" y="515510"/>
            <a:ext cx="6094602" cy="395108"/>
          </a:xfrm>
          <a:prstGeom prst="rect">
            <a:avLst/>
          </a:prstGeom>
          <a:noFill/>
        </p:spPr>
        <p:txBody>
          <a:bodyPr wrap="square">
            <a:spAutoFit/>
          </a:bodyPr>
          <a:lstStyle/>
          <a:p>
            <a:pPr marL="0" indent="0" algn="l">
              <a:lnSpc>
                <a:spcPct val="117000"/>
              </a:lnSpc>
              <a:buNone/>
            </a:pPr>
            <a:r>
              <a:rPr lang="en-US" sz="1800" b="1" dirty="0">
                <a:solidFill>
                  <a:srgbClr val="FFFFFF"/>
                </a:solidFill>
                <a:latin typeface="Inter Bold" pitchFamily="34" charset="0"/>
                <a:ea typeface="Inter Bold" pitchFamily="34" charset="-122"/>
                <a:cs typeface="Inter Bold" pitchFamily="34" charset="-120"/>
              </a:rPr>
              <a:t>DASHBOARD 7</a:t>
            </a:r>
            <a:endParaRPr lang="en-US" sz="1800" dirty="0"/>
          </a:p>
        </p:txBody>
      </p:sp>
      <p:sp>
        <p:nvSpPr>
          <p:cNvPr id="10" name="TextBox 9">
            <a:extLst>
              <a:ext uri="{FF2B5EF4-FFF2-40B4-BE49-F238E27FC236}">
                <a16:creationId xmlns:a16="http://schemas.microsoft.com/office/drawing/2014/main" id="{2F944DD8-7CDA-96E1-E9FD-659FAB390EF6}"/>
              </a:ext>
            </a:extLst>
          </p:cNvPr>
          <p:cNvSpPr txBox="1"/>
          <p:nvPr/>
        </p:nvSpPr>
        <p:spPr>
          <a:xfrm>
            <a:off x="813731" y="1157573"/>
            <a:ext cx="6094602" cy="369332"/>
          </a:xfrm>
          <a:prstGeom prst="rect">
            <a:avLst/>
          </a:prstGeom>
          <a:noFill/>
        </p:spPr>
        <p:txBody>
          <a:bodyPr wrap="square">
            <a:spAutoFit/>
          </a:bodyPr>
          <a:lstStyle/>
          <a:p>
            <a:r>
              <a:rPr lang="en-US" dirty="0">
                <a:solidFill>
                  <a:srgbClr val="FF0000"/>
                </a:solidFill>
              </a:rPr>
              <a:t>Cost, Distance &amp; Inventory Efficiency</a:t>
            </a:r>
          </a:p>
        </p:txBody>
      </p:sp>
      <p:pic>
        <p:nvPicPr>
          <p:cNvPr id="12" name="Picture 11">
            <a:extLst>
              <a:ext uri="{FF2B5EF4-FFF2-40B4-BE49-F238E27FC236}">
                <a16:creationId xmlns:a16="http://schemas.microsoft.com/office/drawing/2014/main" id="{B341FEB8-BD75-E5BE-01D3-14CC99F8E262}"/>
              </a:ext>
            </a:extLst>
          </p:cNvPr>
          <p:cNvPicPr>
            <a:picLocks noChangeAspect="1"/>
          </p:cNvPicPr>
          <p:nvPr/>
        </p:nvPicPr>
        <p:blipFill>
          <a:blip r:embed="rId2"/>
          <a:stretch>
            <a:fillRect/>
          </a:stretch>
        </p:blipFill>
        <p:spPr>
          <a:xfrm>
            <a:off x="811072" y="1773860"/>
            <a:ext cx="6574871" cy="3654813"/>
          </a:xfrm>
          <a:prstGeom prst="rect">
            <a:avLst/>
          </a:prstGeom>
        </p:spPr>
      </p:pic>
      <p:sp>
        <p:nvSpPr>
          <p:cNvPr id="13" name="TextBox 12">
            <a:extLst>
              <a:ext uri="{FF2B5EF4-FFF2-40B4-BE49-F238E27FC236}">
                <a16:creationId xmlns:a16="http://schemas.microsoft.com/office/drawing/2014/main" id="{7136F686-BEC6-7FEA-ACE4-A75D7C932DCE}"/>
              </a:ext>
            </a:extLst>
          </p:cNvPr>
          <p:cNvSpPr txBox="1"/>
          <p:nvPr/>
        </p:nvSpPr>
        <p:spPr>
          <a:xfrm>
            <a:off x="735571" y="5756510"/>
            <a:ext cx="6574871" cy="395108"/>
          </a:xfrm>
          <a:prstGeom prst="rect">
            <a:avLst/>
          </a:prstGeom>
          <a:noFill/>
        </p:spPr>
        <p:txBody>
          <a:bodyPr wrap="square">
            <a:spAutoFit/>
          </a:bodyPr>
          <a:lstStyle/>
          <a:p>
            <a:pPr marL="0" indent="0" algn="l">
              <a:lnSpc>
                <a:spcPct val="117000"/>
              </a:lnSpc>
              <a:buNone/>
            </a:pPr>
            <a:r>
              <a:rPr lang="en-US" sz="1800" dirty="0">
                <a:solidFill>
                  <a:srgbClr val="FFFFFF"/>
                </a:solidFill>
                <a:latin typeface="Inter" pitchFamily="34" charset="0"/>
                <a:ea typeface="Inter" pitchFamily="34" charset="-122"/>
                <a:cs typeface="Inter" pitchFamily="34" charset="-120"/>
              </a:rPr>
              <a:t>Infosys Supply Chain Visibility &amp; Optimization  |  Batch C</a:t>
            </a:r>
            <a:endParaRPr lang="en-US" sz="1800" dirty="0"/>
          </a:p>
        </p:txBody>
      </p:sp>
    </p:spTree>
    <p:extLst>
      <p:ext uri="{BB962C8B-B14F-4D97-AF65-F5344CB8AC3E}">
        <p14:creationId xmlns:p14="http://schemas.microsoft.com/office/powerpoint/2010/main" val="3883313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23577"/>
            <a:ext cx="10868745" cy="441821"/>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Conclusion</a:t>
            </a:r>
            <a:endParaRPr lang="en-US" sz="2750" dirty="0"/>
          </a:p>
        </p:txBody>
      </p:sp>
      <p:sp>
        <p:nvSpPr>
          <p:cNvPr id="3" name="Text 1"/>
          <p:cNvSpPr/>
          <p:nvPr/>
        </p:nvSpPr>
        <p:spPr>
          <a:xfrm>
            <a:off x="661475" y="1213346"/>
            <a:ext cx="10868745" cy="2146895"/>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The project provides </a:t>
            </a:r>
            <a:r>
              <a:rPr lang="en-US" sz="1350" b="1" dirty="0">
                <a:solidFill>
                  <a:srgbClr val="272525"/>
                </a:solidFill>
                <a:latin typeface="Inter Bold" pitchFamily="34" charset="0"/>
                <a:ea typeface="Inter Bold" pitchFamily="34" charset="-122"/>
                <a:cs typeface="Inter Bold" pitchFamily="34" charset="-120"/>
              </a:rPr>
              <a:t>improved visibility into key supply chain operations</a:t>
            </a:r>
            <a:r>
              <a:rPr lang="en-US" sz="1350" dirty="0">
                <a:solidFill>
                  <a:srgbClr val="272525"/>
                </a:solidFill>
                <a:latin typeface="Inter" pitchFamily="34" charset="0"/>
                <a:ea typeface="Inter" pitchFamily="34" charset="-122"/>
                <a:cs typeface="Inter" pitchFamily="34" charset="-120"/>
              </a:rPr>
              <a:t>, including inventory, transportation, suppliers, and delivery performance.</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Enables better monitoring of </a:t>
            </a:r>
            <a:r>
              <a:rPr lang="en-US" sz="1350" b="1" dirty="0">
                <a:solidFill>
                  <a:srgbClr val="272525"/>
                </a:solidFill>
                <a:latin typeface="Inter Bold" pitchFamily="34" charset="0"/>
                <a:ea typeface="Inter Bold" pitchFamily="34" charset="-122"/>
                <a:cs typeface="Inter Bold" pitchFamily="34" charset="-120"/>
              </a:rPr>
              <a:t>inventory levels and turnover trends</a:t>
            </a:r>
            <a:r>
              <a:rPr lang="en-US" sz="1350" dirty="0">
                <a:solidFill>
                  <a:srgbClr val="272525"/>
                </a:solidFill>
                <a:latin typeface="Inter" pitchFamily="34" charset="0"/>
                <a:ea typeface="Inter" pitchFamily="34" charset="-122"/>
                <a:cs typeface="Inter" pitchFamily="34" charset="-120"/>
              </a:rPr>
              <a:t>, helping identify slow-moving stock and potential inefficiencies.</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Helps identify </a:t>
            </a:r>
            <a:r>
              <a:rPr lang="en-US" sz="1350" b="1" dirty="0">
                <a:solidFill>
                  <a:srgbClr val="272525"/>
                </a:solidFill>
                <a:latin typeface="Inter Bold" pitchFamily="34" charset="0"/>
                <a:ea typeface="Inter Bold" pitchFamily="34" charset="-122"/>
                <a:cs typeface="Inter Bold" pitchFamily="34" charset="-120"/>
              </a:rPr>
              <a:t>operational bottlenecks</a:t>
            </a:r>
            <a:r>
              <a:rPr lang="en-US" sz="1350" dirty="0">
                <a:solidFill>
                  <a:srgbClr val="272525"/>
                </a:solidFill>
                <a:latin typeface="Inter" pitchFamily="34" charset="0"/>
                <a:ea typeface="Inter" pitchFamily="34" charset="-122"/>
                <a:cs typeface="Inter" pitchFamily="34" charset="-120"/>
              </a:rPr>
              <a:t>, high transportation costs, and delivery performance gaps.</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Supports </a:t>
            </a:r>
            <a:r>
              <a:rPr lang="en-US" sz="1350" b="1" dirty="0">
                <a:solidFill>
                  <a:srgbClr val="272525"/>
                </a:solidFill>
                <a:latin typeface="Inter Bold" pitchFamily="34" charset="0"/>
                <a:ea typeface="Inter Bold" pitchFamily="34" charset="-122"/>
                <a:cs typeface="Inter Bold" pitchFamily="34" charset="-120"/>
              </a:rPr>
              <a:t>data-driven decision-making</a:t>
            </a:r>
            <a:r>
              <a:rPr lang="en-US" sz="1350" dirty="0">
                <a:solidFill>
                  <a:srgbClr val="272525"/>
                </a:solidFill>
                <a:latin typeface="Inter" pitchFamily="34" charset="0"/>
                <a:ea typeface="Inter" pitchFamily="34" charset="-122"/>
                <a:cs typeface="Inter" pitchFamily="34" charset="-120"/>
              </a:rPr>
              <a:t> through interactive Power BI dashboards and meaningful performance insights.</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Provides opportunities to improve </a:t>
            </a:r>
            <a:r>
              <a:rPr lang="en-US" sz="1350" b="1" dirty="0">
                <a:solidFill>
                  <a:srgbClr val="272525"/>
                </a:solidFill>
                <a:latin typeface="Inter Bold" pitchFamily="34" charset="0"/>
                <a:ea typeface="Inter Bold" pitchFamily="34" charset="-122"/>
                <a:cs typeface="Inter Bold" pitchFamily="34" charset="-120"/>
              </a:rPr>
              <a:t>logistics efficiency, cost management, and overall supply chain performance</a:t>
            </a:r>
            <a:r>
              <a:rPr lang="en-US" sz="1350" dirty="0">
                <a:solidFill>
                  <a:srgbClr val="272525"/>
                </a:solidFill>
                <a:latin typeface="Inter" pitchFamily="34" charset="0"/>
                <a:ea typeface="Inter" pitchFamily="34" charset="-122"/>
                <a:cs typeface="Inter" pitchFamily="34" charset="-120"/>
              </a:rPr>
              <a:t>.</a:t>
            </a:r>
            <a:endParaRPr lang="en-US" sz="1350" dirty="0"/>
          </a:p>
        </p:txBody>
      </p:sp>
      <p:sp>
        <p:nvSpPr>
          <p:cNvPr id="4" name="Text 2"/>
          <p:cNvSpPr/>
          <p:nvPr/>
        </p:nvSpPr>
        <p:spPr>
          <a:xfrm>
            <a:off x="661475" y="3608189"/>
            <a:ext cx="10868745" cy="331391"/>
          </a:xfrm>
          <a:prstGeom prst="rect">
            <a:avLst/>
          </a:prstGeom>
          <a:noFill/>
          <a:ln/>
        </p:spPr>
        <p:txBody>
          <a:bodyPr wrap="none" lIns="0" tIns="0" rIns="0" bIns="0" rtlCol="0" anchor="t"/>
          <a:lstStyle/>
          <a:p>
            <a:pPr marL="0" indent="0" algn="l">
              <a:lnSpc>
                <a:spcPct val="104000"/>
              </a:lnSpc>
              <a:buNone/>
            </a:pPr>
            <a:r>
              <a:rPr lang="en-US" sz="2050" b="1" dirty="0">
                <a:solidFill>
                  <a:srgbClr val="000000"/>
                </a:solidFill>
                <a:latin typeface="Inter Bold" pitchFamily="34" charset="0"/>
                <a:ea typeface="Inter Bold" pitchFamily="34" charset="-122"/>
                <a:cs typeface="Inter Bold" pitchFamily="34" charset="-120"/>
              </a:rPr>
              <a:t>Future Scope</a:t>
            </a:r>
            <a:endParaRPr lang="en-US" sz="2050" dirty="0"/>
          </a:p>
        </p:txBody>
      </p:sp>
      <p:sp>
        <p:nvSpPr>
          <p:cNvPr id="5" name="Text 3"/>
          <p:cNvSpPr/>
          <p:nvPr/>
        </p:nvSpPr>
        <p:spPr>
          <a:xfrm>
            <a:off x="661475" y="4187527"/>
            <a:ext cx="10868745" cy="2146895"/>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Integrate </a:t>
            </a:r>
            <a:r>
              <a:rPr lang="en-US" sz="1350" b="1" dirty="0">
                <a:solidFill>
                  <a:srgbClr val="272525"/>
                </a:solidFill>
                <a:latin typeface="Inter Bold" pitchFamily="34" charset="0"/>
                <a:ea typeface="Inter Bold" pitchFamily="34" charset="-122"/>
                <a:cs typeface="Inter Bold" pitchFamily="34" charset="-120"/>
              </a:rPr>
              <a:t>real-time tracking technologies</a:t>
            </a:r>
            <a:r>
              <a:rPr lang="en-US" sz="1350" dirty="0">
                <a:solidFill>
                  <a:srgbClr val="272525"/>
                </a:solidFill>
                <a:latin typeface="Inter" pitchFamily="34" charset="0"/>
                <a:ea typeface="Inter" pitchFamily="34" charset="-122"/>
                <a:cs typeface="Inter" pitchFamily="34" charset="-120"/>
              </a:rPr>
              <a:t> to monitor shipments and transportation activities more effectively.</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Implement </a:t>
            </a:r>
            <a:r>
              <a:rPr lang="en-US" sz="1350" b="1" dirty="0">
                <a:solidFill>
                  <a:srgbClr val="272525"/>
                </a:solidFill>
                <a:latin typeface="Inter Bold" pitchFamily="34" charset="0"/>
                <a:ea typeface="Inter Bold" pitchFamily="34" charset="-122"/>
                <a:cs typeface="Inter Bold" pitchFamily="34" charset="-120"/>
              </a:rPr>
              <a:t>machine learning-based demand forecasting</a:t>
            </a:r>
            <a:r>
              <a:rPr lang="en-US" sz="1350" dirty="0">
                <a:solidFill>
                  <a:srgbClr val="272525"/>
                </a:solidFill>
                <a:latin typeface="Inter" pitchFamily="34" charset="0"/>
                <a:ea typeface="Inter" pitchFamily="34" charset="-122"/>
                <a:cs typeface="Inter" pitchFamily="34" charset="-120"/>
              </a:rPr>
              <a:t> to predict future inventory requirements and reduce stock shortages or excess inventory.</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Develop </a:t>
            </a:r>
            <a:r>
              <a:rPr lang="en-US" sz="1350" b="1" dirty="0">
                <a:solidFill>
                  <a:srgbClr val="272525"/>
                </a:solidFill>
                <a:latin typeface="Inter Bold" pitchFamily="34" charset="0"/>
                <a:ea typeface="Inter Bold" pitchFamily="34" charset="-122"/>
                <a:cs typeface="Inter Bold" pitchFamily="34" charset="-120"/>
              </a:rPr>
              <a:t>automated alerts and recommendations</a:t>
            </a:r>
            <a:r>
              <a:rPr lang="en-US" sz="1350" dirty="0">
                <a:solidFill>
                  <a:srgbClr val="272525"/>
                </a:solidFill>
                <a:latin typeface="Inter" pitchFamily="34" charset="0"/>
                <a:ea typeface="Inter" pitchFamily="34" charset="-122"/>
                <a:cs typeface="Inter" pitchFamily="34" charset="-120"/>
              </a:rPr>
              <a:t> for delays, inventory risks, and supply chain performance issues.</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Extend the dashboard with </a:t>
            </a:r>
            <a:r>
              <a:rPr lang="en-US" sz="1350" b="1" dirty="0">
                <a:solidFill>
                  <a:srgbClr val="272525"/>
                </a:solidFill>
                <a:latin typeface="Inter Bold" pitchFamily="34" charset="0"/>
                <a:ea typeface="Inter Bold" pitchFamily="34" charset="-122"/>
                <a:cs typeface="Inter Bold" pitchFamily="34" charset="-120"/>
              </a:rPr>
              <a:t>predictive analytics</a:t>
            </a:r>
            <a:r>
              <a:rPr lang="en-US" sz="1350" dirty="0">
                <a:solidFill>
                  <a:srgbClr val="272525"/>
                </a:solidFill>
                <a:latin typeface="Inter" pitchFamily="34" charset="0"/>
                <a:ea typeface="Inter" pitchFamily="34" charset="-122"/>
                <a:cs typeface="Inter" pitchFamily="34" charset="-120"/>
              </a:rPr>
              <a:t> to identify potential delivery delays and cost risks before they occur.</a:t>
            </a:r>
            <a:endParaRPr lang="en-US" sz="1350" dirty="0"/>
          </a:p>
          <a:p>
            <a:pPr marL="274320" indent="-274320" algn="l">
              <a:lnSpc>
                <a:spcPct val="129000"/>
              </a:lnSpc>
              <a:buSzPct val="100000"/>
              <a:buChar char="•"/>
            </a:pPr>
            <a:r>
              <a:rPr lang="en-US" sz="1350" dirty="0">
                <a:solidFill>
                  <a:srgbClr val="272525"/>
                </a:solidFill>
                <a:latin typeface="Inter" pitchFamily="34" charset="0"/>
                <a:ea typeface="Inter" pitchFamily="34" charset="-122"/>
                <a:cs typeface="Inter" pitchFamily="34" charset="-120"/>
              </a:rPr>
              <a:t>Enable </a:t>
            </a:r>
            <a:r>
              <a:rPr lang="en-US" sz="1350" b="1" dirty="0">
                <a:solidFill>
                  <a:srgbClr val="272525"/>
                </a:solidFill>
                <a:latin typeface="Inter Bold" pitchFamily="34" charset="0"/>
                <a:ea typeface="Inter Bold" pitchFamily="34" charset="-122"/>
                <a:cs typeface="Inter Bold" pitchFamily="34" charset="-120"/>
              </a:rPr>
              <a:t>automated data updates and real-time dashboards</a:t>
            </a:r>
            <a:r>
              <a:rPr lang="en-US" sz="1350" dirty="0">
                <a:solidFill>
                  <a:srgbClr val="272525"/>
                </a:solidFill>
                <a:latin typeface="Inter" pitchFamily="34" charset="0"/>
                <a:ea typeface="Inter" pitchFamily="34" charset="-122"/>
                <a:cs typeface="Inter" pitchFamily="34" charset="-120"/>
              </a:rPr>
              <a:t> for continuous supply chain monitoring and faster decision-making</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1458</Words>
  <Application>Microsoft Office PowerPoint</Application>
  <PresentationFormat>Widescreen</PresentationFormat>
  <Paragraphs>128</Paragraphs>
  <Slides>19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Inter</vt:lpstr>
      <vt:lpstr>Inter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lastModifiedBy>SABARI VASAN N</cp:lastModifiedBy>
  <cp:revision>13</cp:revision>
  <dcterms:created xsi:type="dcterms:W3CDTF">2026-07-22T10:43:57Z</dcterms:created>
  <dcterms:modified xsi:type="dcterms:W3CDTF">2026-08-15T11:51:10Z</dcterms:modified>
</cp:coreProperties>
</file>