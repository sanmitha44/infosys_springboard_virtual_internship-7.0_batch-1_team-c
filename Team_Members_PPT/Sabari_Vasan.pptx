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06" r:id="rId1"/>
  </p:sldMasterIdLst>
  <p:sldIdLst>
    <p:sldId id="256" r:id="rId2"/>
    <p:sldId id="257" r:id="rId3"/>
    <p:sldId id="275" r:id="rId4"/>
    <p:sldId id="276" r:id="rId5"/>
    <p:sldId id="282" r:id="rId6"/>
    <p:sldId id="283" r:id="rId7"/>
    <p:sldId id="284" r:id="rId8"/>
    <p:sldId id="285" r:id="rId9"/>
    <p:sldId id="286" r:id="rId10"/>
    <p:sldId id="277" r:id="rId11"/>
    <p:sldId id="278" r:id="rId12"/>
    <p:sldId id="279" r:id="rId13"/>
    <p:sldId id="281" r:id="rId14"/>
    <p:sldId id="280" r:id="rId15"/>
    <p:sldId id="266" r:id="rId16"/>
  </p:sldIdLst>
  <p:sldSz cx="18288000" cy="10287000"/>
  <p:notesSz cx="6858000" cy="9144000"/>
  <p:embeddedFontLst>
    <p:embeddedFont>
      <p:font typeface="Canva Sans" panose="020B0604020202020204" charset="0"/>
      <p:regular r:id="rId17"/>
    </p:embeddedFont>
    <p:embeddedFont>
      <p:font typeface="Canva Sans Bold" panose="020B0604020202020204" charset="0"/>
      <p:regular r:id="rId18"/>
    </p:embeddedFont>
    <p:embeddedFont>
      <p:font typeface="Trebuchet MS" panose="020B0603020202020204" pitchFamily="34" charset="0"/>
      <p:regular r:id="rId19"/>
      <p:bold r:id="rId20"/>
      <p:italic r:id="rId21"/>
      <p:boldItalic r:id="rId22"/>
    </p:embeddedFont>
    <p:embeddedFont>
      <p:font typeface="Wingdings 3" panose="05040102010807070707" pitchFamily="18" charset="2"/>
      <p:regular r:id="rId2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554" autoAdjust="0"/>
    <p:restoredTop sz="94622" autoAdjust="0"/>
  </p:normalViewPr>
  <p:slideViewPr>
    <p:cSldViewPr>
      <p:cViewPr varScale="1">
        <p:scale>
          <a:sx n="58" d="100"/>
          <a:sy n="58" d="100"/>
        </p:scale>
        <p:origin x="749"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12700"/>
            <a:ext cx="18288000" cy="10299701"/>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2260601" y="3606801"/>
            <a:ext cx="11650404" cy="2469453"/>
          </a:xfrm>
        </p:spPr>
        <p:txBody>
          <a:bodyPr anchor="b">
            <a:noAutofit/>
          </a:bodyPr>
          <a:lstStyle>
            <a:lvl1pPr algn="r">
              <a:defRPr sz="81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2260601" y="6076250"/>
            <a:ext cx="11650404" cy="1645349"/>
          </a:xfrm>
        </p:spPr>
        <p:txBody>
          <a:bodyPr anchor="t"/>
          <a:lstStyle>
            <a:lvl1pPr marL="0" indent="0" algn="r">
              <a:buNone/>
              <a:defRPr>
                <a:solidFill>
                  <a:schemeClr val="tx1">
                    <a:lumMod val="50000"/>
                    <a:lumOff val="50000"/>
                  </a:schemeClr>
                </a:solidFill>
              </a:defRPr>
            </a:lvl1pPr>
            <a:lvl2pPr marL="685800" indent="0" algn="ctr">
              <a:buNone/>
              <a:defRPr>
                <a:solidFill>
                  <a:schemeClr val="tx1">
                    <a:tint val="75000"/>
                  </a:schemeClr>
                </a:solidFill>
              </a:defRPr>
            </a:lvl2pPr>
            <a:lvl3pPr marL="1371600" indent="0" algn="ctr">
              <a:buNone/>
              <a:defRPr>
                <a:solidFill>
                  <a:schemeClr val="tx1">
                    <a:tint val="75000"/>
                  </a:schemeClr>
                </a:solidFill>
              </a:defRPr>
            </a:lvl3pPr>
            <a:lvl4pPr marL="2057400" indent="0" algn="ctr">
              <a:buNone/>
              <a:defRPr>
                <a:solidFill>
                  <a:schemeClr val="tx1">
                    <a:tint val="75000"/>
                  </a:schemeClr>
                </a:solidFill>
              </a:defRPr>
            </a:lvl4pPr>
            <a:lvl5pPr marL="2743200" indent="0" algn="ctr">
              <a:buNone/>
              <a:defRPr>
                <a:solidFill>
                  <a:schemeClr val="tx1">
                    <a:tint val="75000"/>
                  </a:schemeClr>
                </a:solidFill>
              </a:defRPr>
            </a:lvl5pPr>
            <a:lvl6pPr marL="3429000" indent="0" algn="ctr">
              <a:buNone/>
              <a:defRPr>
                <a:solidFill>
                  <a:schemeClr val="tx1">
                    <a:tint val="75000"/>
                  </a:schemeClr>
                </a:solidFill>
              </a:defRPr>
            </a:lvl6pPr>
            <a:lvl7pPr marL="4114800" indent="0" algn="ctr">
              <a:buNone/>
              <a:defRPr>
                <a:solidFill>
                  <a:schemeClr val="tx1">
                    <a:tint val="75000"/>
                  </a:schemeClr>
                </a:solidFill>
              </a:defRPr>
            </a:lvl7pPr>
            <a:lvl8pPr marL="4800600" indent="0" algn="ctr">
              <a:buNone/>
              <a:defRPr>
                <a:solidFill>
                  <a:schemeClr val="tx1">
                    <a:tint val="75000"/>
                  </a:schemeClr>
                </a:solidFill>
              </a:defRPr>
            </a:lvl8pPr>
            <a:lvl9pPr marL="54864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57446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3972322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16003" y="4051301"/>
            <a:ext cx="12895002" cy="2739872"/>
          </a:xfrm>
        </p:spPr>
        <p:txBody>
          <a:bodyPr anchor="b"/>
          <a:lstStyle>
            <a:lvl1pPr algn="l">
              <a:defRPr sz="60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1290600"/>
          </a:xfrm>
        </p:spPr>
        <p:txBody>
          <a:bodyPr anchor="t"/>
          <a:lstStyle>
            <a:lvl1pPr marL="0" indent="0" algn="l">
              <a:buNone/>
              <a:defRPr sz="30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34305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16002" y="3240884"/>
            <a:ext cx="6276053" cy="58211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634955" y="3240884"/>
            <a:ext cx="6276051" cy="5821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8BD707-D9CF-40AE-B4C6-C98DA3205C09}" type="datetimeFigureOut">
              <a:rPr lang="en-US" smtClean="0"/>
              <a:pPr/>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44016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13618" y="3241475"/>
            <a:ext cx="6278435"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013618" y="4105868"/>
            <a:ext cx="6278435"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632575" y="3241475"/>
            <a:ext cx="6278427"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7632577" y="4105868"/>
            <a:ext cx="6278426"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D8BD707-D9CF-40AE-B4C6-C98DA3205C09}" type="datetimeFigureOut">
              <a:rPr lang="en-US" smtClean="0"/>
              <a:pPr/>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752298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16001" y="914400"/>
            <a:ext cx="12895002" cy="19812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223532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628937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1" y="2247906"/>
            <a:ext cx="5781792" cy="1917699"/>
          </a:xfrm>
        </p:spPr>
        <p:txBody>
          <a:bodyPr anchor="b">
            <a:normAutofit/>
          </a:bodyPr>
          <a:lstStyle>
            <a:lvl1pPr>
              <a:defRPr sz="3000"/>
            </a:lvl1pPr>
          </a:lstStyle>
          <a:p>
            <a:r>
              <a:rPr lang="en-US"/>
              <a:t>Click to edit Master title style</a:t>
            </a:r>
            <a:endParaRPr lang="en-US" dirty="0"/>
          </a:p>
        </p:txBody>
      </p:sp>
      <p:sp>
        <p:nvSpPr>
          <p:cNvPr id="3" name="Content Placeholder 2"/>
          <p:cNvSpPr>
            <a:spLocks noGrp="1"/>
          </p:cNvSpPr>
          <p:nvPr>
            <p:ph idx="1"/>
          </p:nvPr>
        </p:nvSpPr>
        <p:spPr>
          <a:xfrm>
            <a:off x="7140692" y="772387"/>
            <a:ext cx="6770312" cy="828965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16001" y="4165604"/>
            <a:ext cx="5781792" cy="3876674"/>
          </a:xfrm>
        </p:spPr>
        <p:txBody>
          <a:bodyPr>
            <a:normAutofit/>
          </a:bodyPr>
          <a:lstStyle>
            <a:lvl1pPr marL="0" indent="0">
              <a:buNone/>
              <a:defRPr sz="2100"/>
            </a:lvl1pPr>
            <a:lvl2pPr marL="685595" indent="0">
              <a:buNone/>
              <a:defRPr sz="2100"/>
            </a:lvl2pPr>
            <a:lvl3pPr marL="1371189" indent="0">
              <a:buNone/>
              <a:defRPr sz="1800"/>
            </a:lvl3pPr>
            <a:lvl4pPr marL="2056784" indent="0">
              <a:buNone/>
              <a:defRPr sz="1500"/>
            </a:lvl4pPr>
            <a:lvl5pPr marL="2742377" indent="0">
              <a:buNone/>
              <a:defRPr sz="1500"/>
            </a:lvl5pPr>
            <a:lvl6pPr marL="3427971" indent="0">
              <a:buNone/>
              <a:defRPr sz="1500"/>
            </a:lvl6pPr>
            <a:lvl7pPr marL="4113566" indent="0">
              <a:buNone/>
              <a:defRPr sz="1500"/>
            </a:lvl7pPr>
            <a:lvl8pPr marL="4799160" indent="0">
              <a:buNone/>
              <a:defRPr sz="1500"/>
            </a:lvl8pPr>
            <a:lvl9pPr marL="5484755"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494108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2" y="7200900"/>
            <a:ext cx="12895001" cy="85010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16001" y="914400"/>
            <a:ext cx="12895002" cy="5768577"/>
          </a:xfrm>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endParaRPr lang="en-US" dirty="0"/>
          </a:p>
        </p:txBody>
      </p:sp>
      <p:sp>
        <p:nvSpPr>
          <p:cNvPr id="4" name="Text Placeholder 3"/>
          <p:cNvSpPr>
            <a:spLocks noGrp="1"/>
          </p:cNvSpPr>
          <p:nvPr>
            <p:ph type="body" sz="half" idx="2"/>
          </p:nvPr>
        </p:nvSpPr>
        <p:spPr>
          <a:xfrm>
            <a:off x="1016002" y="8051007"/>
            <a:ext cx="12895001" cy="1011036"/>
          </a:xfrm>
        </p:spPr>
        <p:txBody>
          <a:bodyPr>
            <a:normAutofit/>
          </a:bodyPr>
          <a:lstStyle>
            <a:lvl1pPr marL="0" indent="0">
              <a:buNone/>
              <a:defRPr sz="18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455451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3" y="914400"/>
            <a:ext cx="12895002" cy="5105400"/>
          </a:xfrm>
        </p:spPr>
        <p:txBody>
          <a:bodyPr anchor="ctr">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1797663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2049209" y="5448300"/>
            <a:ext cx="10836786" cy="571500"/>
          </a:xfrm>
        </p:spPr>
        <p:txBody>
          <a:bodyPr anchor="ctr">
            <a:noAutofit/>
          </a:bodyPr>
          <a:lstStyle>
            <a:lvl1pPr marL="0" indent="0">
              <a:buFontTx/>
              <a:buNone/>
              <a:defRPr sz="2400">
                <a:solidFill>
                  <a:schemeClr val="tx1">
                    <a:lumMod val="50000"/>
                    <a:lumOff val="50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0" name="TextBox 19"/>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latin typeface="Arial"/>
              </a:rPr>
              <a:t>”</a:t>
            </a:r>
            <a:endParaRPr lang="en-US" sz="2700" dirty="0">
              <a:solidFill>
                <a:schemeClr val="accent1">
                  <a:lumMod val="60000"/>
                  <a:lumOff val="40000"/>
                </a:schemeClr>
              </a:solidFill>
              <a:latin typeface="Arial"/>
            </a:endParaRPr>
          </a:p>
        </p:txBody>
      </p:sp>
    </p:spTree>
    <p:extLst>
      <p:ext uri="{BB962C8B-B14F-4D97-AF65-F5344CB8AC3E}">
        <p14:creationId xmlns:p14="http://schemas.microsoft.com/office/powerpoint/2010/main" val="1530136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016003" y="2897982"/>
            <a:ext cx="12895002" cy="3893190"/>
          </a:xfrm>
        </p:spPr>
        <p:txBody>
          <a:bodyPr anchor="b">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282682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tx1">
                    <a:lumMod val="75000"/>
                    <a:lumOff val="25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4" name="TextBox 23"/>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8769054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028699" y="914400"/>
            <a:ext cx="12882305"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accent1"/>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296474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8928907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951510" y="914399"/>
            <a:ext cx="1957115" cy="787717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1016003" y="914400"/>
            <a:ext cx="10590225" cy="78771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963012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12700"/>
            <a:ext cx="18288000" cy="10299701"/>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1016001" y="914400"/>
            <a:ext cx="12895002" cy="19812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16001" y="3240884"/>
            <a:ext cx="12895002" cy="5821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807700" y="9062044"/>
            <a:ext cx="1367909" cy="547688"/>
          </a:xfrm>
          <a:prstGeom prst="rect">
            <a:avLst/>
          </a:prstGeom>
        </p:spPr>
        <p:txBody>
          <a:bodyPr vert="horz" lIns="91440" tIns="45720" rIns="91440" bIns="45720" rtlCol="0" anchor="ctr"/>
          <a:lstStyle>
            <a:lvl1pPr algn="r">
              <a:defRPr sz="1350">
                <a:solidFill>
                  <a:schemeClr val="tx1">
                    <a:tint val="75000"/>
                  </a:schemeClr>
                </a:solidFill>
              </a:defRPr>
            </a:lvl1pPr>
          </a:lstStyle>
          <a:p>
            <a:fld id="{1D8BD707-D9CF-40AE-B4C6-C98DA3205C09}" type="datetimeFigureOut">
              <a:rPr lang="en-US" smtClean="0"/>
              <a:pPr/>
              <a:t>8/31/2026</a:t>
            </a:fld>
            <a:endParaRPr lang="en-US"/>
          </a:p>
        </p:txBody>
      </p:sp>
      <p:sp>
        <p:nvSpPr>
          <p:cNvPr id="5" name="Footer Placeholder 4"/>
          <p:cNvSpPr>
            <a:spLocks noGrp="1"/>
          </p:cNvSpPr>
          <p:nvPr>
            <p:ph type="ftr" sz="quarter" idx="3"/>
          </p:nvPr>
        </p:nvSpPr>
        <p:spPr>
          <a:xfrm>
            <a:off x="1016001" y="9062044"/>
            <a:ext cx="9446418" cy="547688"/>
          </a:xfrm>
          <a:prstGeom prst="rect">
            <a:avLst/>
          </a:prstGeom>
        </p:spPr>
        <p:txBody>
          <a:bodyPr vert="horz" lIns="91440" tIns="45720" rIns="91440" bIns="45720" rtlCol="0" anchor="ctr"/>
          <a:lstStyle>
            <a:lvl1pPr algn="l">
              <a:defRPr sz="13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2885995" y="9062044"/>
            <a:ext cx="1025009" cy="547688"/>
          </a:xfrm>
          <a:prstGeom prst="rect">
            <a:avLst/>
          </a:prstGeom>
        </p:spPr>
        <p:txBody>
          <a:bodyPr vert="horz" lIns="91440" tIns="45720" rIns="91440" bIns="45720" rtlCol="0" anchor="ctr"/>
          <a:lstStyle>
            <a:lvl1pPr algn="r">
              <a:defRPr sz="1350">
                <a:solidFill>
                  <a:schemeClr val="accent1"/>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633204539"/>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19" r:id="rId13"/>
    <p:sldLayoutId id="2147483720" r:id="rId14"/>
    <p:sldLayoutId id="2147483721" r:id="rId15"/>
    <p:sldLayoutId id="2147483722" r:id="rId16"/>
  </p:sldLayoutIdLst>
  <p:txStyles>
    <p:titleStyle>
      <a:lvl1pPr algn="l" defTabSz="6858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514350" indent="-514350" algn="l" defTabSz="685800" rtl="0" eaLnBrk="1" latinLnBrk="0" hangingPunct="1">
        <a:spcBef>
          <a:spcPts val="1500"/>
        </a:spcBef>
        <a:spcAft>
          <a:spcPts val="0"/>
        </a:spcAft>
        <a:buClr>
          <a:schemeClr val="accent1"/>
        </a:buClr>
        <a:buSzPct val="80000"/>
        <a:buFont typeface="Wingdings 3" charset="2"/>
        <a:buChar char=""/>
        <a:defRPr sz="2700" kern="1200">
          <a:solidFill>
            <a:schemeClr val="tx1">
              <a:lumMod val="75000"/>
              <a:lumOff val="25000"/>
            </a:schemeClr>
          </a:solidFill>
          <a:latin typeface="+mn-lt"/>
          <a:ea typeface="+mn-ea"/>
          <a:cs typeface="+mn-cs"/>
        </a:defRPr>
      </a:lvl1pPr>
      <a:lvl2pPr marL="1114425" indent="-428625" algn="l" defTabSz="685800" rtl="0" eaLnBrk="1" latinLnBrk="0" hangingPunct="1">
        <a:spcBef>
          <a:spcPts val="1500"/>
        </a:spcBef>
        <a:spcAft>
          <a:spcPts val="0"/>
        </a:spcAft>
        <a:buClr>
          <a:schemeClr val="accent1"/>
        </a:buClr>
        <a:buSzPct val="80000"/>
        <a:buFont typeface="Wingdings 3" charset="2"/>
        <a:buChar char=""/>
        <a:defRPr sz="2400" kern="1200">
          <a:solidFill>
            <a:schemeClr val="tx1">
              <a:lumMod val="75000"/>
              <a:lumOff val="25000"/>
            </a:schemeClr>
          </a:solidFill>
          <a:latin typeface="+mn-lt"/>
          <a:ea typeface="+mn-ea"/>
          <a:cs typeface="+mn-cs"/>
        </a:defRPr>
      </a:lvl2pPr>
      <a:lvl3pPr marL="1714500" indent="-342900" algn="l" defTabSz="685800" rtl="0" eaLnBrk="1" latinLnBrk="0" hangingPunct="1">
        <a:spcBef>
          <a:spcPts val="1500"/>
        </a:spcBef>
        <a:spcAft>
          <a:spcPts val="0"/>
        </a:spcAft>
        <a:buClr>
          <a:schemeClr val="accent1"/>
        </a:buClr>
        <a:buSzPct val="80000"/>
        <a:buFont typeface="Wingdings 3" charset="2"/>
        <a:buChar char=""/>
        <a:defRPr sz="2100" kern="1200">
          <a:solidFill>
            <a:schemeClr val="tx1">
              <a:lumMod val="75000"/>
              <a:lumOff val="25000"/>
            </a:schemeClr>
          </a:solidFill>
          <a:latin typeface="+mn-lt"/>
          <a:ea typeface="+mn-ea"/>
          <a:cs typeface="+mn-cs"/>
        </a:defRPr>
      </a:lvl3pPr>
      <a:lvl4pPr marL="2400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4pPr>
      <a:lvl5pPr marL="30861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5pPr>
      <a:lvl6pPr marL="37719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6pPr>
      <a:lvl7pPr marL="44577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7pPr>
      <a:lvl8pPr marL="51435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8pPr>
      <a:lvl9pPr marL="5829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2700" kern="1200">
          <a:solidFill>
            <a:schemeClr val="tx1"/>
          </a:solidFill>
          <a:latin typeface="+mn-lt"/>
          <a:ea typeface="+mn-ea"/>
          <a:cs typeface="+mn-cs"/>
        </a:defRPr>
      </a:lvl1pPr>
      <a:lvl2pPr marL="685800" algn="l" defTabSz="685800" rtl="0" eaLnBrk="1" latinLnBrk="0" hangingPunct="1">
        <a:defRPr sz="2700" kern="1200">
          <a:solidFill>
            <a:schemeClr val="tx1"/>
          </a:solidFill>
          <a:latin typeface="+mn-lt"/>
          <a:ea typeface="+mn-ea"/>
          <a:cs typeface="+mn-cs"/>
        </a:defRPr>
      </a:lvl2pPr>
      <a:lvl3pPr marL="1371600" algn="l" defTabSz="685800" rtl="0" eaLnBrk="1" latinLnBrk="0" hangingPunct="1">
        <a:defRPr sz="2700" kern="1200">
          <a:solidFill>
            <a:schemeClr val="tx1"/>
          </a:solidFill>
          <a:latin typeface="+mn-lt"/>
          <a:ea typeface="+mn-ea"/>
          <a:cs typeface="+mn-cs"/>
        </a:defRPr>
      </a:lvl3pPr>
      <a:lvl4pPr marL="2057400" algn="l" defTabSz="685800" rtl="0" eaLnBrk="1" latinLnBrk="0" hangingPunct="1">
        <a:defRPr sz="2700" kern="1200">
          <a:solidFill>
            <a:schemeClr val="tx1"/>
          </a:solidFill>
          <a:latin typeface="+mn-lt"/>
          <a:ea typeface="+mn-ea"/>
          <a:cs typeface="+mn-cs"/>
        </a:defRPr>
      </a:lvl4pPr>
      <a:lvl5pPr marL="2743200" algn="l" defTabSz="685800" rtl="0" eaLnBrk="1" latinLnBrk="0" hangingPunct="1">
        <a:defRPr sz="2700" kern="1200">
          <a:solidFill>
            <a:schemeClr val="tx1"/>
          </a:solidFill>
          <a:latin typeface="+mn-lt"/>
          <a:ea typeface="+mn-ea"/>
          <a:cs typeface="+mn-cs"/>
        </a:defRPr>
      </a:lvl5pPr>
      <a:lvl6pPr marL="3429000" algn="l" defTabSz="685800" rtl="0" eaLnBrk="1" latinLnBrk="0" hangingPunct="1">
        <a:defRPr sz="2700" kern="1200">
          <a:solidFill>
            <a:schemeClr val="tx1"/>
          </a:solidFill>
          <a:latin typeface="+mn-lt"/>
          <a:ea typeface="+mn-ea"/>
          <a:cs typeface="+mn-cs"/>
        </a:defRPr>
      </a:lvl6pPr>
      <a:lvl7pPr marL="4114800" algn="l" defTabSz="685800" rtl="0" eaLnBrk="1" latinLnBrk="0" hangingPunct="1">
        <a:defRPr sz="2700" kern="1200">
          <a:solidFill>
            <a:schemeClr val="tx1"/>
          </a:solidFill>
          <a:latin typeface="+mn-lt"/>
          <a:ea typeface="+mn-ea"/>
          <a:cs typeface="+mn-cs"/>
        </a:defRPr>
      </a:lvl7pPr>
      <a:lvl8pPr marL="4800600" algn="l" defTabSz="685800" rtl="0" eaLnBrk="1" latinLnBrk="0" hangingPunct="1">
        <a:defRPr sz="2700" kern="1200">
          <a:solidFill>
            <a:schemeClr val="tx1"/>
          </a:solidFill>
          <a:latin typeface="+mn-lt"/>
          <a:ea typeface="+mn-ea"/>
          <a:cs typeface="+mn-cs"/>
        </a:defRPr>
      </a:lvl8pPr>
      <a:lvl9pPr marL="5486400" algn="l" defTabSz="6858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524000" y="737326"/>
            <a:ext cx="14870584" cy="2062296"/>
          </a:xfrm>
          <a:prstGeom prst="rect">
            <a:avLst/>
          </a:prstGeom>
        </p:spPr>
        <p:txBody>
          <a:bodyPr lIns="0" tIns="0" rIns="0" bIns="0" rtlCol="0" anchor="t">
            <a:spAutoFit/>
          </a:bodyPr>
          <a:lstStyle/>
          <a:p>
            <a:pPr algn="ctr">
              <a:lnSpc>
                <a:spcPts val="8591"/>
              </a:lnSpc>
              <a:spcBef>
                <a:spcPct val="0"/>
              </a:spcBef>
            </a:pPr>
            <a:r>
              <a:rPr lang="en-IN" sz="4400" dirty="0">
                <a:effectLst>
                  <a:outerShdw blurRad="38100" dist="19050" dir="2700000" algn="tl">
                    <a:schemeClr val="dk1">
                      <a:alpha val="40000"/>
                    </a:schemeClr>
                  </a:outerShdw>
                </a:effectLst>
                <a:latin typeface="Times New Roman" panose="02020603050405020304" pitchFamily="18" charset="0"/>
                <a:cs typeface="Times New Roman" panose="02020603050405020304" pitchFamily="18" charset="0"/>
              </a:rPr>
              <a:t>Supply Chain Visibility System with Optimization Analytics Group1</a:t>
            </a:r>
            <a:endParaRPr lang="en-US" sz="4400" dirty="0">
              <a:solidFill>
                <a:srgbClr val="004AAD"/>
              </a:solidFill>
              <a:latin typeface="Times New Roman" panose="02020603050405020304" pitchFamily="18" charset="0"/>
              <a:ea typeface="Canva Sans"/>
              <a:cs typeface="Times New Roman" panose="02020603050405020304" pitchFamily="18" charset="0"/>
              <a:sym typeface="Canva Sans"/>
            </a:endParaRPr>
          </a:p>
        </p:txBody>
      </p:sp>
      <p:sp>
        <p:nvSpPr>
          <p:cNvPr id="4" name="TextBox 4"/>
          <p:cNvSpPr txBox="1"/>
          <p:nvPr/>
        </p:nvSpPr>
        <p:spPr>
          <a:xfrm>
            <a:off x="6096000" y="3970995"/>
            <a:ext cx="4982371" cy="923330"/>
          </a:xfrm>
          <a:prstGeom prst="rect">
            <a:avLst/>
          </a:prstGeom>
        </p:spPr>
        <p:txBody>
          <a:bodyPr wrap="square" lIns="0" tIns="0" rIns="0" bIns="0" rtlCol="0" anchor="t">
            <a:spAutoFit/>
          </a:bodyPr>
          <a:lstStyle/>
          <a:p>
            <a:pPr algn="ctr">
              <a:lnSpc>
                <a:spcPts val="3639"/>
              </a:lnSpc>
              <a:spcBef>
                <a:spcPct val="0"/>
              </a:spcBef>
            </a:pPr>
            <a:r>
              <a:rPr lang="en-US" sz="3200" b="1" dirty="0">
                <a:solidFill>
                  <a:srgbClr val="000000"/>
                </a:solidFill>
                <a:latin typeface="Canva Sans"/>
                <a:ea typeface="Canva Sans"/>
                <a:cs typeface="Canva Sans"/>
                <a:sym typeface="Canva Sans"/>
              </a:rPr>
              <a:t> Final  Project Presentation</a:t>
            </a:r>
          </a:p>
        </p:txBody>
      </p:sp>
      <p:sp>
        <p:nvSpPr>
          <p:cNvPr id="5" name="TextBox 5"/>
          <p:cNvSpPr txBox="1"/>
          <p:nvPr/>
        </p:nvSpPr>
        <p:spPr>
          <a:xfrm>
            <a:off x="-3352800" y="4500400"/>
            <a:ext cx="16230600" cy="1727781"/>
          </a:xfrm>
          <a:prstGeom prst="rect">
            <a:avLst/>
          </a:prstGeom>
        </p:spPr>
        <p:txBody>
          <a:bodyPr wrap="square" lIns="0" tIns="0" rIns="0" bIns="0" rtlCol="0" anchor="t">
            <a:spAutoFit/>
          </a:bodyPr>
          <a:lstStyle/>
          <a:p>
            <a:pPr algn="ctr">
              <a:lnSpc>
                <a:spcPts val="3359"/>
              </a:lnSpc>
              <a:spcBef>
                <a:spcPct val="0"/>
              </a:spcBef>
            </a:pPr>
            <a:endParaRPr lang="en-US" sz="2800" b="1" dirty="0">
              <a:solidFill>
                <a:srgbClr val="000000"/>
              </a:solidFill>
              <a:latin typeface="Canva Sans"/>
              <a:ea typeface="Canva Sans"/>
              <a:cs typeface="Canva Sans"/>
              <a:sym typeface="Canva Sans"/>
            </a:endParaRPr>
          </a:p>
          <a:p>
            <a:pPr algn="ctr">
              <a:lnSpc>
                <a:spcPts val="3359"/>
              </a:lnSpc>
              <a:spcBef>
                <a:spcPct val="0"/>
              </a:spcBef>
            </a:pPr>
            <a:endParaRPr lang="en-US" sz="2800" b="1" dirty="0">
              <a:solidFill>
                <a:srgbClr val="000000"/>
              </a:solidFill>
              <a:latin typeface="Canva Sans"/>
              <a:ea typeface="Canva Sans"/>
              <a:cs typeface="Canva Sans"/>
              <a:sym typeface="Canva Sans"/>
            </a:endParaRPr>
          </a:p>
          <a:p>
            <a:pPr algn="ctr">
              <a:lnSpc>
                <a:spcPts val="3359"/>
              </a:lnSpc>
              <a:spcBef>
                <a:spcPct val="0"/>
              </a:spcBef>
            </a:pPr>
            <a:r>
              <a:rPr lang="en-US" sz="2800" b="1" dirty="0">
                <a:solidFill>
                  <a:srgbClr val="000000"/>
                </a:solidFill>
                <a:latin typeface="Canva Sans"/>
                <a:ea typeface="Canva Sans"/>
                <a:cs typeface="Canva Sans"/>
                <a:sym typeface="Canva Sans"/>
              </a:rPr>
              <a:t>    NAME :  Sabari Vasan N</a:t>
            </a:r>
          </a:p>
          <a:p>
            <a:pPr algn="ctr">
              <a:lnSpc>
                <a:spcPts val="3359"/>
              </a:lnSpc>
              <a:spcBef>
                <a:spcPct val="0"/>
              </a:spcBef>
            </a:pPr>
            <a:r>
              <a:rPr lang="en-US" sz="2800" b="1" dirty="0">
                <a:solidFill>
                  <a:srgbClr val="000000"/>
                </a:solidFill>
                <a:latin typeface="Canva Sans"/>
                <a:ea typeface="Canva Sans"/>
                <a:cs typeface="Canva Sans"/>
                <a:sym typeface="Canva Sans"/>
              </a:rPr>
              <a:t>                           INTERNSHIP DURATION – 8 WEEKS                                                 </a:t>
            </a:r>
          </a:p>
        </p:txBody>
      </p:sp>
      <p:sp>
        <p:nvSpPr>
          <p:cNvPr id="6" name="TextBox 5">
            <a:extLst>
              <a:ext uri="{FF2B5EF4-FFF2-40B4-BE49-F238E27FC236}">
                <a16:creationId xmlns:a16="http://schemas.microsoft.com/office/drawing/2014/main" id="{3F7B0654-3B76-F69E-4945-7AEA71E48ED3}"/>
              </a:ext>
            </a:extLst>
          </p:cNvPr>
          <p:cNvSpPr txBox="1"/>
          <p:nvPr/>
        </p:nvSpPr>
        <p:spPr>
          <a:xfrm>
            <a:off x="3238500" y="3115115"/>
            <a:ext cx="11811000" cy="643766"/>
          </a:xfrm>
          <a:prstGeom prst="rect">
            <a:avLst/>
          </a:prstGeom>
          <a:noFill/>
        </p:spPr>
        <p:txBody>
          <a:bodyPr wrap="square" rtlCol="0">
            <a:spAutoFit/>
          </a:bodyPr>
          <a:lstStyle/>
          <a:p>
            <a:pPr algn="ctr">
              <a:lnSpc>
                <a:spcPts val="4297"/>
              </a:lnSpc>
              <a:spcBef>
                <a:spcPct val="0"/>
              </a:spcBef>
            </a:pPr>
            <a:r>
              <a:rPr lang="en-US" sz="4000" dirty="0">
                <a:solidFill>
                  <a:srgbClr val="38B6FF"/>
                </a:solidFill>
                <a:latin typeface="Times New Roman" panose="02020603050405020304" pitchFamily="18" charset="0"/>
                <a:ea typeface="Canva Sans"/>
                <a:cs typeface="Times New Roman" panose="02020603050405020304" pitchFamily="18" charset="0"/>
                <a:sym typeface="Canva Sans"/>
              </a:rPr>
              <a:t>Infosys Springboard Virtual Internship 7.0</a:t>
            </a:r>
          </a:p>
        </p:txBody>
      </p:sp>
      <p:sp>
        <p:nvSpPr>
          <p:cNvPr id="7" name="TextBox 6">
            <a:extLst>
              <a:ext uri="{FF2B5EF4-FFF2-40B4-BE49-F238E27FC236}">
                <a16:creationId xmlns:a16="http://schemas.microsoft.com/office/drawing/2014/main" id="{44FA1FB6-3473-5107-7952-7944974C5E04}"/>
              </a:ext>
            </a:extLst>
          </p:cNvPr>
          <p:cNvSpPr txBox="1"/>
          <p:nvPr/>
        </p:nvSpPr>
        <p:spPr>
          <a:xfrm rot="10800000" flipV="1">
            <a:off x="2705100" y="7691430"/>
            <a:ext cx="6781800" cy="646331"/>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Mentor:</a:t>
            </a:r>
            <a:r>
              <a:rPr lang="en-GB" sz="3600" dirty="0">
                <a:latin typeface="Times New Roman" panose="02020603050405020304" pitchFamily="18" charset="0"/>
                <a:cs typeface="Times New Roman" panose="02020603050405020304" pitchFamily="18" charset="0"/>
              </a:rPr>
              <a:t> </a:t>
            </a:r>
            <a:r>
              <a:rPr lang="en-GB" sz="3600" dirty="0" err="1">
                <a:latin typeface="Times New Roman" panose="02020603050405020304" pitchFamily="18" charset="0"/>
                <a:cs typeface="Times New Roman" panose="02020603050405020304" pitchFamily="18" charset="0"/>
              </a:rPr>
              <a:t>Ms.Nityasree</a:t>
            </a:r>
            <a:endParaRPr lang="en-GB" sz="3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85800" y="472659"/>
            <a:ext cx="4261035" cy="587148"/>
          </a:xfrm>
          <a:prstGeom prst="rect">
            <a:avLst/>
          </a:prstGeom>
        </p:spPr>
        <p:txBody>
          <a:bodyPr wrap="square" lIns="0" tIns="0" rIns="0" bIns="0" rtlCol="0" anchor="t">
            <a:spAutoFit/>
          </a:bodyPr>
          <a:lstStyle/>
          <a:p>
            <a:pPr algn="ctr">
              <a:lnSpc>
                <a:spcPts val="4900"/>
              </a:lnSpc>
              <a:spcBef>
                <a:spcPct val="0"/>
              </a:spcBef>
            </a:pPr>
            <a:r>
              <a:rPr lang="en-US" sz="3500" b="1" dirty="0">
                <a:solidFill>
                  <a:srgbClr val="000000"/>
                </a:solidFill>
                <a:latin typeface="Times New Roman" panose="02020603050405020304" pitchFamily="18" charset="0"/>
                <a:ea typeface="Canva Sans Bold"/>
                <a:cs typeface="Times New Roman" panose="02020603050405020304" pitchFamily="18" charset="0"/>
                <a:sym typeface="Canva Sans Bold"/>
              </a:rPr>
              <a:t>Project </a:t>
            </a:r>
            <a:r>
              <a:rPr lang="en-US" sz="3600" b="1" dirty="0">
                <a:solidFill>
                  <a:srgbClr val="000000"/>
                </a:solidFill>
                <a:latin typeface="Times New Roman" panose="02020603050405020304" pitchFamily="18" charset="0"/>
                <a:ea typeface="Canva Sans Bold"/>
                <a:cs typeface="Times New Roman" panose="02020603050405020304" pitchFamily="18" charset="0"/>
                <a:sym typeface="Canva Sans Bold"/>
              </a:rPr>
              <a:t>Objective</a:t>
            </a:r>
          </a:p>
        </p:txBody>
      </p:sp>
      <p:sp>
        <p:nvSpPr>
          <p:cNvPr id="4" name="TextBox 4"/>
          <p:cNvSpPr txBox="1"/>
          <p:nvPr/>
        </p:nvSpPr>
        <p:spPr>
          <a:xfrm>
            <a:off x="653143" y="1243756"/>
            <a:ext cx="14573845" cy="4067780"/>
          </a:xfrm>
          <a:prstGeom prst="rect">
            <a:avLst/>
          </a:prstGeom>
        </p:spPr>
        <p:txBody>
          <a:bodyPr lIns="0" tIns="0" rIns="0" bIns="0" rtlCol="0" anchor="t">
            <a:spAutoFit/>
          </a:bodyPr>
          <a:lstStyle/>
          <a:p>
            <a:pPr marL="539749" lvl="1" indent="-269875" algn="l">
              <a:lnSpc>
                <a:spcPts val="3499"/>
              </a:lnSpc>
              <a:spcBef>
                <a:spcPct val="0"/>
              </a:spcBef>
              <a:buFont typeface="Arial"/>
              <a:buChar char="•"/>
            </a:pPr>
            <a:r>
              <a:rPr lang="en-US" sz="3200" dirty="0">
                <a:solidFill>
                  <a:srgbClr val="000000"/>
                </a:solidFill>
                <a:latin typeface="Times New Roman" panose="02020603050405020304" pitchFamily="18" charset="0"/>
                <a:ea typeface="Canva Sans"/>
                <a:cs typeface="Times New Roman" panose="02020603050405020304" pitchFamily="18" charset="0"/>
                <a:sym typeface="Canva Sans"/>
              </a:rPr>
              <a:t>To improve end-to-end visibility across the supply chain using data analytics.</a:t>
            </a:r>
          </a:p>
          <a:p>
            <a:pPr algn="l">
              <a:lnSpc>
                <a:spcPts val="3499"/>
              </a:lnSpc>
              <a:spcBef>
                <a:spcPct val="0"/>
              </a:spcBef>
            </a:pPr>
            <a:endParaRPr lang="en-US" sz="3200" dirty="0">
              <a:solidFill>
                <a:srgbClr val="000000"/>
              </a:solidFill>
              <a:latin typeface="Times New Roman" panose="02020603050405020304" pitchFamily="18" charset="0"/>
              <a:ea typeface="Canva Sans"/>
              <a:cs typeface="Times New Roman" panose="02020603050405020304" pitchFamily="18" charset="0"/>
              <a:sym typeface="Canva Sans"/>
            </a:endParaRPr>
          </a:p>
          <a:p>
            <a:pPr marL="539749" lvl="1" indent="-269875" algn="l">
              <a:lnSpc>
                <a:spcPts val="3499"/>
              </a:lnSpc>
              <a:spcBef>
                <a:spcPct val="0"/>
              </a:spcBef>
              <a:buFont typeface="Arial"/>
              <a:buChar char="•"/>
            </a:pPr>
            <a:r>
              <a:rPr lang="en-US" sz="3200" dirty="0">
                <a:solidFill>
                  <a:srgbClr val="000000"/>
                </a:solidFill>
                <a:latin typeface="Times New Roman" panose="02020603050405020304" pitchFamily="18" charset="0"/>
                <a:ea typeface="Canva Sans"/>
                <a:cs typeface="Times New Roman" panose="02020603050405020304" pitchFamily="18" charset="0"/>
                <a:sym typeface="Canva Sans"/>
              </a:rPr>
              <a:t>To identify operational bottlenecks affecting inventory movement and order fulfillment.</a:t>
            </a:r>
          </a:p>
          <a:p>
            <a:pPr algn="l">
              <a:lnSpc>
                <a:spcPts val="3499"/>
              </a:lnSpc>
              <a:spcBef>
                <a:spcPct val="0"/>
              </a:spcBef>
            </a:pPr>
            <a:endParaRPr lang="en-US" sz="3200" dirty="0">
              <a:solidFill>
                <a:srgbClr val="000000"/>
              </a:solidFill>
              <a:latin typeface="Times New Roman" panose="02020603050405020304" pitchFamily="18" charset="0"/>
              <a:ea typeface="Canva Sans"/>
              <a:cs typeface="Times New Roman" panose="02020603050405020304" pitchFamily="18" charset="0"/>
              <a:sym typeface="Canva Sans"/>
            </a:endParaRPr>
          </a:p>
          <a:p>
            <a:pPr marL="539749" lvl="1" indent="-269875" algn="l">
              <a:lnSpc>
                <a:spcPts val="3499"/>
              </a:lnSpc>
              <a:spcBef>
                <a:spcPct val="0"/>
              </a:spcBef>
              <a:buFont typeface="Arial"/>
              <a:buChar char="•"/>
            </a:pPr>
            <a:r>
              <a:rPr lang="en-US" sz="3200" dirty="0">
                <a:solidFill>
                  <a:srgbClr val="000000"/>
                </a:solidFill>
                <a:latin typeface="Times New Roman" panose="02020603050405020304" pitchFamily="18" charset="0"/>
                <a:ea typeface="Canva Sans"/>
                <a:cs typeface="Times New Roman" panose="02020603050405020304" pitchFamily="18" charset="0"/>
                <a:sym typeface="Canva Sans"/>
              </a:rPr>
              <a:t>To optimize logistics, inventory management, and delivery performance.</a:t>
            </a:r>
          </a:p>
          <a:p>
            <a:pPr algn="l">
              <a:lnSpc>
                <a:spcPts val="3499"/>
              </a:lnSpc>
              <a:spcBef>
                <a:spcPct val="0"/>
              </a:spcBef>
            </a:pPr>
            <a:endParaRPr lang="en-US" sz="3200" dirty="0">
              <a:solidFill>
                <a:srgbClr val="000000"/>
              </a:solidFill>
              <a:latin typeface="Times New Roman" panose="02020603050405020304" pitchFamily="18" charset="0"/>
              <a:ea typeface="Canva Sans"/>
              <a:cs typeface="Times New Roman" panose="02020603050405020304" pitchFamily="18" charset="0"/>
              <a:sym typeface="Canva Sans"/>
            </a:endParaRPr>
          </a:p>
          <a:p>
            <a:pPr marL="539749" lvl="1" indent="-269875" algn="l">
              <a:lnSpc>
                <a:spcPts val="3499"/>
              </a:lnSpc>
              <a:spcBef>
                <a:spcPct val="0"/>
              </a:spcBef>
              <a:buFont typeface="Arial"/>
              <a:buChar char="•"/>
            </a:pPr>
            <a:r>
              <a:rPr lang="en-US" sz="3200" dirty="0">
                <a:solidFill>
                  <a:srgbClr val="000000"/>
                </a:solidFill>
                <a:latin typeface="Times New Roman" panose="02020603050405020304" pitchFamily="18" charset="0"/>
                <a:ea typeface="Canva Sans"/>
                <a:cs typeface="Times New Roman" panose="02020603050405020304" pitchFamily="18" charset="0"/>
                <a:sym typeface="Canva Sans"/>
              </a:rPr>
              <a:t>To support data-driven decision-making through interactive dashboards and reports.</a:t>
            </a:r>
          </a:p>
          <a:p>
            <a:pPr algn="l">
              <a:lnSpc>
                <a:spcPts val="4118"/>
              </a:lnSpc>
              <a:spcBef>
                <a:spcPct val="0"/>
              </a:spcBef>
            </a:pPr>
            <a:endParaRPr lang="en-US" sz="2499" dirty="0">
              <a:solidFill>
                <a:srgbClr val="000000"/>
              </a:solidFill>
              <a:latin typeface="Canva Sans"/>
              <a:ea typeface="Canva Sans"/>
              <a:cs typeface="Canva Sans"/>
              <a:sym typeface="Canva Sans"/>
            </a:endParaRPr>
          </a:p>
        </p:txBody>
      </p:sp>
      <p:sp>
        <p:nvSpPr>
          <p:cNvPr id="5" name="TextBox 4">
            <a:extLst>
              <a:ext uri="{FF2B5EF4-FFF2-40B4-BE49-F238E27FC236}">
                <a16:creationId xmlns:a16="http://schemas.microsoft.com/office/drawing/2014/main" id="{8B92EC85-CA9F-ACC0-BA95-E9E90C44B1E8}"/>
              </a:ext>
            </a:extLst>
          </p:cNvPr>
          <p:cNvSpPr txBox="1"/>
          <p:nvPr/>
        </p:nvSpPr>
        <p:spPr>
          <a:xfrm>
            <a:off x="1143000" y="5311536"/>
            <a:ext cx="4267200" cy="646331"/>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Project  Modules</a:t>
            </a:r>
          </a:p>
        </p:txBody>
      </p:sp>
      <p:sp>
        <p:nvSpPr>
          <p:cNvPr id="6" name="TextBox 5">
            <a:extLst>
              <a:ext uri="{FF2B5EF4-FFF2-40B4-BE49-F238E27FC236}">
                <a16:creationId xmlns:a16="http://schemas.microsoft.com/office/drawing/2014/main" id="{1F319E0E-5643-54C3-9433-68BBB6A22857}"/>
              </a:ext>
            </a:extLst>
          </p:cNvPr>
          <p:cNvSpPr txBox="1"/>
          <p:nvPr/>
        </p:nvSpPr>
        <p:spPr>
          <a:xfrm>
            <a:off x="1143000" y="6117175"/>
            <a:ext cx="10896600" cy="3697166"/>
          </a:xfrm>
          <a:prstGeom prst="rect">
            <a:avLst/>
          </a:prstGeom>
          <a:noFill/>
        </p:spPr>
        <p:txBody>
          <a:bodyPr wrap="square" rtlCol="0">
            <a:spAutoFit/>
          </a:bodyPr>
          <a:lstStyle/>
          <a:p>
            <a:pPr marL="285750" lvl="0" indent="-28575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Data Collection &amp; Understanding</a:t>
            </a:r>
          </a:p>
          <a:p>
            <a:pPr marL="285750" lvl="0" indent="-28575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Data Preprocessing</a:t>
            </a:r>
          </a:p>
          <a:p>
            <a:pPr marL="285750" lvl="0" indent="-28575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Data Modelling &amp; KPI Analysis</a:t>
            </a:r>
          </a:p>
          <a:p>
            <a:pPr marL="285750" lvl="0" indent="-28575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Power BI Visualization</a:t>
            </a:r>
          </a:p>
          <a:p>
            <a:pPr marL="285750" lvl="0" indent="-28575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Insights &amp; Reporting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199C8C3-0BBC-7AD9-7A01-FD156A200FD0}"/>
              </a:ext>
            </a:extLst>
          </p:cNvPr>
          <p:cNvSpPr txBox="1"/>
          <p:nvPr/>
        </p:nvSpPr>
        <p:spPr>
          <a:xfrm>
            <a:off x="1295400" y="723900"/>
            <a:ext cx="9525000" cy="707886"/>
          </a:xfrm>
          <a:prstGeom prst="rect">
            <a:avLst/>
          </a:prstGeom>
          <a:noFill/>
        </p:spPr>
        <p:txBody>
          <a:bodyPr wrap="square" rtlCol="0">
            <a:spAutoFit/>
          </a:bodyPr>
          <a:lstStyle/>
          <a:p>
            <a:r>
              <a:rPr lang="en-GB" sz="4000" b="1" dirty="0">
                <a:latin typeface="Times New Roman" panose="02020603050405020304" pitchFamily="18" charset="0"/>
                <a:cs typeface="Times New Roman" panose="02020603050405020304" pitchFamily="18" charset="0"/>
              </a:rPr>
              <a:t>Project Execution Milestones</a:t>
            </a:r>
          </a:p>
        </p:txBody>
      </p:sp>
      <p:sp>
        <p:nvSpPr>
          <p:cNvPr id="3" name="TextBox 2">
            <a:extLst>
              <a:ext uri="{FF2B5EF4-FFF2-40B4-BE49-F238E27FC236}">
                <a16:creationId xmlns:a16="http://schemas.microsoft.com/office/drawing/2014/main" id="{CDFA5717-9A1C-0216-6A3E-BEDBC7F944FA}"/>
              </a:ext>
            </a:extLst>
          </p:cNvPr>
          <p:cNvSpPr txBox="1"/>
          <p:nvPr/>
        </p:nvSpPr>
        <p:spPr>
          <a:xfrm>
            <a:off x="1295400" y="1790700"/>
            <a:ext cx="13639800" cy="8679299"/>
          </a:xfrm>
          <a:prstGeom prst="rect">
            <a:avLst/>
          </a:prstGeom>
          <a:noFill/>
        </p:spPr>
        <p:txBody>
          <a:bodyPr wrap="square" rtlCol="0">
            <a:spAutoFit/>
          </a:bodyPr>
          <a:lstStyle/>
          <a:p>
            <a:r>
              <a:rPr lang="en-GB" sz="3600" dirty="0">
                <a:latin typeface="Times New Roman" panose="02020603050405020304" pitchFamily="18" charset="0"/>
                <a:cs typeface="Times New Roman" panose="02020603050405020304" pitchFamily="18" charset="0"/>
              </a:rPr>
              <a:t>Milestone 1 – Data Acquisition &amp; Cleaning</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Collected and understood the supply chain dataset.</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Cleaned and prepared the data for analysis.</a:t>
            </a:r>
          </a:p>
          <a:p>
            <a:pPr lvl="0"/>
            <a:endParaRPr lang="en-GB" sz="3600" dirty="0">
              <a:latin typeface="Times New Roman" panose="02020603050405020304" pitchFamily="18" charset="0"/>
              <a:cs typeface="Times New Roman" panose="02020603050405020304" pitchFamily="18" charset="0"/>
            </a:endParaRPr>
          </a:p>
          <a:p>
            <a:r>
              <a:rPr lang="en-GB" sz="3600" dirty="0">
                <a:latin typeface="Times New Roman" panose="02020603050405020304" pitchFamily="18" charset="0"/>
                <a:cs typeface="Times New Roman" panose="02020603050405020304" pitchFamily="18" charset="0"/>
              </a:rPr>
              <a:t>Milestone 2 – Data Modelling</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Analysed supply chain metrics and developed key performance indicators.</a:t>
            </a:r>
          </a:p>
          <a:p>
            <a:pPr lvl="0"/>
            <a:endParaRPr lang="en-GB" sz="3600" dirty="0">
              <a:latin typeface="Times New Roman" panose="02020603050405020304" pitchFamily="18" charset="0"/>
              <a:cs typeface="Times New Roman" panose="02020603050405020304" pitchFamily="18" charset="0"/>
            </a:endParaRPr>
          </a:p>
          <a:p>
            <a:r>
              <a:rPr lang="en-GB" sz="3600" dirty="0">
                <a:latin typeface="Times New Roman" panose="02020603050405020304" pitchFamily="18" charset="0"/>
                <a:cs typeface="Times New Roman" panose="02020603050405020304" pitchFamily="18" charset="0"/>
              </a:rPr>
              <a:t>Milestone 3 – Development</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Created interactive Power BI dashboards to visualize supply chain performance.</a:t>
            </a:r>
          </a:p>
          <a:p>
            <a:pPr lvl="0"/>
            <a:endParaRPr lang="en-GB" sz="3600" dirty="0">
              <a:latin typeface="Times New Roman" panose="02020603050405020304" pitchFamily="18" charset="0"/>
              <a:cs typeface="Times New Roman" panose="02020603050405020304" pitchFamily="18" charset="0"/>
            </a:endParaRPr>
          </a:p>
          <a:p>
            <a:r>
              <a:rPr lang="en-GB" sz="3600" dirty="0">
                <a:latin typeface="Times New Roman" panose="02020603050405020304" pitchFamily="18" charset="0"/>
                <a:cs typeface="Times New Roman" panose="02020603050405020304" pitchFamily="18" charset="0"/>
              </a:rPr>
              <a:t>Milestone 4 – Review &amp; Optimization</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Reviewed dashboard insights and refined visualizations for better understanding and reporting.</a:t>
            </a:r>
          </a:p>
          <a:p>
            <a:endParaRPr lang="en-GB" dirty="0"/>
          </a:p>
        </p:txBody>
      </p:sp>
    </p:spTree>
    <p:extLst>
      <p:ext uri="{BB962C8B-B14F-4D97-AF65-F5344CB8AC3E}">
        <p14:creationId xmlns:p14="http://schemas.microsoft.com/office/powerpoint/2010/main" val="40298870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58E4C2-E96C-1CCE-AE25-F295402CA735}"/>
              </a:ext>
            </a:extLst>
          </p:cNvPr>
          <p:cNvSpPr txBox="1"/>
          <p:nvPr/>
        </p:nvSpPr>
        <p:spPr>
          <a:xfrm>
            <a:off x="1524000" y="723900"/>
            <a:ext cx="6553200" cy="707886"/>
          </a:xfrm>
          <a:prstGeom prst="rect">
            <a:avLst/>
          </a:prstGeom>
          <a:noFill/>
        </p:spPr>
        <p:txBody>
          <a:bodyPr wrap="square" rtlCol="0">
            <a:spAutoFit/>
          </a:bodyPr>
          <a:lstStyle/>
          <a:p>
            <a:r>
              <a:rPr lang="en-GB" sz="4000" b="1" dirty="0">
                <a:latin typeface="Times New Roman" panose="02020603050405020304" pitchFamily="18" charset="0"/>
                <a:cs typeface="Times New Roman" panose="02020603050405020304" pitchFamily="18" charset="0"/>
              </a:rPr>
              <a:t>Challenges and Resolution</a:t>
            </a:r>
          </a:p>
        </p:txBody>
      </p:sp>
      <p:sp>
        <p:nvSpPr>
          <p:cNvPr id="3" name="TextBox 2">
            <a:extLst>
              <a:ext uri="{FF2B5EF4-FFF2-40B4-BE49-F238E27FC236}">
                <a16:creationId xmlns:a16="http://schemas.microsoft.com/office/drawing/2014/main" id="{71113F5B-8290-3279-5E1A-7B8E20348AAF}"/>
              </a:ext>
            </a:extLst>
          </p:cNvPr>
          <p:cNvSpPr txBox="1"/>
          <p:nvPr/>
        </p:nvSpPr>
        <p:spPr>
          <a:xfrm>
            <a:off x="1524000" y="1714501"/>
            <a:ext cx="13182600" cy="9079409"/>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Challenges</a:t>
            </a:r>
          </a:p>
          <a:p>
            <a:pPr marL="571500" lvl="0" indent="-5715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Handling missing, duplicate, and inconsistent data in the supply chain dataset.</a:t>
            </a:r>
            <a:endParaRPr lang="en-GB" sz="3000" dirty="0">
              <a:latin typeface="Times New Roman" panose="02020603050405020304" pitchFamily="18" charset="0"/>
              <a:cs typeface="Times New Roman" panose="02020603050405020304" pitchFamily="18" charset="0"/>
            </a:endParaRPr>
          </a:p>
          <a:p>
            <a:pPr marL="571500" lvl="0" indent="-5715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Identifying meaningful relationships between suppliers, products, transportation, inventory, and delivery attributes.</a:t>
            </a:r>
            <a:endParaRPr lang="en-GB" sz="3000" dirty="0">
              <a:latin typeface="Times New Roman" panose="02020603050405020304" pitchFamily="18" charset="0"/>
              <a:cs typeface="Times New Roman" panose="02020603050405020304" pitchFamily="18" charset="0"/>
            </a:endParaRPr>
          </a:p>
          <a:p>
            <a:pPr marL="571500" lvl="0" indent="-571500">
              <a:buFont typeface="Arial" panose="020B0604020202020204" pitchFamily="34" charset="0"/>
              <a:buChar char="•"/>
            </a:pPr>
            <a:r>
              <a:rPr lang="en-GB" sz="3000" dirty="0">
                <a:latin typeface="Times New Roman" panose="02020603050405020304" pitchFamily="18" charset="0"/>
                <a:cs typeface="Times New Roman" panose="02020603050405020304" pitchFamily="18" charset="0"/>
              </a:rPr>
              <a:t>Presenting complex supply chain information in a simple format.</a:t>
            </a:r>
          </a:p>
          <a:p>
            <a:pPr marL="571500" lvl="0" indent="-5715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Managing multiple KPIs such as delivery time, transportation cost, inventory turnover, and order fulfillment</a:t>
            </a:r>
            <a:r>
              <a:rPr lang="en-US" sz="3200" dirty="0">
                <a:latin typeface="Times New Roman" panose="02020603050405020304" pitchFamily="18" charset="0"/>
                <a:cs typeface="Times New Roman" panose="02020603050405020304" pitchFamily="18" charset="0"/>
              </a:rPr>
              <a:t>.</a:t>
            </a:r>
            <a:endParaRPr lang="en-GB" sz="3200" dirty="0">
              <a:latin typeface="Times New Roman" panose="02020603050405020304" pitchFamily="18" charset="0"/>
              <a:cs typeface="Times New Roman" panose="02020603050405020304" pitchFamily="18" charset="0"/>
            </a:endParaRPr>
          </a:p>
          <a:p>
            <a:r>
              <a:rPr lang="en-GB" sz="3600" b="1" dirty="0">
                <a:latin typeface="Times New Roman" panose="02020603050405020304" pitchFamily="18" charset="0"/>
                <a:cs typeface="Times New Roman" panose="02020603050405020304" pitchFamily="18" charset="0"/>
              </a:rPr>
              <a:t>Resolutions</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Cleaned, validated, and preprocessed the dataset using Python, Pandas, and Power Query.</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Performed exploratory data analysis to identify patterns, relationships, and important supply chain factors.</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Developed interactive Power BI dashboards using suitable charts, filters, and KPI cards.</a:t>
            </a:r>
          </a:p>
          <a:p>
            <a:pPr marL="457200" indent="-457200">
              <a:buFont typeface="Arial" panose="020B0604020202020204" pitchFamily="34" charset="0"/>
              <a:buChar char="•"/>
            </a:pPr>
            <a:r>
              <a:rPr lang="en-US" sz="3000" dirty="0">
                <a:latin typeface="Times New Roman" panose="02020603050405020304" pitchFamily="18" charset="0"/>
                <a:cs typeface="Times New Roman" panose="02020603050405020304" pitchFamily="18" charset="0"/>
              </a:rPr>
              <a:t>Selected and organized key KPIs into clear visualizations to support easier monitoring and decision-making</a:t>
            </a:r>
            <a:r>
              <a:rPr lang="en-US" sz="3000" dirty="0"/>
              <a:t>.</a:t>
            </a:r>
          </a:p>
          <a:p>
            <a:pPr marL="571500" lvl="0" indent="-571500">
              <a:buFont typeface="Arial" panose="020B0604020202020204" pitchFamily="34" charset="0"/>
              <a:buChar char="•"/>
            </a:pPr>
            <a:endParaRPr lang="en-GB" sz="3600" dirty="0">
              <a:latin typeface="Times New Roman" panose="02020603050405020304" pitchFamily="18" charset="0"/>
              <a:cs typeface="Times New Roman" panose="02020603050405020304" pitchFamily="18" charset="0"/>
            </a:endParaRPr>
          </a:p>
          <a:p>
            <a:br>
              <a:rPr lang="en-GB" dirty="0"/>
            </a:br>
            <a:endParaRPr lang="en-GB" dirty="0"/>
          </a:p>
          <a:p>
            <a:endParaRPr lang="en-GB" dirty="0"/>
          </a:p>
        </p:txBody>
      </p:sp>
    </p:spTree>
    <p:extLst>
      <p:ext uri="{BB962C8B-B14F-4D97-AF65-F5344CB8AC3E}">
        <p14:creationId xmlns:p14="http://schemas.microsoft.com/office/powerpoint/2010/main" val="39881427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4F65A5-7621-E0D2-EA4C-7EBE137407F8}"/>
              </a:ext>
            </a:extLst>
          </p:cNvPr>
          <p:cNvSpPr txBox="1"/>
          <p:nvPr/>
        </p:nvSpPr>
        <p:spPr>
          <a:xfrm>
            <a:off x="1306286" y="806210"/>
            <a:ext cx="8305800" cy="646331"/>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Workflow: </a:t>
            </a:r>
          </a:p>
        </p:txBody>
      </p:sp>
      <p:pic>
        <p:nvPicPr>
          <p:cNvPr id="5" name="Picture 4">
            <a:extLst>
              <a:ext uri="{FF2B5EF4-FFF2-40B4-BE49-F238E27FC236}">
                <a16:creationId xmlns:a16="http://schemas.microsoft.com/office/drawing/2014/main" id="{F25ECF9A-BA67-1DE0-9571-0B5EA8DE76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8800" y="1452541"/>
            <a:ext cx="12042374" cy="8028249"/>
          </a:xfrm>
          <a:prstGeom prst="rect">
            <a:avLst/>
          </a:prstGeom>
        </p:spPr>
      </p:pic>
    </p:spTree>
    <p:extLst>
      <p:ext uri="{BB962C8B-B14F-4D97-AF65-F5344CB8AC3E}">
        <p14:creationId xmlns:p14="http://schemas.microsoft.com/office/powerpoint/2010/main" val="23819386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98AF4-24C4-16A2-E6E2-7B8423E86C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8AFBB7-957E-E073-3459-8E89B5687C7A}"/>
              </a:ext>
            </a:extLst>
          </p:cNvPr>
          <p:cNvSpPr txBox="1"/>
          <p:nvPr/>
        </p:nvSpPr>
        <p:spPr>
          <a:xfrm>
            <a:off x="1306286" y="806210"/>
            <a:ext cx="8305800" cy="646331"/>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DASHBOARD  </a:t>
            </a:r>
          </a:p>
        </p:txBody>
      </p:sp>
      <p:pic>
        <p:nvPicPr>
          <p:cNvPr id="2" name="Picture 1">
            <a:extLst>
              <a:ext uri="{FF2B5EF4-FFF2-40B4-BE49-F238E27FC236}">
                <a16:creationId xmlns:a16="http://schemas.microsoft.com/office/drawing/2014/main" id="{EB0F1C7D-F676-59B9-225C-27886F5E462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715986" y="1994848"/>
            <a:ext cx="5486400" cy="3124200"/>
          </a:xfrm>
          <a:prstGeom prst="rect">
            <a:avLst/>
          </a:prstGeom>
          <a:noFill/>
          <a:ln>
            <a:noFill/>
          </a:ln>
        </p:spPr>
      </p:pic>
      <p:pic>
        <p:nvPicPr>
          <p:cNvPr id="4" name="Picture 3">
            <a:extLst>
              <a:ext uri="{FF2B5EF4-FFF2-40B4-BE49-F238E27FC236}">
                <a16:creationId xmlns:a16="http://schemas.microsoft.com/office/drawing/2014/main" id="{BDC45745-3D85-1C9A-4307-9E3C2545AF2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38732" y="6134100"/>
            <a:ext cx="5486400" cy="3081020"/>
          </a:xfrm>
          <a:prstGeom prst="rect">
            <a:avLst/>
          </a:prstGeom>
          <a:noFill/>
          <a:ln>
            <a:noFill/>
          </a:ln>
        </p:spPr>
      </p:pic>
    </p:spTree>
    <p:extLst>
      <p:ext uri="{BB962C8B-B14F-4D97-AF65-F5344CB8AC3E}">
        <p14:creationId xmlns:p14="http://schemas.microsoft.com/office/powerpoint/2010/main" val="15104123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A1A89-BA38-AB95-6238-6B85E364BFB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6C4F6FE-F576-7849-6DE1-F8403E5893B0}"/>
              </a:ext>
            </a:extLst>
          </p:cNvPr>
          <p:cNvSpPr txBox="1"/>
          <p:nvPr/>
        </p:nvSpPr>
        <p:spPr>
          <a:xfrm>
            <a:off x="1306286" y="806210"/>
            <a:ext cx="8305800" cy="646331"/>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DASHBOARD  </a:t>
            </a:r>
          </a:p>
        </p:txBody>
      </p:sp>
      <p:pic>
        <p:nvPicPr>
          <p:cNvPr id="5" name="Picture 4">
            <a:extLst>
              <a:ext uri="{FF2B5EF4-FFF2-40B4-BE49-F238E27FC236}">
                <a16:creationId xmlns:a16="http://schemas.microsoft.com/office/drawing/2014/main" id="{B1A5FB6F-8429-1D6A-D68A-A300A793CC3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33600" y="2051105"/>
            <a:ext cx="5486400" cy="3070860"/>
          </a:xfrm>
          <a:prstGeom prst="rect">
            <a:avLst/>
          </a:prstGeom>
          <a:noFill/>
          <a:ln>
            <a:noFill/>
          </a:ln>
        </p:spPr>
      </p:pic>
      <p:pic>
        <p:nvPicPr>
          <p:cNvPr id="6" name="Picture 5">
            <a:extLst>
              <a:ext uri="{FF2B5EF4-FFF2-40B4-BE49-F238E27FC236}">
                <a16:creationId xmlns:a16="http://schemas.microsoft.com/office/drawing/2014/main" id="{FB005047-ABC6-9850-676D-AFCE609CC3D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97157" y="6057900"/>
            <a:ext cx="5486400" cy="3211830"/>
          </a:xfrm>
          <a:prstGeom prst="rect">
            <a:avLst/>
          </a:prstGeom>
          <a:noFill/>
          <a:ln>
            <a:noFill/>
          </a:ln>
        </p:spPr>
      </p:pic>
    </p:spTree>
    <p:extLst>
      <p:ext uri="{BB962C8B-B14F-4D97-AF65-F5344CB8AC3E}">
        <p14:creationId xmlns:p14="http://schemas.microsoft.com/office/powerpoint/2010/main" val="1723572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5A744-EB96-3D19-086A-A00678517A3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5BBC351-1712-CDF6-A6ED-40302A23AC75}"/>
              </a:ext>
            </a:extLst>
          </p:cNvPr>
          <p:cNvSpPr txBox="1"/>
          <p:nvPr/>
        </p:nvSpPr>
        <p:spPr>
          <a:xfrm>
            <a:off x="1306286" y="806210"/>
            <a:ext cx="8305800" cy="646331"/>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DASHBOARD  </a:t>
            </a:r>
          </a:p>
        </p:txBody>
      </p:sp>
      <p:pic>
        <p:nvPicPr>
          <p:cNvPr id="2" name="Picture 1">
            <a:extLst>
              <a:ext uri="{FF2B5EF4-FFF2-40B4-BE49-F238E27FC236}">
                <a16:creationId xmlns:a16="http://schemas.microsoft.com/office/drawing/2014/main" id="{D9FD1D50-9961-CCF4-6656-E4AE795661B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14600" y="2171700"/>
            <a:ext cx="5486400" cy="3224024"/>
          </a:xfrm>
          <a:prstGeom prst="rect">
            <a:avLst/>
          </a:prstGeom>
          <a:noFill/>
          <a:ln>
            <a:noFill/>
          </a:ln>
        </p:spPr>
      </p:pic>
      <p:pic>
        <p:nvPicPr>
          <p:cNvPr id="4" name="Picture 3">
            <a:extLst>
              <a:ext uri="{FF2B5EF4-FFF2-40B4-BE49-F238E27FC236}">
                <a16:creationId xmlns:a16="http://schemas.microsoft.com/office/drawing/2014/main" id="{90AC658D-CB63-A96E-C920-BD4074318B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62200" y="5753100"/>
            <a:ext cx="5486400" cy="3185160"/>
          </a:xfrm>
          <a:prstGeom prst="rect">
            <a:avLst/>
          </a:prstGeom>
        </p:spPr>
      </p:pic>
    </p:spTree>
    <p:extLst>
      <p:ext uri="{BB962C8B-B14F-4D97-AF65-F5344CB8AC3E}">
        <p14:creationId xmlns:p14="http://schemas.microsoft.com/office/powerpoint/2010/main" val="30041605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53E17-7C2F-A794-1A3C-27BA4C32AA4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F701CD3-9EE7-9E70-F850-623ABE15241C}"/>
              </a:ext>
            </a:extLst>
          </p:cNvPr>
          <p:cNvSpPr txBox="1"/>
          <p:nvPr/>
        </p:nvSpPr>
        <p:spPr>
          <a:xfrm>
            <a:off x="1306286" y="806210"/>
            <a:ext cx="8305800" cy="646331"/>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DASHBOARD  </a:t>
            </a:r>
          </a:p>
        </p:txBody>
      </p:sp>
      <p:pic>
        <p:nvPicPr>
          <p:cNvPr id="2" name="Picture 1">
            <a:extLst>
              <a:ext uri="{FF2B5EF4-FFF2-40B4-BE49-F238E27FC236}">
                <a16:creationId xmlns:a16="http://schemas.microsoft.com/office/drawing/2014/main" id="{A8B53211-5A1C-CED6-C7E3-964920FA31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4486" y="2979523"/>
            <a:ext cx="7467600" cy="4397587"/>
          </a:xfrm>
          <a:prstGeom prst="rect">
            <a:avLst/>
          </a:prstGeom>
        </p:spPr>
      </p:pic>
    </p:spTree>
    <p:extLst>
      <p:ext uri="{BB962C8B-B14F-4D97-AF65-F5344CB8AC3E}">
        <p14:creationId xmlns:p14="http://schemas.microsoft.com/office/powerpoint/2010/main" val="36924754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888561B-529B-E2A6-1F71-9588F5F23B64}"/>
              </a:ext>
            </a:extLst>
          </p:cNvPr>
          <p:cNvSpPr txBox="1"/>
          <p:nvPr/>
        </p:nvSpPr>
        <p:spPr>
          <a:xfrm>
            <a:off x="1219200" y="1061514"/>
            <a:ext cx="11430000" cy="707886"/>
          </a:xfrm>
          <a:prstGeom prst="rect">
            <a:avLst/>
          </a:prstGeom>
          <a:noFill/>
        </p:spPr>
        <p:txBody>
          <a:bodyPr wrap="square" rtlCol="0">
            <a:spAutoFit/>
          </a:bodyPr>
          <a:lstStyle/>
          <a:p>
            <a:r>
              <a:rPr lang="en-GB" sz="4000" b="1" dirty="0">
                <a:latin typeface="Times New Roman" panose="02020603050405020304" pitchFamily="18" charset="0"/>
                <a:cs typeface="Times New Roman" panose="02020603050405020304" pitchFamily="18" charset="0"/>
              </a:rPr>
              <a:t>Future Enhancements &amp; Key Insights</a:t>
            </a:r>
          </a:p>
        </p:txBody>
      </p:sp>
      <p:sp>
        <p:nvSpPr>
          <p:cNvPr id="3" name="TextBox 2">
            <a:extLst>
              <a:ext uri="{FF2B5EF4-FFF2-40B4-BE49-F238E27FC236}">
                <a16:creationId xmlns:a16="http://schemas.microsoft.com/office/drawing/2014/main" id="{7B40610B-3518-B0F4-9001-4D0765480F00}"/>
              </a:ext>
            </a:extLst>
          </p:cNvPr>
          <p:cNvSpPr txBox="1"/>
          <p:nvPr/>
        </p:nvSpPr>
        <p:spPr>
          <a:xfrm>
            <a:off x="838200" y="2171700"/>
            <a:ext cx="14325600" cy="7478970"/>
          </a:xfrm>
          <a:prstGeom prst="rect">
            <a:avLst/>
          </a:prstGeom>
          <a:noFill/>
        </p:spPr>
        <p:txBody>
          <a:bodyPr wrap="square" rtlCol="0">
            <a:spAutoFit/>
          </a:bodyPr>
          <a:lstStyle/>
          <a:p>
            <a:r>
              <a:rPr lang="en-US" sz="3000" b="1" dirty="0"/>
              <a:t>Future Enhancements</a:t>
            </a:r>
          </a:p>
          <a:p>
            <a:endParaRPr lang="en-US" sz="3000" b="1" dirty="0"/>
          </a:p>
          <a:p>
            <a:r>
              <a:rPr lang="en-US" sz="3000" dirty="0"/>
              <a:t>• Integrate real-time shipment tracking to improve supply chain visibility.</a:t>
            </a:r>
          </a:p>
          <a:p>
            <a:r>
              <a:rPr lang="en-US" sz="3000" dirty="0"/>
              <a:t>• Implement Machine Learning models for demand and inventory forecasting.</a:t>
            </a:r>
          </a:p>
          <a:p>
            <a:r>
              <a:rPr lang="en-US" sz="3000" dirty="0"/>
              <a:t>• Develop predictive analytics to identify potential delivery delays.</a:t>
            </a:r>
          </a:p>
          <a:p>
            <a:r>
              <a:rPr lang="en-US" sz="3000" dirty="0"/>
              <a:t>• Automate alerts and recommendations for inventory, delivery, and transportation issues.</a:t>
            </a:r>
          </a:p>
          <a:p>
            <a:endParaRPr lang="en-US" sz="3000" dirty="0"/>
          </a:p>
          <a:p>
            <a:r>
              <a:rPr lang="en-US" sz="3000" b="1" dirty="0"/>
              <a:t>Key Insights</a:t>
            </a:r>
          </a:p>
          <a:p>
            <a:endParaRPr lang="en-US" sz="3000" b="1" dirty="0"/>
          </a:p>
          <a:p>
            <a:r>
              <a:rPr lang="en-US" sz="3000" dirty="0"/>
              <a:t>• Improved visibility into transportation costs and delivery performance.</a:t>
            </a:r>
          </a:p>
          <a:p>
            <a:r>
              <a:rPr lang="en-US" sz="3000" dirty="0"/>
              <a:t>• Enabled better monitoring of inventory levels and supplier performance.</a:t>
            </a:r>
          </a:p>
          <a:p>
            <a:r>
              <a:rPr lang="en-US" sz="3000" dirty="0"/>
              <a:t>• Identified product categories and areas contributing to longer delivery cycles.</a:t>
            </a:r>
          </a:p>
          <a:p>
            <a:r>
              <a:rPr lang="en-US" sz="3000" dirty="0"/>
              <a:t>• Highlighted operational bottlenecks to support faster and more informed decision-making.</a:t>
            </a:r>
            <a:endParaRPr lang="en-GB" sz="3000" dirty="0">
              <a:latin typeface="Times New Roman" panose="02020603050405020304" pitchFamily="18" charset="0"/>
              <a:cs typeface="Times New Roman" panose="02020603050405020304" pitchFamily="18" charset="0"/>
            </a:endParaRPr>
          </a:p>
          <a:p>
            <a:endParaRPr lang="en-GB" sz="3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79328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F6FC39-32AD-86B2-D3DF-FA79B7B5233E}"/>
              </a:ext>
            </a:extLst>
          </p:cNvPr>
          <p:cNvSpPr txBox="1"/>
          <p:nvPr/>
        </p:nvSpPr>
        <p:spPr>
          <a:xfrm>
            <a:off x="1219200" y="674757"/>
            <a:ext cx="9829800" cy="707886"/>
          </a:xfrm>
          <a:prstGeom prst="rect">
            <a:avLst/>
          </a:prstGeom>
          <a:noFill/>
        </p:spPr>
        <p:txBody>
          <a:bodyPr wrap="square" rtlCol="0">
            <a:spAutoFit/>
          </a:bodyPr>
          <a:lstStyle/>
          <a:p>
            <a:r>
              <a:rPr lang="en-GB" sz="4000" b="1" dirty="0">
                <a:latin typeface="Times New Roman" panose="02020603050405020304" pitchFamily="18" charset="0"/>
                <a:cs typeface="Times New Roman" panose="02020603050405020304" pitchFamily="18" charset="0"/>
              </a:rPr>
              <a:t>Conclusion</a:t>
            </a:r>
          </a:p>
        </p:txBody>
      </p:sp>
      <p:sp>
        <p:nvSpPr>
          <p:cNvPr id="3" name="TextBox 2">
            <a:extLst>
              <a:ext uri="{FF2B5EF4-FFF2-40B4-BE49-F238E27FC236}">
                <a16:creationId xmlns:a16="http://schemas.microsoft.com/office/drawing/2014/main" id="{AB763AD9-BB18-F405-0AAC-30EA668CD318}"/>
              </a:ext>
            </a:extLst>
          </p:cNvPr>
          <p:cNvSpPr txBox="1"/>
          <p:nvPr/>
        </p:nvSpPr>
        <p:spPr>
          <a:xfrm>
            <a:off x="1219200" y="1790700"/>
            <a:ext cx="12801600" cy="8402300"/>
          </a:xfrm>
          <a:prstGeom prst="rect">
            <a:avLst/>
          </a:prstGeom>
          <a:noFill/>
        </p:spPr>
        <p:txBody>
          <a:bodyPr wrap="square" rtlCol="0">
            <a:spAutoFit/>
          </a:bodyPr>
          <a:lstStyle/>
          <a:p>
            <a:r>
              <a:rPr lang="en-GB" sz="3600" dirty="0">
                <a:latin typeface="Times New Roman" panose="02020603050405020304" pitchFamily="18" charset="0"/>
                <a:cs typeface="Times New Roman" panose="02020603050405020304" pitchFamily="18" charset="0"/>
              </a:rPr>
              <a:t>The </a:t>
            </a:r>
            <a:r>
              <a:rPr lang="en-GB" sz="3600" b="1" dirty="0">
                <a:latin typeface="Times New Roman" panose="02020603050405020304" pitchFamily="18" charset="0"/>
                <a:cs typeface="Times New Roman" panose="02020603050405020304" pitchFamily="18" charset="0"/>
              </a:rPr>
              <a:t>Supply Chain Visibility &amp; Optimization</a:t>
            </a:r>
            <a:r>
              <a:rPr lang="en-GB" sz="3600" dirty="0">
                <a:latin typeface="Times New Roman" panose="02020603050405020304" pitchFamily="18" charset="0"/>
                <a:cs typeface="Times New Roman" panose="02020603050405020304" pitchFamily="18" charset="0"/>
              </a:rPr>
              <a:t> project successfully transformed supply chain data into meaningful insights through data analytics and interactive Power BI dashboards.</a:t>
            </a:r>
          </a:p>
          <a:p>
            <a:endParaRPr lang="en-GB" sz="3600" dirty="0">
              <a:latin typeface="Times New Roman" panose="02020603050405020304" pitchFamily="18" charset="0"/>
              <a:cs typeface="Times New Roman" panose="02020603050405020304" pitchFamily="18" charset="0"/>
            </a:endParaRPr>
          </a:p>
          <a:p>
            <a:r>
              <a:rPr lang="en-GB" sz="3600" b="1" dirty="0">
                <a:latin typeface="Times New Roman" panose="02020603050405020304" pitchFamily="18" charset="0"/>
                <a:cs typeface="Times New Roman" panose="02020603050405020304" pitchFamily="18" charset="0"/>
              </a:rPr>
              <a:t>Technical Skills</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Power BI &amp; Data Visualization</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Power Query &amp; DAX</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Data Cleaning &amp; KPI Analysis</a:t>
            </a:r>
          </a:p>
          <a:p>
            <a:pPr lvl="0"/>
            <a:endParaRPr lang="en-GB" sz="3600" dirty="0">
              <a:latin typeface="Times New Roman" panose="02020603050405020304" pitchFamily="18" charset="0"/>
              <a:cs typeface="Times New Roman" panose="02020603050405020304" pitchFamily="18" charset="0"/>
            </a:endParaRPr>
          </a:p>
          <a:p>
            <a:r>
              <a:rPr lang="en-GB" sz="3600" b="1" dirty="0">
                <a:latin typeface="Times New Roman" panose="02020603050405020304" pitchFamily="18" charset="0"/>
                <a:cs typeface="Times New Roman" panose="02020603050405020304" pitchFamily="18" charset="0"/>
              </a:rPr>
              <a:t>Soft Skills</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Problem Solving</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Communication</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Teamwork</a:t>
            </a:r>
          </a:p>
          <a:p>
            <a:pPr marL="571500" lvl="0" indent="-571500">
              <a:buFont typeface="Arial" panose="020B0604020202020204" pitchFamily="34" charset="0"/>
              <a:buChar char="•"/>
            </a:pPr>
            <a:r>
              <a:rPr lang="en-GB" sz="3600" dirty="0">
                <a:latin typeface="Times New Roman" panose="02020603050405020304" pitchFamily="18" charset="0"/>
                <a:cs typeface="Times New Roman" panose="02020603050405020304" pitchFamily="18" charset="0"/>
              </a:rPr>
              <a:t>Presentation</a:t>
            </a:r>
          </a:p>
          <a:p>
            <a:endParaRPr lang="en-GB" sz="3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51327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3C3E67A-1F66-A161-166B-EB4DD3E0F979}"/>
              </a:ext>
            </a:extLst>
          </p:cNvPr>
          <p:cNvSpPr txBox="1"/>
          <p:nvPr/>
        </p:nvSpPr>
        <p:spPr>
          <a:xfrm>
            <a:off x="914400" y="571500"/>
            <a:ext cx="11582400" cy="707886"/>
          </a:xfrm>
          <a:prstGeom prst="rect">
            <a:avLst/>
          </a:prstGeom>
          <a:noFill/>
        </p:spPr>
        <p:txBody>
          <a:bodyPr wrap="square" rtlCol="0">
            <a:spAutoFit/>
          </a:bodyPr>
          <a:lstStyle/>
          <a:p>
            <a:r>
              <a:rPr lang="en-GB" sz="4000" b="1" dirty="0">
                <a:latin typeface="Times New Roman" panose="02020603050405020304" pitchFamily="18" charset="0"/>
                <a:cs typeface="Times New Roman" panose="02020603050405020304" pitchFamily="18" charset="0"/>
              </a:rPr>
              <a:t>Acknowledgements &amp; References</a:t>
            </a:r>
          </a:p>
        </p:txBody>
      </p:sp>
      <p:sp>
        <p:nvSpPr>
          <p:cNvPr id="3" name="TextBox 2">
            <a:extLst>
              <a:ext uri="{FF2B5EF4-FFF2-40B4-BE49-F238E27FC236}">
                <a16:creationId xmlns:a16="http://schemas.microsoft.com/office/drawing/2014/main" id="{FAE561FD-3253-8317-E6F0-FC1EA7312DF9}"/>
              </a:ext>
            </a:extLst>
          </p:cNvPr>
          <p:cNvSpPr txBox="1"/>
          <p:nvPr/>
        </p:nvSpPr>
        <p:spPr>
          <a:xfrm>
            <a:off x="947057" y="1485900"/>
            <a:ext cx="4005944" cy="1754326"/>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Acknowledgements</a:t>
            </a:r>
          </a:p>
          <a:p>
            <a:pPr lvl="0"/>
            <a:endParaRPr lang="en-GB" sz="3600" dirty="0">
              <a:latin typeface="Times New Roman" panose="02020603050405020304" pitchFamily="18" charset="0"/>
              <a:cs typeface="Times New Roman" panose="02020603050405020304" pitchFamily="18" charset="0"/>
            </a:endParaRPr>
          </a:p>
          <a:p>
            <a:endParaRPr lang="en-GB" sz="36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E9173048-CE82-A546-93A6-975C9A15DC8C}"/>
              </a:ext>
            </a:extLst>
          </p:cNvPr>
          <p:cNvSpPr txBox="1"/>
          <p:nvPr/>
        </p:nvSpPr>
        <p:spPr>
          <a:xfrm>
            <a:off x="1143000" y="2628900"/>
            <a:ext cx="14782800" cy="6001643"/>
          </a:xfrm>
          <a:prstGeom prst="rect">
            <a:avLst/>
          </a:prstGeom>
          <a:noFill/>
        </p:spPr>
        <p:txBody>
          <a:bodyPr wrap="square" rtlCol="0">
            <a:spAutoFit/>
          </a:bodyPr>
          <a:lstStyle/>
          <a:p>
            <a:pPr algn="just"/>
            <a:r>
              <a:rPr lang="en-IN" sz="3200" dirty="0">
                <a:latin typeface="Times New Roman" panose="02020603050405020304" pitchFamily="18" charset="0"/>
                <a:cs typeface="Times New Roman" panose="02020603050405020304" pitchFamily="18" charset="0"/>
              </a:rPr>
              <a:t>We would like to express our sincere gratitude to the Infosys Springboard Team for organizing this highly enriching virtual internship program and for providing a structured, industry-aligned learning platform. The well-designed modules, milestone-based framework, and practical orientation of the internship enabled us to gain meaningful exposure to real-world business intelligence applications.</a:t>
            </a:r>
          </a:p>
          <a:p>
            <a:pPr algn="just"/>
            <a:r>
              <a:rPr lang="en-IN" sz="3200" dirty="0">
                <a:latin typeface="Times New Roman" panose="02020603050405020304" pitchFamily="18" charset="0"/>
                <a:cs typeface="Times New Roman" panose="02020603050405020304" pitchFamily="18" charset="0"/>
              </a:rPr>
              <a:t>We extend our heartfelt appreciation to our mentor, Ms. Nityasree, for her consistent guidance, valuable feedback, and continuous encouragement throughout the project lifecycle. Her insights and structured direction played a significant role in shaping the analytical depth and professional quality of this project. We would also like to acknowledge our team members for their strong collaboration, accountability, and shared commitment toward achieving project objectives. </a:t>
            </a:r>
            <a:endParaRPr lang="en-GB" sz="3200" dirty="0">
              <a:latin typeface="Times New Roman" panose="02020603050405020304" pitchFamily="18" charset="0"/>
              <a:cs typeface="Times New Roman" panose="02020603050405020304" pitchFamily="18" charset="0"/>
            </a:endParaRPr>
          </a:p>
          <a:p>
            <a:endParaRPr lang="en-GB" sz="3200" dirty="0"/>
          </a:p>
        </p:txBody>
      </p:sp>
    </p:spTree>
    <p:extLst>
      <p:ext uri="{BB962C8B-B14F-4D97-AF65-F5344CB8AC3E}">
        <p14:creationId xmlns:p14="http://schemas.microsoft.com/office/powerpoint/2010/main" val="11978387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1D3D73-B1B8-E587-B91F-390D2F017823}"/>
              </a:ext>
            </a:extLst>
          </p:cNvPr>
          <p:cNvSpPr txBox="1"/>
          <p:nvPr/>
        </p:nvSpPr>
        <p:spPr>
          <a:xfrm>
            <a:off x="1143000" y="1104900"/>
            <a:ext cx="15087600" cy="7478970"/>
          </a:xfrm>
          <a:prstGeom prst="rect">
            <a:avLst/>
          </a:prstGeom>
          <a:noFill/>
        </p:spPr>
        <p:txBody>
          <a:bodyPr wrap="square" rtlCol="0">
            <a:spAutoFit/>
          </a:bodyPr>
          <a:lstStyle/>
          <a:p>
            <a:pPr algn="just"/>
            <a:r>
              <a:rPr lang="en-IN" sz="3200" dirty="0">
                <a:latin typeface="Times New Roman" panose="02020603050405020304" pitchFamily="18" charset="0"/>
                <a:cs typeface="Times New Roman" panose="02020603050405020304" pitchFamily="18" charset="0"/>
              </a:rPr>
              <a:t>The coordinated distribution of responsibilities, open communication, and collective problem-solving approach significantly contributed to the successful execution of this project. In addition, we extend our appreciation to the creators and maintainers of Microsoft Power BI documentation and community resources, which served as essential references during dashboard development and KPI implementation. We are also grateful to Kaggle for providing access to publicly available datasets that facilitated practical, hands-on analytical experience. The structured learning resources and practical exposure provided through this internship have significantly strengthened our analytical thinking, technical proficiency, and business interpretation skills. This experience has enhanced our ability to approach data with a strategic mindset, collaborate effectively within a team environment, and execute projects with professional discipline. Overall, this internship has been a meaningful milestone in our academic and professional journey, reinforcing the value of data-driven decision-making and structured analytical execution in modern business environments.</a:t>
            </a:r>
            <a:endParaRPr lang="en-GB" sz="3200" dirty="0">
              <a:latin typeface="Times New Roman" panose="02020603050405020304" pitchFamily="18" charset="0"/>
              <a:cs typeface="Times New Roman" panose="02020603050405020304" pitchFamily="18" charset="0"/>
            </a:endParaRPr>
          </a:p>
          <a:p>
            <a:endParaRPr lang="en-GB"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39694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C55CB0-F84F-8256-D02C-7A3B7964C386}"/>
              </a:ext>
            </a:extLst>
          </p:cNvPr>
          <p:cNvSpPr txBox="1"/>
          <p:nvPr/>
        </p:nvSpPr>
        <p:spPr>
          <a:xfrm>
            <a:off x="1458686" y="1523999"/>
            <a:ext cx="9677400" cy="4062651"/>
          </a:xfrm>
          <a:prstGeom prst="rect">
            <a:avLst/>
          </a:prstGeom>
          <a:noFill/>
        </p:spPr>
        <p:txBody>
          <a:bodyPr wrap="square" rtlCol="0">
            <a:spAutoFit/>
          </a:bodyPr>
          <a:lstStyle/>
          <a:p>
            <a:pPr marL="571500" lvl="0" indent="-57150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Kaggle – Supply Chain Dataset</a:t>
            </a:r>
          </a:p>
          <a:p>
            <a:pPr marL="571500" lvl="0" indent="-57150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Microsoft Power BI</a:t>
            </a:r>
          </a:p>
          <a:p>
            <a:pPr marL="571500" lvl="0" indent="-57150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Infosys Springboard Learning Materials</a:t>
            </a:r>
          </a:p>
          <a:p>
            <a:pPr marL="571500" lvl="0" indent="-571500">
              <a:lnSpc>
                <a:spcPct val="150000"/>
              </a:lnSpc>
              <a:buFont typeface="Arial" panose="020B0604020202020204" pitchFamily="34" charset="0"/>
              <a:buChar char="•"/>
            </a:pPr>
            <a:r>
              <a:rPr lang="en-GB" sz="3200" dirty="0">
                <a:latin typeface="Times New Roman" panose="02020603050405020304" pitchFamily="18" charset="0"/>
                <a:cs typeface="Times New Roman" panose="02020603050405020304" pitchFamily="18" charset="0"/>
              </a:rPr>
              <a:t>Project Dataset, Dashboard &amp; Internship Documentation</a:t>
            </a:r>
          </a:p>
          <a:p>
            <a:endParaRPr lang="en-GB" dirty="0"/>
          </a:p>
        </p:txBody>
      </p:sp>
      <p:sp>
        <p:nvSpPr>
          <p:cNvPr id="3" name="TextBox 2">
            <a:extLst>
              <a:ext uri="{FF2B5EF4-FFF2-40B4-BE49-F238E27FC236}">
                <a16:creationId xmlns:a16="http://schemas.microsoft.com/office/drawing/2014/main" id="{DA910CDF-8261-6216-5BF2-9EE4B4754D1B}"/>
              </a:ext>
            </a:extLst>
          </p:cNvPr>
          <p:cNvSpPr txBox="1"/>
          <p:nvPr/>
        </p:nvSpPr>
        <p:spPr>
          <a:xfrm>
            <a:off x="1480457" y="885735"/>
            <a:ext cx="7010400" cy="1200329"/>
          </a:xfrm>
          <a:prstGeom prst="rect">
            <a:avLst/>
          </a:prstGeom>
          <a:noFill/>
        </p:spPr>
        <p:txBody>
          <a:bodyPr wrap="square" rtlCol="0">
            <a:spAutoFit/>
          </a:bodyPr>
          <a:lstStyle/>
          <a:p>
            <a:r>
              <a:rPr lang="en-GB" sz="3600" b="1" dirty="0">
                <a:latin typeface="Times New Roman" panose="02020603050405020304" pitchFamily="18" charset="0"/>
                <a:cs typeface="Times New Roman" panose="02020603050405020304" pitchFamily="18" charset="0"/>
              </a:rPr>
              <a:t>References</a:t>
            </a:r>
          </a:p>
          <a:p>
            <a:endParaRPr lang="en-GB" sz="3600" dirty="0"/>
          </a:p>
        </p:txBody>
      </p:sp>
    </p:spTree>
    <p:extLst>
      <p:ext uri="{BB962C8B-B14F-4D97-AF65-F5344CB8AC3E}">
        <p14:creationId xmlns:p14="http://schemas.microsoft.com/office/powerpoint/2010/main" val="40289375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331817" y="2794132"/>
            <a:ext cx="9747983" cy="2606226"/>
          </a:xfrm>
          <a:prstGeom prst="rect">
            <a:avLst/>
          </a:prstGeom>
        </p:spPr>
        <p:txBody>
          <a:bodyPr lIns="0" tIns="0" rIns="0" bIns="0" rtlCol="0" anchor="t">
            <a:spAutoFit/>
          </a:bodyPr>
          <a:lstStyle/>
          <a:p>
            <a:pPr algn="ctr">
              <a:lnSpc>
                <a:spcPts val="21412"/>
              </a:lnSpc>
              <a:spcBef>
                <a:spcPct val="0"/>
              </a:spcBef>
            </a:pPr>
            <a:r>
              <a:rPr lang="en-US" sz="15294" b="1">
                <a:solidFill>
                  <a:srgbClr val="000000"/>
                </a:solidFill>
                <a:latin typeface="Canva Sans Bold"/>
                <a:ea typeface="Canva Sans Bold"/>
                <a:cs typeface="Canva Sans Bold"/>
                <a:sym typeface="Canva Sans Bold"/>
              </a:rPr>
              <a:t>Thank You</a:t>
            </a:r>
          </a:p>
        </p:txBody>
      </p:sp>
    </p:spTree>
  </p:cSld>
  <p:clrMapOvr>
    <a:masterClrMapping/>
  </p:clrMapOvr>
</p:sld>
</file>

<file path=ppt/theme/theme1.xml><?xml version="1.0" encoding="utf-8"?>
<a:theme xmlns:a="http://schemas.openxmlformats.org/drawingml/2006/main" name="Facet">
  <a:themeElements>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3497</TotalTime>
  <Words>772</Words>
  <Application>Microsoft Office PowerPoint</Application>
  <PresentationFormat>Custom</PresentationFormat>
  <Paragraphs>91</Paragraphs>
  <Slides>15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Wingdings 3</vt:lpstr>
      <vt:lpstr>Canva Sans</vt:lpstr>
      <vt:lpstr>Canva Sans Bold</vt:lpstr>
      <vt:lpstr>Times New Roman</vt:lpstr>
      <vt:lpstr>Trebuchet MS</vt:lpstr>
      <vt:lpstr>Arial</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Infosys  INTERNSHIP Milestone 1 presentation</dc:title>
  <dc:creator>Student</dc:creator>
  <cp:lastModifiedBy>SABARI VASAN N</cp:lastModifiedBy>
  <cp:revision>30</cp:revision>
  <dcterms:created xsi:type="dcterms:W3CDTF">2006-08-16T00:00:00Z</dcterms:created>
  <dcterms:modified xsi:type="dcterms:W3CDTF">2026-08-31T08:01:08Z</dcterms:modified>
  <dc:identifier>DAHOw308CdU</dc:identifier>
</cp:coreProperties>
</file>