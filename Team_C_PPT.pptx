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06" r:id="rId1"/>
  </p:sldMasterIdLst>
  <p:sldIdLst>
    <p:sldId id="256" r:id="rId2"/>
    <p:sldId id="257" r:id="rId3"/>
    <p:sldId id="275" r:id="rId4"/>
    <p:sldId id="276" r:id="rId5"/>
    <p:sldId id="282" r:id="rId6"/>
    <p:sldId id="277" r:id="rId7"/>
    <p:sldId id="278" r:id="rId8"/>
    <p:sldId id="279" r:id="rId9"/>
    <p:sldId id="281" r:id="rId10"/>
    <p:sldId id="280" r:id="rId11"/>
    <p:sldId id="266" r:id="rId12"/>
  </p:sldIdLst>
  <p:sldSz cx="18288000" cy="10287000"/>
  <p:notesSz cx="6858000" cy="9144000"/>
  <p:embeddedFontLst>
    <p:embeddedFont>
      <p:font typeface="Canva Sans" panose="020B0604020202020204" charset="0"/>
      <p:regular r:id="rId13"/>
    </p:embeddedFont>
    <p:embeddedFont>
      <p:font typeface="Canva Sans Bold" panose="020B0604020202020204" charset="0"/>
      <p:regular r:id="rId14"/>
    </p:embeddedFont>
    <p:embeddedFont>
      <p:font typeface="Inter Medium" panose="020B0604020202020204" charset="0"/>
      <p:regular r:id="rId15"/>
    </p:embeddedFont>
    <p:embeddedFont>
      <p:font typeface="Trebuchet MS" panose="020B0603020202020204" pitchFamily="34" charset="0"/>
      <p:regular r:id="rId16"/>
      <p:bold r:id="rId17"/>
      <p:italic r:id="rId18"/>
      <p:boldItalic r:id="rId19"/>
    </p:embeddedFont>
    <p:embeddedFont>
      <p:font typeface="Wingdings 3" panose="05040102010807070707" pitchFamily="18" charset="2"/>
      <p:regular r:id="rId2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4" d="100"/>
          <a:sy n="44" d="100"/>
        </p:scale>
        <p:origin x="954"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12700"/>
            <a:ext cx="18288000" cy="10299701"/>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2260601" y="3606801"/>
            <a:ext cx="11650404" cy="2469453"/>
          </a:xfrm>
        </p:spPr>
        <p:txBody>
          <a:bodyPr anchor="b">
            <a:noAutofit/>
          </a:bodyPr>
          <a:lstStyle>
            <a:lvl1pPr algn="r">
              <a:defRPr sz="81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2260601" y="6076250"/>
            <a:ext cx="11650404" cy="1645349"/>
          </a:xfrm>
        </p:spPr>
        <p:txBody>
          <a:bodyPr anchor="t"/>
          <a:lstStyle>
            <a:lvl1pPr marL="0" indent="0" algn="r">
              <a:buNone/>
              <a:defRPr>
                <a:solidFill>
                  <a:schemeClr val="tx1">
                    <a:lumMod val="50000"/>
                    <a:lumOff val="50000"/>
                  </a:schemeClr>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74460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54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972322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6003" y="4051301"/>
            <a:ext cx="12895002" cy="2739872"/>
          </a:xfrm>
        </p:spPr>
        <p:txBody>
          <a:bodyPr anchor="b"/>
          <a:lstStyle>
            <a:lvl1pPr algn="l">
              <a:defRPr sz="6000" b="0" cap="none"/>
            </a:lvl1pPr>
          </a:lstStyle>
          <a:p>
            <a:r>
              <a:rPr lang="en-US"/>
              <a:t>Click to edit Master title style</a:t>
            </a:r>
            <a:endParaRPr lang="en-US" dirty="0"/>
          </a:p>
        </p:txBody>
      </p:sp>
      <p:sp>
        <p:nvSpPr>
          <p:cNvPr id="3" name="Text Placeholder 2"/>
          <p:cNvSpPr>
            <a:spLocks noGrp="1"/>
          </p:cNvSpPr>
          <p:nvPr>
            <p:ph type="body" idx="1"/>
          </p:nvPr>
        </p:nvSpPr>
        <p:spPr>
          <a:xfrm>
            <a:off x="1016003" y="6791172"/>
            <a:ext cx="12895002" cy="1290600"/>
          </a:xfrm>
        </p:spPr>
        <p:txBody>
          <a:bodyPr anchor="t"/>
          <a:lstStyle>
            <a:lvl1pPr marL="0" indent="0" algn="l">
              <a:buNone/>
              <a:defRPr sz="30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34305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16002" y="3240884"/>
            <a:ext cx="6276053" cy="58211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34955" y="3240884"/>
            <a:ext cx="6276051" cy="5821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40161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13618" y="3241475"/>
            <a:ext cx="6278435" cy="864393"/>
          </a:xfrm>
        </p:spPr>
        <p:txBody>
          <a:bodyPr anchor="b">
            <a:noAutofit/>
          </a:bodyPr>
          <a:lstStyle>
            <a:lvl1pPr marL="0" indent="0">
              <a:buNone/>
              <a:defRPr sz="36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013618" y="4105868"/>
            <a:ext cx="6278435" cy="495617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32575" y="3241475"/>
            <a:ext cx="6278427" cy="864393"/>
          </a:xfrm>
        </p:spPr>
        <p:txBody>
          <a:bodyPr anchor="b">
            <a:noAutofit/>
          </a:bodyPr>
          <a:lstStyle>
            <a:lvl1pPr marL="0" indent="0">
              <a:buNone/>
              <a:defRPr sz="36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7632577" y="4105868"/>
            <a:ext cx="6278426" cy="495617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8/25/2026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75229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16001" y="914400"/>
            <a:ext cx="12895002" cy="19812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8/25/2026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22353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62893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1" y="2247906"/>
            <a:ext cx="5781792" cy="1917699"/>
          </a:xfrm>
        </p:spPr>
        <p:txBody>
          <a:bodyPr anchor="b">
            <a:normAutofit/>
          </a:bodyPr>
          <a:lstStyle>
            <a:lvl1pPr>
              <a:defRPr sz="3000"/>
            </a:lvl1pPr>
          </a:lstStyle>
          <a:p>
            <a:r>
              <a:rPr lang="en-US"/>
              <a:t>Click to edit Master title style</a:t>
            </a:r>
            <a:endParaRPr lang="en-US" dirty="0"/>
          </a:p>
        </p:txBody>
      </p:sp>
      <p:sp>
        <p:nvSpPr>
          <p:cNvPr id="3" name="Content Placeholder 2"/>
          <p:cNvSpPr>
            <a:spLocks noGrp="1"/>
          </p:cNvSpPr>
          <p:nvPr>
            <p:ph idx="1"/>
          </p:nvPr>
        </p:nvSpPr>
        <p:spPr>
          <a:xfrm>
            <a:off x="7140692" y="772387"/>
            <a:ext cx="6770312" cy="828965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16001" y="4165604"/>
            <a:ext cx="5781792" cy="3876674"/>
          </a:xfrm>
        </p:spPr>
        <p:txBody>
          <a:bodyPr>
            <a:normAutofit/>
          </a:bodyPr>
          <a:lstStyle>
            <a:lvl1pPr marL="0" indent="0">
              <a:buNone/>
              <a:defRPr sz="2100"/>
            </a:lvl1pPr>
            <a:lvl2pPr marL="685595" indent="0">
              <a:buNone/>
              <a:defRPr sz="2100"/>
            </a:lvl2pPr>
            <a:lvl3pPr marL="1371189" indent="0">
              <a:buNone/>
              <a:defRPr sz="1800"/>
            </a:lvl3pPr>
            <a:lvl4pPr marL="2056784" indent="0">
              <a:buNone/>
              <a:defRPr sz="1500"/>
            </a:lvl4pPr>
            <a:lvl5pPr marL="2742377" indent="0">
              <a:buNone/>
              <a:defRPr sz="1500"/>
            </a:lvl5pPr>
            <a:lvl6pPr marL="3427971" indent="0">
              <a:buNone/>
              <a:defRPr sz="1500"/>
            </a:lvl6pPr>
            <a:lvl7pPr marL="4113566" indent="0">
              <a:buNone/>
              <a:defRPr sz="1500"/>
            </a:lvl7pPr>
            <a:lvl8pPr marL="4799160" indent="0">
              <a:buNone/>
              <a:defRPr sz="1500"/>
            </a:lvl8pPr>
            <a:lvl9pPr marL="5484755"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49410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2" y="7200900"/>
            <a:ext cx="12895001" cy="85010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16001" y="914400"/>
            <a:ext cx="12895002" cy="5768577"/>
          </a:xfrm>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16002" y="8051007"/>
            <a:ext cx="12895001" cy="1011036"/>
          </a:xfrm>
        </p:spPr>
        <p:txBody>
          <a:bodyPr>
            <a:normAutofit/>
          </a:bodyPr>
          <a:lstStyle>
            <a:lvl1pPr marL="0" indent="0">
              <a:buNone/>
              <a:defRPr sz="18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55451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016003" y="914400"/>
            <a:ext cx="12895002" cy="5105400"/>
          </a:xfrm>
        </p:spPr>
        <p:txBody>
          <a:bodyPr anchor="ctr">
            <a:normAutofit/>
          </a:bodyPr>
          <a:lstStyle>
            <a:lvl1pPr algn="l">
              <a:defRPr sz="6600" b="0" cap="none"/>
            </a:lvl1pPr>
          </a:lstStyle>
          <a:p>
            <a:r>
              <a:rPr lang="en-US"/>
              <a:t>Click to edit Master title style</a:t>
            </a:r>
            <a:endParaRPr lang="en-US" dirty="0"/>
          </a:p>
        </p:txBody>
      </p:sp>
      <p:sp>
        <p:nvSpPr>
          <p:cNvPr id="3" name="Text Placeholder 2"/>
          <p:cNvSpPr>
            <a:spLocks noGrp="1"/>
          </p:cNvSpPr>
          <p:nvPr>
            <p:ph type="body" idx="1"/>
          </p:nvPr>
        </p:nvSpPr>
        <p:spPr>
          <a:xfrm>
            <a:off x="1016003" y="6705600"/>
            <a:ext cx="12895002" cy="2356443"/>
          </a:xfrm>
        </p:spPr>
        <p:txBody>
          <a:bodyPr anchor="ctr">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79766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97001" y="914400"/>
            <a:ext cx="12141201" cy="4533900"/>
          </a:xfrm>
        </p:spPr>
        <p:txBody>
          <a:bodyPr anchor="ctr">
            <a:normAutofit/>
          </a:bodyPr>
          <a:lstStyle>
            <a:lvl1pPr algn="l">
              <a:defRPr sz="66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2049209" y="5448300"/>
            <a:ext cx="10836786" cy="571500"/>
          </a:xfrm>
        </p:spPr>
        <p:txBody>
          <a:bodyPr anchor="ctr">
            <a:noAutofit/>
          </a:bodyPr>
          <a:lstStyle>
            <a:lvl1pPr marL="0" indent="0">
              <a:buFontTx/>
              <a:buNone/>
              <a:defRPr sz="2400">
                <a:solidFill>
                  <a:schemeClr val="tx1">
                    <a:lumMod val="50000"/>
                    <a:lumOff val="50000"/>
                  </a:schemeClr>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016003" y="6705600"/>
            <a:ext cx="12895002" cy="2356443"/>
          </a:xfrm>
        </p:spPr>
        <p:txBody>
          <a:bodyPr anchor="ctr">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0" name="TextBox 19"/>
          <p:cNvSpPr txBox="1"/>
          <p:nvPr/>
        </p:nvSpPr>
        <p:spPr>
          <a:xfrm>
            <a:off x="812805" y="1185567"/>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13339517" y="4329834"/>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latin typeface="Arial"/>
              </a:rPr>
              <a:t>”</a:t>
            </a:r>
            <a:endParaRPr lang="en-US" sz="2700" dirty="0">
              <a:solidFill>
                <a:schemeClr val="accent1">
                  <a:lumMod val="60000"/>
                  <a:lumOff val="40000"/>
                </a:schemeClr>
              </a:solidFill>
              <a:latin typeface="Arial"/>
            </a:endParaRPr>
          </a:p>
        </p:txBody>
      </p:sp>
    </p:spTree>
    <p:extLst>
      <p:ext uri="{BB962C8B-B14F-4D97-AF65-F5344CB8AC3E}">
        <p14:creationId xmlns:p14="http://schemas.microsoft.com/office/powerpoint/2010/main" val="15301365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016003" y="2897982"/>
            <a:ext cx="12895002" cy="3893190"/>
          </a:xfrm>
        </p:spPr>
        <p:txBody>
          <a:bodyPr anchor="b">
            <a:normAutofit/>
          </a:bodyPr>
          <a:lstStyle>
            <a:lvl1pPr algn="l">
              <a:defRPr sz="6600" b="0" cap="none"/>
            </a:lvl1pPr>
          </a:lstStyle>
          <a:p>
            <a:r>
              <a:rPr lang="en-US"/>
              <a:t>Click to edit Master title style</a:t>
            </a:r>
            <a:endParaRPr lang="en-US" dirty="0"/>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75000"/>
                    <a:lumOff val="25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282682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397001" y="914400"/>
            <a:ext cx="12141201" cy="4533900"/>
          </a:xfrm>
        </p:spPr>
        <p:txBody>
          <a:bodyPr anchor="ctr">
            <a:normAutofit/>
          </a:bodyPr>
          <a:lstStyle>
            <a:lvl1pPr algn="l">
              <a:defRPr sz="66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15999" y="6019800"/>
            <a:ext cx="12895004" cy="771372"/>
          </a:xfrm>
        </p:spPr>
        <p:txBody>
          <a:bodyPr anchor="b">
            <a:noAutofit/>
          </a:bodyPr>
          <a:lstStyle>
            <a:lvl1pPr marL="0" indent="0">
              <a:buFontTx/>
              <a:buNone/>
              <a:defRPr sz="3600">
                <a:solidFill>
                  <a:schemeClr val="tx1">
                    <a:lumMod val="75000"/>
                    <a:lumOff val="25000"/>
                  </a:schemeClr>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4" name="TextBox 23"/>
          <p:cNvSpPr txBox="1"/>
          <p:nvPr/>
        </p:nvSpPr>
        <p:spPr>
          <a:xfrm>
            <a:off x="812805" y="1185567"/>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13339517" y="4329834"/>
            <a:ext cx="914400" cy="877164"/>
          </a:xfrm>
          <a:prstGeom prst="rect">
            <a:avLst/>
          </a:prstGeom>
        </p:spPr>
        <p:txBody>
          <a:bodyPr vert="horz" lIns="137160" tIns="68580" rIns="137160" bIns="68580" rtlCol="0" anchor="ctr">
            <a:noAutofit/>
          </a:bodyPr>
          <a:lstStyle/>
          <a:p>
            <a:pPr lvl="0"/>
            <a:r>
              <a:rPr lang="en-US" sz="12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769054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028699" y="914400"/>
            <a:ext cx="12882305" cy="4533900"/>
          </a:xfrm>
        </p:spPr>
        <p:txBody>
          <a:bodyPr anchor="ctr">
            <a:normAutofit/>
          </a:bodyPr>
          <a:lstStyle>
            <a:lvl1pPr algn="l">
              <a:defRPr sz="66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15999" y="6019800"/>
            <a:ext cx="12895004" cy="771372"/>
          </a:xfrm>
        </p:spPr>
        <p:txBody>
          <a:bodyPr anchor="b">
            <a:noAutofit/>
          </a:bodyPr>
          <a:lstStyle>
            <a:lvl1pPr marL="0" indent="0">
              <a:buFontTx/>
              <a:buNone/>
              <a:defRPr sz="3600">
                <a:solidFill>
                  <a:schemeClr val="accent1"/>
                </a:solidFill>
              </a:defRPr>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1016003" y="6791172"/>
            <a:ext cx="12895002" cy="2270871"/>
          </a:xfrm>
        </p:spPr>
        <p:txBody>
          <a:bodyPr anchor="t">
            <a:normAutofit/>
          </a:bodyPr>
          <a:lstStyle>
            <a:lvl1pPr marL="0" indent="0" algn="l">
              <a:buNone/>
              <a:defRPr sz="2700">
                <a:solidFill>
                  <a:schemeClr val="tx1">
                    <a:lumMod val="50000"/>
                    <a:lumOff val="50000"/>
                  </a:schemeClr>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296474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928907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951510" y="914399"/>
            <a:ext cx="1957115" cy="787717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016003" y="914400"/>
            <a:ext cx="10590225" cy="78771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96301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12700"/>
            <a:ext cx="18288000" cy="10299701"/>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1016001" y="914400"/>
            <a:ext cx="12895002" cy="19812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16001" y="3240884"/>
            <a:ext cx="12895002" cy="5821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807700" y="9062044"/>
            <a:ext cx="1367909" cy="547688"/>
          </a:xfrm>
          <a:prstGeom prst="rect">
            <a:avLst/>
          </a:prstGeom>
        </p:spPr>
        <p:txBody>
          <a:bodyPr vert="horz" lIns="91440" tIns="45720" rIns="91440" bIns="45720" rtlCol="0" anchor="ctr"/>
          <a:lstStyle>
            <a:lvl1pPr algn="r">
              <a:defRPr sz="1350">
                <a:solidFill>
                  <a:schemeClr val="tx1">
                    <a:tint val="75000"/>
                  </a:schemeClr>
                </a:solidFill>
              </a:defRPr>
            </a:lvl1pPr>
          </a:lstStyle>
          <a:p>
            <a:fld id="{1D8BD707-D9CF-40AE-B4C6-C98DA3205C09}" type="datetimeFigureOut">
              <a:rPr lang="en-US" smtClean="0"/>
              <a:pPr/>
              <a:t>8/25/2026</a:t>
            </a:fld>
            <a:endParaRPr lang="en-US"/>
          </a:p>
        </p:txBody>
      </p:sp>
      <p:sp>
        <p:nvSpPr>
          <p:cNvPr id="5" name="Footer Placeholder 4"/>
          <p:cNvSpPr>
            <a:spLocks noGrp="1"/>
          </p:cNvSpPr>
          <p:nvPr>
            <p:ph type="ftr" sz="quarter" idx="3"/>
          </p:nvPr>
        </p:nvSpPr>
        <p:spPr>
          <a:xfrm>
            <a:off x="1016001" y="9062044"/>
            <a:ext cx="9446418" cy="547688"/>
          </a:xfrm>
          <a:prstGeom prst="rect">
            <a:avLst/>
          </a:prstGeom>
        </p:spPr>
        <p:txBody>
          <a:bodyPr vert="horz" lIns="91440" tIns="45720" rIns="91440" bIns="45720" rtlCol="0" anchor="ctr"/>
          <a:lstStyle>
            <a:lvl1pPr algn="l">
              <a:defRPr sz="13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2885995" y="9062044"/>
            <a:ext cx="1025009" cy="547688"/>
          </a:xfrm>
          <a:prstGeom prst="rect">
            <a:avLst/>
          </a:prstGeom>
        </p:spPr>
        <p:txBody>
          <a:bodyPr vert="horz" lIns="91440" tIns="45720" rIns="91440" bIns="45720" rtlCol="0" anchor="ctr"/>
          <a:lstStyle>
            <a:lvl1pPr algn="r">
              <a:defRPr sz="1350">
                <a:solidFill>
                  <a:schemeClr val="accent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633204539"/>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Lst>
  <p:txStyles>
    <p:titleStyle>
      <a:lvl1pPr algn="l" defTabSz="6858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514350" indent="-514350" algn="l" defTabSz="685800" rtl="0" eaLnBrk="1" latinLnBrk="0" hangingPunct="1">
        <a:spcBef>
          <a:spcPts val="1500"/>
        </a:spcBef>
        <a:spcAft>
          <a:spcPts val="0"/>
        </a:spcAft>
        <a:buClr>
          <a:schemeClr val="accent1"/>
        </a:buClr>
        <a:buSzPct val="80000"/>
        <a:buFont typeface="Wingdings 3" charset="2"/>
        <a:buChar char=""/>
        <a:defRPr sz="2700" kern="1200">
          <a:solidFill>
            <a:schemeClr val="tx1">
              <a:lumMod val="75000"/>
              <a:lumOff val="25000"/>
            </a:schemeClr>
          </a:solidFill>
          <a:latin typeface="+mn-lt"/>
          <a:ea typeface="+mn-ea"/>
          <a:cs typeface="+mn-cs"/>
        </a:defRPr>
      </a:lvl1pPr>
      <a:lvl2pPr marL="1114425" indent="-428625" algn="l" defTabSz="685800" rtl="0" eaLnBrk="1" latinLnBrk="0" hangingPunct="1">
        <a:spcBef>
          <a:spcPts val="1500"/>
        </a:spcBef>
        <a:spcAft>
          <a:spcPts val="0"/>
        </a:spcAft>
        <a:buClr>
          <a:schemeClr val="accent1"/>
        </a:buClr>
        <a:buSzPct val="80000"/>
        <a:buFont typeface="Wingdings 3" charset="2"/>
        <a:buChar char=""/>
        <a:defRPr sz="2400" kern="1200">
          <a:solidFill>
            <a:schemeClr val="tx1">
              <a:lumMod val="75000"/>
              <a:lumOff val="25000"/>
            </a:schemeClr>
          </a:solidFill>
          <a:latin typeface="+mn-lt"/>
          <a:ea typeface="+mn-ea"/>
          <a:cs typeface="+mn-cs"/>
        </a:defRPr>
      </a:lvl2pPr>
      <a:lvl3pPr marL="1714500" indent="-342900" algn="l" defTabSz="685800" rtl="0" eaLnBrk="1" latinLnBrk="0" hangingPunct="1">
        <a:spcBef>
          <a:spcPts val="1500"/>
        </a:spcBef>
        <a:spcAft>
          <a:spcPts val="0"/>
        </a:spcAft>
        <a:buClr>
          <a:schemeClr val="accent1"/>
        </a:buClr>
        <a:buSzPct val="80000"/>
        <a:buFont typeface="Wingdings 3" charset="2"/>
        <a:buChar char=""/>
        <a:defRPr sz="2100" kern="1200">
          <a:solidFill>
            <a:schemeClr val="tx1">
              <a:lumMod val="75000"/>
              <a:lumOff val="25000"/>
            </a:schemeClr>
          </a:solidFill>
          <a:latin typeface="+mn-lt"/>
          <a:ea typeface="+mn-ea"/>
          <a:cs typeface="+mn-cs"/>
        </a:defRPr>
      </a:lvl3pPr>
      <a:lvl4pPr marL="24003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4pPr>
      <a:lvl5pPr marL="30861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5pPr>
      <a:lvl6pPr marL="37719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6pPr>
      <a:lvl7pPr marL="44577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7pPr>
      <a:lvl8pPr marL="51435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8pPr>
      <a:lvl9pPr marL="5829300" indent="-342900" algn="l" defTabSz="685800" rtl="0" eaLnBrk="1" latinLnBrk="0" hangingPunct="1">
        <a:spcBef>
          <a:spcPts val="15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24000" y="737326"/>
            <a:ext cx="14870584" cy="2062296"/>
          </a:xfrm>
          <a:prstGeom prst="rect">
            <a:avLst/>
          </a:prstGeom>
        </p:spPr>
        <p:txBody>
          <a:bodyPr lIns="0" tIns="0" rIns="0" bIns="0" rtlCol="0" anchor="t">
            <a:spAutoFit/>
          </a:bodyPr>
          <a:lstStyle/>
          <a:p>
            <a:pPr algn="ctr">
              <a:lnSpc>
                <a:spcPts val="8591"/>
              </a:lnSpc>
              <a:spcBef>
                <a:spcPct val="0"/>
              </a:spcBef>
            </a:pPr>
            <a:r>
              <a:rPr lang="en-IN" sz="4400" dirty="0">
                <a:effectLst>
                  <a:outerShdw blurRad="38100" dist="19050" dir="2700000" algn="tl">
                    <a:schemeClr val="dk1">
                      <a:alpha val="40000"/>
                    </a:schemeClr>
                  </a:outerShdw>
                </a:effectLst>
                <a:latin typeface="Times New Roman" panose="02020603050405020304" pitchFamily="18" charset="0"/>
                <a:cs typeface="Times New Roman" panose="02020603050405020304" pitchFamily="18" charset="0"/>
              </a:rPr>
              <a:t>Supply Chain Visibility System with Optimization Analytics Group1</a:t>
            </a:r>
            <a:endParaRPr lang="en-US" sz="4400" dirty="0">
              <a:solidFill>
                <a:srgbClr val="004AAD"/>
              </a:solidFill>
              <a:latin typeface="Times New Roman" panose="02020603050405020304" pitchFamily="18" charset="0"/>
              <a:ea typeface="Canva Sans"/>
              <a:cs typeface="Times New Roman" panose="02020603050405020304" pitchFamily="18" charset="0"/>
              <a:sym typeface="Canva Sans"/>
            </a:endParaRPr>
          </a:p>
        </p:txBody>
      </p:sp>
      <p:sp>
        <p:nvSpPr>
          <p:cNvPr id="4" name="TextBox 4"/>
          <p:cNvSpPr txBox="1"/>
          <p:nvPr/>
        </p:nvSpPr>
        <p:spPr>
          <a:xfrm>
            <a:off x="6096000" y="3970995"/>
            <a:ext cx="4982371" cy="461665"/>
          </a:xfrm>
          <a:prstGeom prst="rect">
            <a:avLst/>
          </a:prstGeom>
        </p:spPr>
        <p:txBody>
          <a:bodyPr wrap="square" lIns="0" tIns="0" rIns="0" bIns="0" rtlCol="0" anchor="t">
            <a:spAutoFit/>
          </a:bodyPr>
          <a:lstStyle/>
          <a:p>
            <a:pPr algn="ctr">
              <a:lnSpc>
                <a:spcPts val="3639"/>
              </a:lnSpc>
              <a:spcBef>
                <a:spcPct val="0"/>
              </a:spcBef>
            </a:pPr>
            <a:r>
              <a:rPr lang="en-US" sz="3200" b="1" dirty="0">
                <a:solidFill>
                  <a:srgbClr val="000000"/>
                </a:solidFill>
                <a:latin typeface="Canva Sans"/>
                <a:ea typeface="Canva Sans"/>
                <a:cs typeface="Canva Sans"/>
                <a:sym typeface="Canva Sans"/>
              </a:rPr>
              <a:t>        Project Presentation</a:t>
            </a:r>
          </a:p>
        </p:txBody>
      </p:sp>
      <p:sp>
        <p:nvSpPr>
          <p:cNvPr id="5" name="TextBox 5"/>
          <p:cNvSpPr txBox="1"/>
          <p:nvPr/>
        </p:nvSpPr>
        <p:spPr>
          <a:xfrm>
            <a:off x="-3352800" y="4500400"/>
            <a:ext cx="16230600" cy="2163797"/>
          </a:xfrm>
          <a:prstGeom prst="rect">
            <a:avLst/>
          </a:prstGeom>
        </p:spPr>
        <p:txBody>
          <a:bodyPr wrap="square" lIns="0" tIns="0" rIns="0" bIns="0" rtlCol="0" anchor="t">
            <a:spAutoFit/>
          </a:bodyPr>
          <a:lstStyle/>
          <a:p>
            <a:pPr algn="ctr">
              <a:lnSpc>
                <a:spcPts val="3359"/>
              </a:lnSpc>
              <a:spcBef>
                <a:spcPct val="0"/>
              </a:spcBef>
            </a:pPr>
            <a:endParaRPr lang="en-US" sz="2800" b="1" dirty="0">
              <a:solidFill>
                <a:srgbClr val="000000"/>
              </a:solidFill>
              <a:latin typeface="Canva Sans"/>
              <a:ea typeface="Canva Sans"/>
              <a:cs typeface="Canva Sans"/>
              <a:sym typeface="Canva Sans"/>
            </a:endParaRPr>
          </a:p>
          <a:p>
            <a:pPr algn="ctr">
              <a:lnSpc>
                <a:spcPts val="3359"/>
              </a:lnSpc>
              <a:spcBef>
                <a:spcPct val="0"/>
              </a:spcBef>
            </a:pPr>
            <a:endParaRPr lang="en-US" sz="2800" b="1" dirty="0">
              <a:solidFill>
                <a:srgbClr val="000000"/>
              </a:solidFill>
              <a:latin typeface="Canva Sans"/>
              <a:ea typeface="Canva Sans"/>
              <a:cs typeface="Canva Sans"/>
              <a:sym typeface="Canva Sans"/>
            </a:endParaRPr>
          </a:p>
          <a:p>
            <a:pPr algn="ctr">
              <a:lnSpc>
                <a:spcPts val="3359"/>
              </a:lnSpc>
              <a:spcBef>
                <a:spcPct val="0"/>
              </a:spcBef>
            </a:pPr>
            <a:r>
              <a:rPr lang="en-US" sz="2800" b="1" dirty="0">
                <a:solidFill>
                  <a:srgbClr val="000000"/>
                </a:solidFill>
                <a:latin typeface="Canva Sans"/>
                <a:ea typeface="Canva Sans"/>
                <a:cs typeface="Canva Sans"/>
                <a:sym typeface="Canva Sans"/>
              </a:rPr>
              <a:t>Team Members:  Sanmitha</a:t>
            </a:r>
          </a:p>
          <a:p>
            <a:pPr algn="ctr">
              <a:lnSpc>
                <a:spcPts val="3359"/>
              </a:lnSpc>
              <a:spcBef>
                <a:spcPct val="0"/>
              </a:spcBef>
            </a:pPr>
            <a:r>
              <a:rPr lang="en-US" sz="2800" b="1" dirty="0">
                <a:solidFill>
                  <a:srgbClr val="000000"/>
                </a:solidFill>
                <a:latin typeface="Canva Sans"/>
                <a:ea typeface="Canva Sans"/>
                <a:cs typeface="Canva Sans"/>
                <a:sym typeface="Canva Sans"/>
              </a:rPr>
              <a:t>                                        Sabari Vasan</a:t>
            </a:r>
          </a:p>
          <a:p>
            <a:pPr algn="ctr">
              <a:lnSpc>
                <a:spcPts val="3359"/>
              </a:lnSpc>
              <a:spcBef>
                <a:spcPct val="0"/>
              </a:spcBef>
            </a:pPr>
            <a:r>
              <a:rPr lang="en-US" sz="2800" b="1" dirty="0">
                <a:solidFill>
                  <a:srgbClr val="000000"/>
                </a:solidFill>
                <a:latin typeface="Canva Sans"/>
                <a:ea typeface="Canva Sans"/>
                <a:cs typeface="Canva Sans"/>
                <a:sym typeface="Canva Sans"/>
              </a:rPr>
              <a:t>                                                       Suryakant Upadhyay</a:t>
            </a:r>
          </a:p>
        </p:txBody>
      </p:sp>
      <p:sp>
        <p:nvSpPr>
          <p:cNvPr id="6" name="TextBox 5">
            <a:extLst>
              <a:ext uri="{FF2B5EF4-FFF2-40B4-BE49-F238E27FC236}">
                <a16:creationId xmlns:a16="http://schemas.microsoft.com/office/drawing/2014/main" id="{3F7B0654-3B76-F69E-4945-7AEA71E48ED3}"/>
              </a:ext>
            </a:extLst>
          </p:cNvPr>
          <p:cNvSpPr txBox="1"/>
          <p:nvPr/>
        </p:nvSpPr>
        <p:spPr>
          <a:xfrm>
            <a:off x="3238500" y="3115115"/>
            <a:ext cx="11811000" cy="643766"/>
          </a:xfrm>
          <a:prstGeom prst="rect">
            <a:avLst/>
          </a:prstGeom>
          <a:noFill/>
        </p:spPr>
        <p:txBody>
          <a:bodyPr wrap="square" rtlCol="0">
            <a:spAutoFit/>
          </a:bodyPr>
          <a:lstStyle/>
          <a:p>
            <a:pPr algn="ctr">
              <a:lnSpc>
                <a:spcPts val="4297"/>
              </a:lnSpc>
              <a:spcBef>
                <a:spcPct val="0"/>
              </a:spcBef>
            </a:pPr>
            <a:r>
              <a:rPr lang="en-US" sz="4000" dirty="0">
                <a:solidFill>
                  <a:srgbClr val="38B6FF"/>
                </a:solidFill>
                <a:latin typeface="Times New Roman" panose="02020603050405020304" pitchFamily="18" charset="0"/>
                <a:ea typeface="Canva Sans"/>
                <a:cs typeface="Times New Roman" panose="02020603050405020304" pitchFamily="18" charset="0"/>
                <a:sym typeface="Canva Sans"/>
              </a:rPr>
              <a:t>Infosys Springboard Virtual Internship 7.0</a:t>
            </a:r>
          </a:p>
        </p:txBody>
      </p:sp>
      <p:sp>
        <p:nvSpPr>
          <p:cNvPr id="7" name="TextBox 6">
            <a:extLst>
              <a:ext uri="{FF2B5EF4-FFF2-40B4-BE49-F238E27FC236}">
                <a16:creationId xmlns:a16="http://schemas.microsoft.com/office/drawing/2014/main" id="{44FA1FB6-3473-5107-7952-7944974C5E04}"/>
              </a:ext>
            </a:extLst>
          </p:cNvPr>
          <p:cNvSpPr txBox="1"/>
          <p:nvPr/>
        </p:nvSpPr>
        <p:spPr>
          <a:xfrm rot="10800000" flipV="1">
            <a:off x="2705100" y="7691430"/>
            <a:ext cx="6781800" cy="646331"/>
          </a:xfrm>
          <a:prstGeom prst="rect">
            <a:avLst/>
          </a:prstGeom>
          <a:noFill/>
        </p:spPr>
        <p:txBody>
          <a:bodyPr wrap="square" rtlCol="0">
            <a:spAutoFit/>
          </a:bodyPr>
          <a:lstStyle/>
          <a:p>
            <a:r>
              <a:rPr lang="en-GB" sz="3600" b="1" dirty="0">
                <a:latin typeface="Times New Roman" panose="02020603050405020304" pitchFamily="18" charset="0"/>
                <a:cs typeface="Times New Roman" panose="02020603050405020304" pitchFamily="18" charset="0"/>
              </a:rPr>
              <a:t>Mentor:</a:t>
            </a:r>
            <a:r>
              <a:rPr lang="en-GB" sz="3600" dirty="0">
                <a:latin typeface="Times New Roman" panose="02020603050405020304" pitchFamily="18" charset="0"/>
                <a:cs typeface="Times New Roman" panose="02020603050405020304" pitchFamily="18" charset="0"/>
              </a:rPr>
              <a:t> Nityasree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4977982" y="8670499"/>
            <a:ext cx="1820145" cy="372745"/>
          </a:xfrm>
          <a:prstGeom prst="rect">
            <a:avLst/>
          </a:prstGeom>
        </p:spPr>
        <p:txBody>
          <a:bodyPr lIns="0" tIns="0" rIns="0" bIns="0" rtlCol="0" anchor="t">
            <a:spAutoFit/>
          </a:bodyPr>
          <a:lstStyle/>
          <a:p>
            <a:pPr algn="ctr">
              <a:lnSpc>
                <a:spcPts val="3080"/>
              </a:lnSpc>
              <a:spcBef>
                <a:spcPct val="0"/>
              </a:spcBef>
            </a:pPr>
            <a:r>
              <a:rPr lang="en-US" sz="2200" b="1">
                <a:solidFill>
                  <a:srgbClr val="FFFFFF"/>
                </a:solidFill>
                <a:latin typeface="Inter Medium"/>
                <a:ea typeface="Inter Medium"/>
                <a:cs typeface="Inter Medium"/>
                <a:sym typeface="Inter Medium"/>
              </a:rPr>
              <a:t>PAGE 02</a:t>
            </a:r>
          </a:p>
        </p:txBody>
      </p:sp>
      <p:sp>
        <p:nvSpPr>
          <p:cNvPr id="3" name="TextBox 3"/>
          <p:cNvSpPr txBox="1"/>
          <p:nvPr/>
        </p:nvSpPr>
        <p:spPr>
          <a:xfrm>
            <a:off x="685800" y="472659"/>
            <a:ext cx="4261035" cy="587148"/>
          </a:xfrm>
          <a:prstGeom prst="rect">
            <a:avLst/>
          </a:prstGeom>
        </p:spPr>
        <p:txBody>
          <a:bodyPr wrap="square" lIns="0" tIns="0" rIns="0" bIns="0" rtlCol="0" anchor="t">
            <a:spAutoFit/>
          </a:bodyPr>
          <a:lstStyle/>
          <a:p>
            <a:pPr algn="ctr">
              <a:lnSpc>
                <a:spcPts val="4900"/>
              </a:lnSpc>
              <a:spcBef>
                <a:spcPct val="0"/>
              </a:spcBef>
            </a:pPr>
            <a:r>
              <a:rPr lang="en-US" sz="3500" b="1" dirty="0">
                <a:solidFill>
                  <a:srgbClr val="000000"/>
                </a:solidFill>
                <a:latin typeface="Times New Roman" panose="02020603050405020304" pitchFamily="18" charset="0"/>
                <a:ea typeface="Canva Sans Bold"/>
                <a:cs typeface="Times New Roman" panose="02020603050405020304" pitchFamily="18" charset="0"/>
                <a:sym typeface="Canva Sans Bold"/>
              </a:rPr>
              <a:t>Project </a:t>
            </a:r>
            <a:r>
              <a:rPr lang="en-US" sz="3600" b="1" dirty="0">
                <a:solidFill>
                  <a:srgbClr val="000000"/>
                </a:solidFill>
                <a:latin typeface="Times New Roman" panose="02020603050405020304" pitchFamily="18" charset="0"/>
                <a:ea typeface="Canva Sans Bold"/>
                <a:cs typeface="Times New Roman" panose="02020603050405020304" pitchFamily="18" charset="0"/>
                <a:sym typeface="Canva Sans Bold"/>
              </a:rPr>
              <a:t>Objective</a:t>
            </a:r>
          </a:p>
        </p:txBody>
      </p:sp>
      <p:sp>
        <p:nvSpPr>
          <p:cNvPr id="4" name="TextBox 4"/>
          <p:cNvSpPr txBox="1"/>
          <p:nvPr/>
        </p:nvSpPr>
        <p:spPr>
          <a:xfrm>
            <a:off x="653143" y="1243756"/>
            <a:ext cx="14573845" cy="4067780"/>
          </a:xfrm>
          <a:prstGeom prst="rect">
            <a:avLst/>
          </a:prstGeom>
        </p:spPr>
        <p:txBody>
          <a:bodyPr lIns="0" tIns="0" rIns="0" bIns="0" rtlCol="0" anchor="t">
            <a:spAutoFit/>
          </a:bodyPr>
          <a:lstStyle/>
          <a:p>
            <a:pPr marL="539749" lvl="1" indent="-269875" algn="l">
              <a:lnSpc>
                <a:spcPts val="3499"/>
              </a:lnSpc>
              <a:spcBef>
                <a:spcPct val="0"/>
              </a:spcBef>
              <a:buFont typeface="Arial"/>
              <a:buChar char="•"/>
            </a:pPr>
            <a:r>
              <a:rPr lang="en-US" sz="3200" dirty="0">
                <a:solidFill>
                  <a:srgbClr val="000000"/>
                </a:solidFill>
                <a:latin typeface="Times New Roman" panose="02020603050405020304" pitchFamily="18" charset="0"/>
                <a:ea typeface="Canva Sans"/>
                <a:cs typeface="Times New Roman" panose="02020603050405020304" pitchFamily="18" charset="0"/>
                <a:sym typeface="Canva Sans"/>
              </a:rPr>
              <a:t>To improve end-to-end visibility across the supply chain using data analytics.</a:t>
            </a:r>
          </a:p>
          <a:p>
            <a:pPr algn="l">
              <a:lnSpc>
                <a:spcPts val="3499"/>
              </a:lnSpc>
              <a:spcBef>
                <a:spcPct val="0"/>
              </a:spcBef>
            </a:pPr>
            <a:endParaRPr lang="en-US" sz="3200" dirty="0">
              <a:solidFill>
                <a:srgbClr val="000000"/>
              </a:solidFill>
              <a:latin typeface="Times New Roman" panose="02020603050405020304" pitchFamily="18" charset="0"/>
              <a:ea typeface="Canva Sans"/>
              <a:cs typeface="Times New Roman" panose="02020603050405020304" pitchFamily="18" charset="0"/>
              <a:sym typeface="Canva Sans"/>
            </a:endParaRPr>
          </a:p>
          <a:p>
            <a:pPr marL="539749" lvl="1" indent="-269875" algn="l">
              <a:lnSpc>
                <a:spcPts val="3499"/>
              </a:lnSpc>
              <a:spcBef>
                <a:spcPct val="0"/>
              </a:spcBef>
              <a:buFont typeface="Arial"/>
              <a:buChar char="•"/>
            </a:pPr>
            <a:r>
              <a:rPr lang="en-US" sz="3200" dirty="0">
                <a:solidFill>
                  <a:srgbClr val="000000"/>
                </a:solidFill>
                <a:latin typeface="Times New Roman" panose="02020603050405020304" pitchFamily="18" charset="0"/>
                <a:ea typeface="Canva Sans"/>
                <a:cs typeface="Times New Roman" panose="02020603050405020304" pitchFamily="18" charset="0"/>
                <a:sym typeface="Canva Sans"/>
              </a:rPr>
              <a:t>To identify operational bottlenecks affecting inventory movement and order fulfillment.</a:t>
            </a:r>
          </a:p>
          <a:p>
            <a:pPr algn="l">
              <a:lnSpc>
                <a:spcPts val="3499"/>
              </a:lnSpc>
              <a:spcBef>
                <a:spcPct val="0"/>
              </a:spcBef>
            </a:pPr>
            <a:endParaRPr lang="en-US" sz="3200" dirty="0">
              <a:solidFill>
                <a:srgbClr val="000000"/>
              </a:solidFill>
              <a:latin typeface="Times New Roman" panose="02020603050405020304" pitchFamily="18" charset="0"/>
              <a:ea typeface="Canva Sans"/>
              <a:cs typeface="Times New Roman" panose="02020603050405020304" pitchFamily="18" charset="0"/>
              <a:sym typeface="Canva Sans"/>
            </a:endParaRPr>
          </a:p>
          <a:p>
            <a:pPr marL="539749" lvl="1" indent="-269875" algn="l">
              <a:lnSpc>
                <a:spcPts val="3499"/>
              </a:lnSpc>
              <a:spcBef>
                <a:spcPct val="0"/>
              </a:spcBef>
              <a:buFont typeface="Arial"/>
              <a:buChar char="•"/>
            </a:pPr>
            <a:r>
              <a:rPr lang="en-US" sz="3200" dirty="0">
                <a:solidFill>
                  <a:srgbClr val="000000"/>
                </a:solidFill>
                <a:latin typeface="Times New Roman" panose="02020603050405020304" pitchFamily="18" charset="0"/>
                <a:ea typeface="Canva Sans"/>
                <a:cs typeface="Times New Roman" panose="02020603050405020304" pitchFamily="18" charset="0"/>
                <a:sym typeface="Canva Sans"/>
              </a:rPr>
              <a:t>To optimize logistics, inventory management, and delivery performance.</a:t>
            </a:r>
          </a:p>
          <a:p>
            <a:pPr algn="l">
              <a:lnSpc>
                <a:spcPts val="3499"/>
              </a:lnSpc>
              <a:spcBef>
                <a:spcPct val="0"/>
              </a:spcBef>
            </a:pPr>
            <a:endParaRPr lang="en-US" sz="3200" dirty="0">
              <a:solidFill>
                <a:srgbClr val="000000"/>
              </a:solidFill>
              <a:latin typeface="Times New Roman" panose="02020603050405020304" pitchFamily="18" charset="0"/>
              <a:ea typeface="Canva Sans"/>
              <a:cs typeface="Times New Roman" panose="02020603050405020304" pitchFamily="18" charset="0"/>
              <a:sym typeface="Canva Sans"/>
            </a:endParaRPr>
          </a:p>
          <a:p>
            <a:pPr marL="539749" lvl="1" indent="-269875" algn="l">
              <a:lnSpc>
                <a:spcPts val="3499"/>
              </a:lnSpc>
              <a:spcBef>
                <a:spcPct val="0"/>
              </a:spcBef>
              <a:buFont typeface="Arial"/>
              <a:buChar char="•"/>
            </a:pPr>
            <a:r>
              <a:rPr lang="en-US" sz="3200" dirty="0">
                <a:solidFill>
                  <a:srgbClr val="000000"/>
                </a:solidFill>
                <a:latin typeface="Times New Roman" panose="02020603050405020304" pitchFamily="18" charset="0"/>
                <a:ea typeface="Canva Sans"/>
                <a:cs typeface="Times New Roman" panose="02020603050405020304" pitchFamily="18" charset="0"/>
                <a:sym typeface="Canva Sans"/>
              </a:rPr>
              <a:t>To support data-driven decision-making through interactive dashboards and reports.</a:t>
            </a:r>
          </a:p>
          <a:p>
            <a:pPr algn="l">
              <a:lnSpc>
                <a:spcPts val="4118"/>
              </a:lnSpc>
              <a:spcBef>
                <a:spcPct val="0"/>
              </a:spcBef>
            </a:pPr>
            <a:endParaRPr lang="en-US" sz="2499" dirty="0">
              <a:solidFill>
                <a:srgbClr val="000000"/>
              </a:solidFill>
              <a:latin typeface="Canva Sans"/>
              <a:ea typeface="Canva Sans"/>
              <a:cs typeface="Canva Sans"/>
              <a:sym typeface="Canva Sans"/>
            </a:endParaRPr>
          </a:p>
        </p:txBody>
      </p:sp>
      <p:sp>
        <p:nvSpPr>
          <p:cNvPr id="5" name="TextBox 4">
            <a:extLst>
              <a:ext uri="{FF2B5EF4-FFF2-40B4-BE49-F238E27FC236}">
                <a16:creationId xmlns:a16="http://schemas.microsoft.com/office/drawing/2014/main" id="{8B92EC85-CA9F-ACC0-BA95-E9E90C44B1E8}"/>
              </a:ext>
            </a:extLst>
          </p:cNvPr>
          <p:cNvSpPr txBox="1"/>
          <p:nvPr/>
        </p:nvSpPr>
        <p:spPr>
          <a:xfrm>
            <a:off x="1143000" y="5311536"/>
            <a:ext cx="4267200" cy="646331"/>
          </a:xfrm>
          <a:prstGeom prst="rect">
            <a:avLst/>
          </a:prstGeom>
          <a:noFill/>
        </p:spPr>
        <p:txBody>
          <a:bodyPr wrap="square" rtlCol="0">
            <a:spAutoFit/>
          </a:bodyPr>
          <a:lstStyle/>
          <a:p>
            <a:r>
              <a:rPr lang="en-GB" sz="3600" b="1" dirty="0">
                <a:latin typeface="Times New Roman" panose="02020603050405020304" pitchFamily="18" charset="0"/>
                <a:cs typeface="Times New Roman" panose="02020603050405020304" pitchFamily="18" charset="0"/>
              </a:rPr>
              <a:t>Project  Modules</a:t>
            </a:r>
          </a:p>
        </p:txBody>
      </p:sp>
      <p:sp>
        <p:nvSpPr>
          <p:cNvPr id="6" name="TextBox 5">
            <a:extLst>
              <a:ext uri="{FF2B5EF4-FFF2-40B4-BE49-F238E27FC236}">
                <a16:creationId xmlns:a16="http://schemas.microsoft.com/office/drawing/2014/main" id="{1F319E0E-5643-54C3-9433-68BBB6A22857}"/>
              </a:ext>
            </a:extLst>
          </p:cNvPr>
          <p:cNvSpPr txBox="1"/>
          <p:nvPr/>
        </p:nvSpPr>
        <p:spPr>
          <a:xfrm>
            <a:off x="1143000" y="6117175"/>
            <a:ext cx="10896600" cy="3697166"/>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en-GB" sz="3200" dirty="0">
                <a:latin typeface="Times New Roman" panose="02020603050405020304" pitchFamily="18" charset="0"/>
                <a:cs typeface="Times New Roman" panose="02020603050405020304" pitchFamily="18" charset="0"/>
              </a:rPr>
              <a:t>Data Collection &amp; Understanding</a:t>
            </a:r>
          </a:p>
          <a:p>
            <a:pPr marL="285750" lvl="0" indent="-285750">
              <a:lnSpc>
                <a:spcPct val="150000"/>
              </a:lnSpc>
              <a:buFont typeface="Arial" panose="020B0604020202020204" pitchFamily="34" charset="0"/>
              <a:buChar char="•"/>
            </a:pPr>
            <a:r>
              <a:rPr lang="en-GB" sz="3200" dirty="0">
                <a:latin typeface="Times New Roman" panose="02020603050405020304" pitchFamily="18" charset="0"/>
                <a:cs typeface="Times New Roman" panose="02020603050405020304" pitchFamily="18" charset="0"/>
              </a:rPr>
              <a:t>Data Preprocessing</a:t>
            </a:r>
          </a:p>
          <a:p>
            <a:pPr marL="285750" lvl="0" indent="-285750">
              <a:lnSpc>
                <a:spcPct val="150000"/>
              </a:lnSpc>
              <a:buFont typeface="Arial" panose="020B0604020202020204" pitchFamily="34" charset="0"/>
              <a:buChar char="•"/>
            </a:pPr>
            <a:r>
              <a:rPr lang="en-GB" sz="3200" dirty="0">
                <a:latin typeface="Times New Roman" panose="02020603050405020304" pitchFamily="18" charset="0"/>
                <a:cs typeface="Times New Roman" panose="02020603050405020304" pitchFamily="18" charset="0"/>
              </a:rPr>
              <a:t>Data </a:t>
            </a:r>
            <a:r>
              <a:rPr lang="en-GB" sz="3200" dirty="0" err="1">
                <a:latin typeface="Times New Roman" panose="02020603050405020304" pitchFamily="18" charset="0"/>
                <a:cs typeface="Times New Roman" panose="02020603050405020304" pitchFamily="18" charset="0"/>
              </a:rPr>
              <a:t>Modeling</a:t>
            </a:r>
            <a:r>
              <a:rPr lang="en-GB" sz="3200" dirty="0">
                <a:latin typeface="Times New Roman" panose="02020603050405020304" pitchFamily="18" charset="0"/>
                <a:cs typeface="Times New Roman" panose="02020603050405020304" pitchFamily="18" charset="0"/>
              </a:rPr>
              <a:t> &amp; KPI Analysis</a:t>
            </a:r>
          </a:p>
          <a:p>
            <a:pPr marL="285750" lvl="0" indent="-285750">
              <a:lnSpc>
                <a:spcPct val="150000"/>
              </a:lnSpc>
              <a:buFont typeface="Arial" panose="020B0604020202020204" pitchFamily="34" charset="0"/>
              <a:buChar char="•"/>
            </a:pPr>
            <a:r>
              <a:rPr lang="en-GB" sz="3200" dirty="0">
                <a:latin typeface="Times New Roman" panose="02020603050405020304" pitchFamily="18" charset="0"/>
                <a:cs typeface="Times New Roman" panose="02020603050405020304" pitchFamily="18" charset="0"/>
              </a:rPr>
              <a:t>Power BI Visualization</a:t>
            </a:r>
          </a:p>
          <a:p>
            <a:pPr marL="285750" lvl="0" indent="-285750">
              <a:lnSpc>
                <a:spcPct val="150000"/>
              </a:lnSpc>
              <a:buFont typeface="Arial" panose="020B0604020202020204" pitchFamily="34" charset="0"/>
              <a:buChar char="•"/>
            </a:pPr>
            <a:r>
              <a:rPr lang="en-GB" sz="3200" dirty="0">
                <a:latin typeface="Times New Roman" panose="02020603050405020304" pitchFamily="18" charset="0"/>
                <a:cs typeface="Times New Roman" panose="02020603050405020304" pitchFamily="18" charset="0"/>
              </a:rPr>
              <a:t>Insights &amp; Reporting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99C8C3-0BBC-7AD9-7A01-FD156A200FD0}"/>
              </a:ext>
            </a:extLst>
          </p:cNvPr>
          <p:cNvSpPr txBox="1"/>
          <p:nvPr/>
        </p:nvSpPr>
        <p:spPr>
          <a:xfrm>
            <a:off x="1295400" y="723900"/>
            <a:ext cx="9525000" cy="707886"/>
          </a:xfrm>
          <a:prstGeom prst="rect">
            <a:avLst/>
          </a:prstGeom>
          <a:noFill/>
        </p:spPr>
        <p:txBody>
          <a:bodyPr wrap="square" rtlCol="0">
            <a:spAutoFit/>
          </a:bodyPr>
          <a:lstStyle/>
          <a:p>
            <a:r>
              <a:rPr lang="en-GB" sz="4000" b="1" dirty="0">
                <a:latin typeface="Times New Roman" panose="02020603050405020304" pitchFamily="18" charset="0"/>
                <a:cs typeface="Times New Roman" panose="02020603050405020304" pitchFamily="18" charset="0"/>
              </a:rPr>
              <a:t>Project Execution Milestones</a:t>
            </a:r>
          </a:p>
        </p:txBody>
      </p:sp>
      <p:sp>
        <p:nvSpPr>
          <p:cNvPr id="3" name="TextBox 2">
            <a:extLst>
              <a:ext uri="{FF2B5EF4-FFF2-40B4-BE49-F238E27FC236}">
                <a16:creationId xmlns:a16="http://schemas.microsoft.com/office/drawing/2014/main" id="{CDFA5717-9A1C-0216-6A3E-BEDBC7F944FA}"/>
              </a:ext>
            </a:extLst>
          </p:cNvPr>
          <p:cNvSpPr txBox="1"/>
          <p:nvPr/>
        </p:nvSpPr>
        <p:spPr>
          <a:xfrm>
            <a:off x="1295400" y="1790700"/>
            <a:ext cx="13639800" cy="8679299"/>
          </a:xfrm>
          <a:prstGeom prst="rect">
            <a:avLst/>
          </a:prstGeom>
          <a:noFill/>
        </p:spPr>
        <p:txBody>
          <a:bodyPr wrap="square" rtlCol="0">
            <a:spAutoFit/>
          </a:bodyPr>
          <a:lstStyle/>
          <a:p>
            <a:r>
              <a:rPr lang="en-GB" sz="3600" dirty="0">
                <a:latin typeface="Times New Roman" panose="02020603050405020304" pitchFamily="18" charset="0"/>
                <a:cs typeface="Times New Roman" panose="02020603050405020304" pitchFamily="18" charset="0"/>
              </a:rPr>
              <a:t>Milestone 1 – Data Acquisition &amp; Cleaning</a:t>
            </a:r>
          </a:p>
          <a:p>
            <a:pPr marL="571500" lvl="0" indent="-571500">
              <a:buFont typeface="Arial" panose="020B0604020202020204" pitchFamily="34" charset="0"/>
              <a:buChar char="•"/>
            </a:pPr>
            <a:r>
              <a:rPr lang="en-GB" sz="3600" dirty="0">
                <a:latin typeface="Times New Roman" panose="02020603050405020304" pitchFamily="18" charset="0"/>
                <a:cs typeface="Times New Roman" panose="02020603050405020304" pitchFamily="18" charset="0"/>
              </a:rPr>
              <a:t>Collected and understood the supply chain dataset.</a:t>
            </a:r>
          </a:p>
          <a:p>
            <a:pPr marL="571500" lvl="0" indent="-571500">
              <a:buFont typeface="Arial" panose="020B0604020202020204" pitchFamily="34" charset="0"/>
              <a:buChar char="•"/>
            </a:pPr>
            <a:r>
              <a:rPr lang="en-GB" sz="3600" dirty="0">
                <a:latin typeface="Times New Roman" panose="02020603050405020304" pitchFamily="18" charset="0"/>
                <a:cs typeface="Times New Roman" panose="02020603050405020304" pitchFamily="18" charset="0"/>
              </a:rPr>
              <a:t>Cleaned and prepared the data for analysis.</a:t>
            </a:r>
          </a:p>
          <a:p>
            <a:pPr lvl="0"/>
            <a:endParaRPr lang="en-GB" sz="3600" dirty="0">
              <a:latin typeface="Times New Roman" panose="02020603050405020304" pitchFamily="18" charset="0"/>
              <a:cs typeface="Times New Roman" panose="02020603050405020304" pitchFamily="18" charset="0"/>
            </a:endParaRPr>
          </a:p>
          <a:p>
            <a:r>
              <a:rPr lang="en-GB" sz="3600" dirty="0">
                <a:latin typeface="Times New Roman" panose="02020603050405020304" pitchFamily="18" charset="0"/>
                <a:cs typeface="Times New Roman" panose="02020603050405020304" pitchFamily="18" charset="0"/>
              </a:rPr>
              <a:t>Milestone 2 – Data </a:t>
            </a:r>
            <a:r>
              <a:rPr lang="en-GB" sz="3600" dirty="0" err="1">
                <a:latin typeface="Times New Roman" panose="02020603050405020304" pitchFamily="18" charset="0"/>
                <a:cs typeface="Times New Roman" panose="02020603050405020304" pitchFamily="18" charset="0"/>
              </a:rPr>
              <a:t>Modeling</a:t>
            </a:r>
            <a:endParaRPr lang="en-GB" sz="3600" dirty="0">
              <a:latin typeface="Times New Roman" panose="02020603050405020304" pitchFamily="18" charset="0"/>
              <a:cs typeface="Times New Roman" panose="02020603050405020304" pitchFamily="18" charset="0"/>
            </a:endParaRPr>
          </a:p>
          <a:p>
            <a:pPr marL="571500" lvl="0" indent="-571500">
              <a:buFont typeface="Arial" panose="020B0604020202020204" pitchFamily="34" charset="0"/>
              <a:buChar char="•"/>
            </a:pPr>
            <a:r>
              <a:rPr lang="en-GB" sz="3600" dirty="0" err="1">
                <a:latin typeface="Times New Roman" panose="02020603050405020304" pitchFamily="18" charset="0"/>
                <a:cs typeface="Times New Roman" panose="02020603050405020304" pitchFamily="18" charset="0"/>
              </a:rPr>
              <a:t>Analyzed</a:t>
            </a:r>
            <a:r>
              <a:rPr lang="en-GB" sz="3600" dirty="0">
                <a:latin typeface="Times New Roman" panose="02020603050405020304" pitchFamily="18" charset="0"/>
                <a:cs typeface="Times New Roman" panose="02020603050405020304" pitchFamily="18" charset="0"/>
              </a:rPr>
              <a:t> supply chain metrics and developed key performance indicators.</a:t>
            </a:r>
          </a:p>
          <a:p>
            <a:pPr lvl="0"/>
            <a:endParaRPr lang="en-GB" sz="3600" dirty="0">
              <a:latin typeface="Times New Roman" panose="02020603050405020304" pitchFamily="18" charset="0"/>
              <a:cs typeface="Times New Roman" panose="02020603050405020304" pitchFamily="18" charset="0"/>
            </a:endParaRPr>
          </a:p>
          <a:p>
            <a:r>
              <a:rPr lang="en-GB" sz="3600" dirty="0">
                <a:latin typeface="Times New Roman" panose="02020603050405020304" pitchFamily="18" charset="0"/>
                <a:cs typeface="Times New Roman" panose="02020603050405020304" pitchFamily="18" charset="0"/>
              </a:rPr>
              <a:t>Milestone 3 – Development</a:t>
            </a:r>
          </a:p>
          <a:p>
            <a:pPr marL="571500" lvl="0" indent="-571500">
              <a:buFont typeface="Arial" panose="020B0604020202020204" pitchFamily="34" charset="0"/>
              <a:buChar char="•"/>
            </a:pPr>
            <a:r>
              <a:rPr lang="en-GB" sz="3600" dirty="0">
                <a:latin typeface="Times New Roman" panose="02020603050405020304" pitchFamily="18" charset="0"/>
                <a:cs typeface="Times New Roman" panose="02020603050405020304" pitchFamily="18" charset="0"/>
              </a:rPr>
              <a:t>Created interactive Power BI dashboards to visualize supply chain performance.</a:t>
            </a:r>
          </a:p>
          <a:p>
            <a:pPr lvl="0"/>
            <a:endParaRPr lang="en-GB" sz="3600" dirty="0">
              <a:latin typeface="Times New Roman" panose="02020603050405020304" pitchFamily="18" charset="0"/>
              <a:cs typeface="Times New Roman" panose="02020603050405020304" pitchFamily="18" charset="0"/>
            </a:endParaRPr>
          </a:p>
          <a:p>
            <a:r>
              <a:rPr lang="en-GB" sz="3600" dirty="0">
                <a:latin typeface="Times New Roman" panose="02020603050405020304" pitchFamily="18" charset="0"/>
                <a:cs typeface="Times New Roman" panose="02020603050405020304" pitchFamily="18" charset="0"/>
              </a:rPr>
              <a:t>Milestone 4 – Review &amp; Optimization</a:t>
            </a:r>
          </a:p>
          <a:p>
            <a:pPr marL="571500" lvl="0" indent="-571500">
              <a:buFont typeface="Arial" panose="020B0604020202020204" pitchFamily="34" charset="0"/>
              <a:buChar char="•"/>
            </a:pPr>
            <a:r>
              <a:rPr lang="en-GB" sz="3600" dirty="0">
                <a:latin typeface="Times New Roman" panose="02020603050405020304" pitchFamily="18" charset="0"/>
                <a:cs typeface="Times New Roman" panose="02020603050405020304" pitchFamily="18" charset="0"/>
              </a:rPr>
              <a:t>Reviewed dashboard insights and refined visualizations for better understanding and reporting.</a:t>
            </a:r>
          </a:p>
          <a:p>
            <a:endParaRPr lang="en-GB" dirty="0"/>
          </a:p>
        </p:txBody>
      </p:sp>
    </p:spTree>
    <p:extLst>
      <p:ext uri="{BB962C8B-B14F-4D97-AF65-F5344CB8AC3E}">
        <p14:creationId xmlns:p14="http://schemas.microsoft.com/office/powerpoint/2010/main" val="4029887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58E4C2-E96C-1CCE-AE25-F295402CA735}"/>
              </a:ext>
            </a:extLst>
          </p:cNvPr>
          <p:cNvSpPr txBox="1"/>
          <p:nvPr/>
        </p:nvSpPr>
        <p:spPr>
          <a:xfrm>
            <a:off x="1752600" y="1230243"/>
            <a:ext cx="6553200" cy="707886"/>
          </a:xfrm>
          <a:prstGeom prst="rect">
            <a:avLst/>
          </a:prstGeom>
          <a:noFill/>
        </p:spPr>
        <p:txBody>
          <a:bodyPr wrap="square" rtlCol="0">
            <a:spAutoFit/>
          </a:bodyPr>
          <a:lstStyle/>
          <a:p>
            <a:r>
              <a:rPr lang="en-GB" sz="4000" b="1" dirty="0">
                <a:latin typeface="Times New Roman" panose="02020603050405020304" pitchFamily="18" charset="0"/>
                <a:cs typeface="Times New Roman" panose="02020603050405020304" pitchFamily="18" charset="0"/>
              </a:rPr>
              <a:t>Challenges and Resolution</a:t>
            </a:r>
          </a:p>
        </p:txBody>
      </p:sp>
      <p:sp>
        <p:nvSpPr>
          <p:cNvPr id="3" name="TextBox 2">
            <a:extLst>
              <a:ext uri="{FF2B5EF4-FFF2-40B4-BE49-F238E27FC236}">
                <a16:creationId xmlns:a16="http://schemas.microsoft.com/office/drawing/2014/main" id="{71113F5B-8290-3279-5E1A-7B8E20348AAF}"/>
              </a:ext>
            </a:extLst>
          </p:cNvPr>
          <p:cNvSpPr txBox="1"/>
          <p:nvPr/>
        </p:nvSpPr>
        <p:spPr>
          <a:xfrm>
            <a:off x="1774371" y="2400300"/>
            <a:ext cx="13868400" cy="8125301"/>
          </a:xfrm>
          <a:prstGeom prst="rect">
            <a:avLst/>
          </a:prstGeom>
          <a:noFill/>
        </p:spPr>
        <p:txBody>
          <a:bodyPr wrap="square" rtlCol="0">
            <a:spAutoFit/>
          </a:bodyPr>
          <a:lstStyle/>
          <a:p>
            <a:r>
              <a:rPr lang="en-GB" sz="3600" b="1" dirty="0">
                <a:latin typeface="Times New Roman" panose="02020603050405020304" pitchFamily="18" charset="0"/>
                <a:cs typeface="Times New Roman" panose="02020603050405020304" pitchFamily="18" charset="0"/>
              </a:rPr>
              <a:t>Challenges</a:t>
            </a:r>
          </a:p>
          <a:p>
            <a:pPr marL="571500" lvl="0" indent="-571500">
              <a:buFont typeface="Arial" panose="020B0604020202020204" pitchFamily="34" charset="0"/>
              <a:buChar char="•"/>
            </a:pPr>
            <a:r>
              <a:rPr lang="en-GB" sz="3600" dirty="0">
                <a:latin typeface="Times New Roman" panose="02020603050405020304" pitchFamily="18" charset="0"/>
                <a:cs typeface="Times New Roman" panose="02020603050405020304" pitchFamily="18" charset="0"/>
              </a:rPr>
              <a:t>Handling missing, duplicate, and inconsistent data.</a:t>
            </a:r>
          </a:p>
          <a:p>
            <a:pPr marL="571500" lvl="0" indent="-571500">
              <a:buFont typeface="Arial" panose="020B0604020202020204" pitchFamily="34" charset="0"/>
              <a:buChar char="•"/>
            </a:pPr>
            <a:r>
              <a:rPr lang="en-GB" sz="3600" dirty="0">
                <a:latin typeface="Times New Roman" panose="02020603050405020304" pitchFamily="18" charset="0"/>
                <a:cs typeface="Times New Roman" panose="02020603050405020304" pitchFamily="18" charset="0"/>
              </a:rPr>
              <a:t>Understanding relationships between different supply chain attributes.</a:t>
            </a:r>
          </a:p>
          <a:p>
            <a:pPr marL="571500" lvl="0" indent="-571500">
              <a:buFont typeface="Arial" panose="020B0604020202020204" pitchFamily="34" charset="0"/>
              <a:buChar char="•"/>
            </a:pPr>
            <a:r>
              <a:rPr lang="en-GB" sz="3600" dirty="0">
                <a:latin typeface="Times New Roman" panose="02020603050405020304" pitchFamily="18" charset="0"/>
                <a:cs typeface="Times New Roman" panose="02020603050405020304" pitchFamily="18" charset="0"/>
              </a:rPr>
              <a:t>Presenting complex supply chain information in a simple format.</a:t>
            </a:r>
          </a:p>
          <a:p>
            <a:pPr marL="571500" lvl="0" indent="-571500">
              <a:buFont typeface="Arial" panose="020B0604020202020204" pitchFamily="34" charset="0"/>
              <a:buChar char="•"/>
            </a:pPr>
            <a:r>
              <a:rPr lang="en-GB" sz="3600" dirty="0">
                <a:latin typeface="Times New Roman" panose="02020603050405020304" pitchFamily="18" charset="0"/>
                <a:cs typeface="Times New Roman" panose="02020603050405020304" pitchFamily="18" charset="0"/>
              </a:rPr>
              <a:t>Managing and </a:t>
            </a:r>
            <a:r>
              <a:rPr lang="en-GB" sz="3600" dirty="0" err="1">
                <a:latin typeface="Times New Roman" panose="02020603050405020304" pitchFamily="18" charset="0"/>
                <a:cs typeface="Times New Roman" panose="02020603050405020304" pitchFamily="18" charset="0"/>
              </a:rPr>
              <a:t>analyzing</a:t>
            </a:r>
            <a:r>
              <a:rPr lang="en-GB" sz="3600" dirty="0">
                <a:latin typeface="Times New Roman" panose="02020603050405020304" pitchFamily="18" charset="0"/>
                <a:cs typeface="Times New Roman" panose="02020603050405020304" pitchFamily="18" charset="0"/>
              </a:rPr>
              <a:t> multiple supply chain KPIs effectively.</a:t>
            </a:r>
          </a:p>
          <a:p>
            <a:pPr marL="571500" lvl="0" indent="-571500">
              <a:buFont typeface="Arial" panose="020B0604020202020204" pitchFamily="34" charset="0"/>
              <a:buChar char="•"/>
            </a:pPr>
            <a:endParaRPr lang="en-GB" sz="3600" dirty="0">
              <a:latin typeface="Times New Roman" panose="02020603050405020304" pitchFamily="18" charset="0"/>
              <a:cs typeface="Times New Roman" panose="02020603050405020304" pitchFamily="18" charset="0"/>
            </a:endParaRPr>
          </a:p>
          <a:p>
            <a:r>
              <a:rPr lang="en-GB" sz="3600" b="1" dirty="0">
                <a:latin typeface="Times New Roman" panose="02020603050405020304" pitchFamily="18" charset="0"/>
                <a:cs typeface="Times New Roman" panose="02020603050405020304" pitchFamily="18" charset="0"/>
              </a:rPr>
              <a:t>Resolutions</a:t>
            </a:r>
          </a:p>
          <a:p>
            <a:pPr marL="571500" lvl="0" indent="-571500">
              <a:buFont typeface="Arial" panose="020B0604020202020204" pitchFamily="34" charset="0"/>
              <a:buChar char="•"/>
            </a:pPr>
            <a:r>
              <a:rPr lang="en-GB" sz="3600" dirty="0">
                <a:latin typeface="Times New Roman" panose="02020603050405020304" pitchFamily="18" charset="0"/>
                <a:cs typeface="Times New Roman" panose="02020603050405020304" pitchFamily="18" charset="0"/>
              </a:rPr>
              <a:t>Performed data cleaning, validation, and preprocessing.</a:t>
            </a:r>
          </a:p>
          <a:p>
            <a:pPr marL="571500" lvl="0" indent="-571500">
              <a:buFont typeface="Arial" panose="020B0604020202020204" pitchFamily="34" charset="0"/>
              <a:buChar char="•"/>
            </a:pPr>
            <a:r>
              <a:rPr lang="en-GB" sz="3600" dirty="0">
                <a:latin typeface="Times New Roman" panose="02020603050405020304" pitchFamily="18" charset="0"/>
                <a:cs typeface="Times New Roman" panose="02020603050405020304" pitchFamily="18" charset="0"/>
              </a:rPr>
              <a:t>Explored the dataset and </a:t>
            </a:r>
            <a:r>
              <a:rPr lang="en-GB" sz="3600" dirty="0" err="1">
                <a:latin typeface="Times New Roman" panose="02020603050405020304" pitchFamily="18" charset="0"/>
                <a:cs typeface="Times New Roman" panose="02020603050405020304" pitchFamily="18" charset="0"/>
              </a:rPr>
              <a:t>analyzed</a:t>
            </a:r>
            <a:r>
              <a:rPr lang="en-GB" sz="3600" dirty="0">
                <a:latin typeface="Times New Roman" panose="02020603050405020304" pitchFamily="18" charset="0"/>
                <a:cs typeface="Times New Roman" panose="02020603050405020304" pitchFamily="18" charset="0"/>
              </a:rPr>
              <a:t> relevant KPIs.</a:t>
            </a:r>
          </a:p>
          <a:p>
            <a:pPr marL="571500" lvl="0" indent="-571500">
              <a:buFont typeface="Arial" panose="020B0604020202020204" pitchFamily="34" charset="0"/>
              <a:buChar char="•"/>
            </a:pPr>
            <a:r>
              <a:rPr lang="en-GB" sz="3600" dirty="0">
                <a:latin typeface="Times New Roman" panose="02020603050405020304" pitchFamily="18" charset="0"/>
                <a:cs typeface="Times New Roman" panose="02020603050405020304" pitchFamily="18" charset="0"/>
              </a:rPr>
              <a:t>Used interactive Power BI visualizations, filters, and KPI cards.</a:t>
            </a:r>
          </a:p>
          <a:p>
            <a:pPr marL="571500" indent="-571500">
              <a:buFont typeface="Arial" panose="020B0604020202020204" pitchFamily="34" charset="0"/>
              <a:buChar char="•"/>
            </a:pPr>
            <a:r>
              <a:rPr lang="en-GB" sz="3600" dirty="0">
                <a:latin typeface="Times New Roman" panose="02020603050405020304" pitchFamily="18" charset="0"/>
                <a:cs typeface="Times New Roman" panose="02020603050405020304" pitchFamily="18" charset="0"/>
              </a:rPr>
              <a:t>Selected relevant KPIs and organized them into clear dashboard visualizations for easier analysis. </a:t>
            </a:r>
          </a:p>
          <a:p>
            <a:pPr marL="571500" lvl="0" indent="-571500">
              <a:buFont typeface="Arial" panose="020B0604020202020204" pitchFamily="34" charset="0"/>
              <a:buChar char="•"/>
            </a:pPr>
            <a:endParaRPr lang="en-GB" sz="3600" dirty="0">
              <a:latin typeface="Times New Roman" panose="02020603050405020304" pitchFamily="18" charset="0"/>
              <a:cs typeface="Times New Roman" panose="02020603050405020304" pitchFamily="18" charset="0"/>
            </a:endParaRPr>
          </a:p>
          <a:p>
            <a:br>
              <a:rPr lang="en-GB" dirty="0"/>
            </a:br>
            <a:endParaRPr lang="en-GB" dirty="0"/>
          </a:p>
          <a:p>
            <a:endParaRPr lang="en-GB" dirty="0"/>
          </a:p>
        </p:txBody>
      </p:sp>
    </p:spTree>
    <p:extLst>
      <p:ext uri="{BB962C8B-B14F-4D97-AF65-F5344CB8AC3E}">
        <p14:creationId xmlns:p14="http://schemas.microsoft.com/office/powerpoint/2010/main" val="3988142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F305FD-0758-1142-31B1-076B6E0C9C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6600" y="1866900"/>
            <a:ext cx="8458199" cy="8214014"/>
          </a:xfrm>
          <a:prstGeom prst="rect">
            <a:avLst/>
          </a:prstGeom>
        </p:spPr>
      </p:pic>
      <p:sp>
        <p:nvSpPr>
          <p:cNvPr id="3" name="TextBox 2">
            <a:extLst>
              <a:ext uri="{FF2B5EF4-FFF2-40B4-BE49-F238E27FC236}">
                <a16:creationId xmlns:a16="http://schemas.microsoft.com/office/drawing/2014/main" id="{C44F65A5-7621-E0D2-EA4C-7EBE137407F8}"/>
              </a:ext>
            </a:extLst>
          </p:cNvPr>
          <p:cNvSpPr txBox="1"/>
          <p:nvPr/>
        </p:nvSpPr>
        <p:spPr>
          <a:xfrm>
            <a:off x="1306286" y="806210"/>
            <a:ext cx="8305800" cy="646331"/>
          </a:xfrm>
          <a:prstGeom prst="rect">
            <a:avLst/>
          </a:prstGeom>
          <a:noFill/>
        </p:spPr>
        <p:txBody>
          <a:bodyPr wrap="square" rtlCol="0">
            <a:spAutoFit/>
          </a:bodyPr>
          <a:lstStyle/>
          <a:p>
            <a:r>
              <a:rPr lang="en-GB" sz="3600" b="1" dirty="0">
                <a:latin typeface="Times New Roman" panose="02020603050405020304" pitchFamily="18" charset="0"/>
                <a:cs typeface="Times New Roman" panose="02020603050405020304" pitchFamily="18" charset="0"/>
              </a:rPr>
              <a:t>Workflow: </a:t>
            </a:r>
          </a:p>
        </p:txBody>
      </p:sp>
    </p:spTree>
    <p:extLst>
      <p:ext uri="{BB962C8B-B14F-4D97-AF65-F5344CB8AC3E}">
        <p14:creationId xmlns:p14="http://schemas.microsoft.com/office/powerpoint/2010/main" val="2381938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88561B-529B-E2A6-1F71-9588F5F23B64}"/>
              </a:ext>
            </a:extLst>
          </p:cNvPr>
          <p:cNvSpPr txBox="1"/>
          <p:nvPr/>
        </p:nvSpPr>
        <p:spPr>
          <a:xfrm>
            <a:off x="1219200" y="1061514"/>
            <a:ext cx="11430000" cy="707886"/>
          </a:xfrm>
          <a:prstGeom prst="rect">
            <a:avLst/>
          </a:prstGeom>
          <a:noFill/>
        </p:spPr>
        <p:txBody>
          <a:bodyPr wrap="square" rtlCol="0">
            <a:spAutoFit/>
          </a:bodyPr>
          <a:lstStyle/>
          <a:p>
            <a:r>
              <a:rPr lang="en-GB" sz="4000" b="1" dirty="0">
                <a:latin typeface="Times New Roman" panose="02020603050405020304" pitchFamily="18" charset="0"/>
                <a:cs typeface="Times New Roman" panose="02020603050405020304" pitchFamily="18" charset="0"/>
              </a:rPr>
              <a:t>Future Enhancements &amp; Key Insights</a:t>
            </a:r>
          </a:p>
        </p:txBody>
      </p:sp>
      <p:sp>
        <p:nvSpPr>
          <p:cNvPr id="3" name="TextBox 2">
            <a:extLst>
              <a:ext uri="{FF2B5EF4-FFF2-40B4-BE49-F238E27FC236}">
                <a16:creationId xmlns:a16="http://schemas.microsoft.com/office/drawing/2014/main" id="{7B40610B-3518-B0F4-9001-4D0765480F00}"/>
              </a:ext>
            </a:extLst>
          </p:cNvPr>
          <p:cNvSpPr txBox="1"/>
          <p:nvPr/>
        </p:nvSpPr>
        <p:spPr>
          <a:xfrm>
            <a:off x="1219200" y="2171700"/>
            <a:ext cx="13944600" cy="6186309"/>
          </a:xfrm>
          <a:prstGeom prst="rect">
            <a:avLst/>
          </a:prstGeom>
          <a:noFill/>
        </p:spPr>
        <p:txBody>
          <a:bodyPr wrap="square" rtlCol="0">
            <a:spAutoFit/>
          </a:bodyPr>
          <a:lstStyle/>
          <a:p>
            <a:r>
              <a:rPr lang="en-GB" sz="3600" b="1" dirty="0">
                <a:latin typeface="Times New Roman" panose="02020603050405020304" pitchFamily="18" charset="0"/>
                <a:cs typeface="Times New Roman" panose="02020603050405020304" pitchFamily="18" charset="0"/>
              </a:rPr>
              <a:t>Future Enhancements</a:t>
            </a:r>
          </a:p>
          <a:p>
            <a:pPr marL="571500" lvl="0" indent="-571500">
              <a:buFont typeface="Arial" panose="020B0604020202020204" pitchFamily="34" charset="0"/>
              <a:buChar char="•"/>
            </a:pPr>
            <a:r>
              <a:rPr lang="en-GB" sz="3600" dirty="0">
                <a:latin typeface="Times New Roman" panose="02020603050405020304" pitchFamily="18" charset="0"/>
                <a:cs typeface="Times New Roman" panose="02020603050405020304" pitchFamily="18" charset="0"/>
              </a:rPr>
              <a:t>Integrate IoT-based real-time shipment tracking.</a:t>
            </a:r>
          </a:p>
          <a:p>
            <a:pPr marL="571500" lvl="0" indent="-571500">
              <a:buFont typeface="Arial" panose="020B0604020202020204" pitchFamily="34" charset="0"/>
              <a:buChar char="•"/>
            </a:pPr>
            <a:r>
              <a:rPr lang="en-GB" sz="3600" dirty="0">
                <a:latin typeface="Times New Roman" panose="02020603050405020304" pitchFamily="18" charset="0"/>
                <a:cs typeface="Times New Roman" panose="02020603050405020304" pitchFamily="18" charset="0"/>
              </a:rPr>
              <a:t>Apply Machine Learning for demand forecasting.</a:t>
            </a:r>
          </a:p>
          <a:p>
            <a:pPr marL="571500" lvl="0" indent="-571500">
              <a:buFont typeface="Arial" panose="020B0604020202020204" pitchFamily="34" charset="0"/>
              <a:buChar char="•"/>
            </a:pPr>
            <a:r>
              <a:rPr lang="en-GB" sz="3600" dirty="0">
                <a:latin typeface="Times New Roman" panose="02020603050405020304" pitchFamily="18" charset="0"/>
                <a:cs typeface="Times New Roman" panose="02020603050405020304" pitchFamily="18" charset="0"/>
              </a:rPr>
              <a:t>Develop predictive delivery delay analysis.</a:t>
            </a:r>
          </a:p>
          <a:p>
            <a:pPr marL="571500" lvl="0" indent="-571500">
              <a:buFont typeface="Arial" panose="020B0604020202020204" pitchFamily="34" charset="0"/>
              <a:buChar char="•"/>
            </a:pPr>
            <a:r>
              <a:rPr lang="en-GB" sz="3600" dirty="0">
                <a:latin typeface="Times New Roman" panose="02020603050405020304" pitchFamily="18" charset="0"/>
                <a:cs typeface="Times New Roman" panose="02020603050405020304" pitchFamily="18" charset="0"/>
              </a:rPr>
              <a:t>Automate supply chain alerts and recommendations.</a:t>
            </a:r>
          </a:p>
          <a:p>
            <a:pPr marL="571500" lvl="0" indent="-571500">
              <a:buFont typeface="Arial" panose="020B0604020202020204" pitchFamily="34" charset="0"/>
              <a:buChar char="•"/>
            </a:pPr>
            <a:endParaRPr lang="en-GB" sz="3600" dirty="0">
              <a:latin typeface="Times New Roman" panose="02020603050405020304" pitchFamily="18" charset="0"/>
              <a:cs typeface="Times New Roman" panose="02020603050405020304" pitchFamily="18" charset="0"/>
            </a:endParaRPr>
          </a:p>
          <a:p>
            <a:r>
              <a:rPr lang="en-GB" sz="3600" b="1" dirty="0">
                <a:latin typeface="Times New Roman" panose="02020603050405020304" pitchFamily="18" charset="0"/>
                <a:cs typeface="Times New Roman" panose="02020603050405020304" pitchFamily="18" charset="0"/>
              </a:rPr>
              <a:t>Key Insights</a:t>
            </a:r>
          </a:p>
          <a:p>
            <a:pPr marL="571500" lvl="0" indent="-571500">
              <a:buFont typeface="Arial" panose="020B0604020202020204" pitchFamily="34" charset="0"/>
              <a:buChar char="•"/>
            </a:pPr>
            <a:r>
              <a:rPr lang="en-GB" sz="3600" dirty="0">
                <a:latin typeface="Times New Roman" panose="02020603050405020304" pitchFamily="18" charset="0"/>
                <a:cs typeface="Times New Roman" panose="02020603050405020304" pitchFamily="18" charset="0"/>
              </a:rPr>
              <a:t>Improved visibility of transportation and delivery performance.</a:t>
            </a:r>
          </a:p>
          <a:p>
            <a:pPr marL="571500" lvl="0" indent="-571500">
              <a:buFont typeface="Arial" panose="020B0604020202020204" pitchFamily="34" charset="0"/>
              <a:buChar char="•"/>
            </a:pPr>
            <a:r>
              <a:rPr lang="en-GB" sz="3600" dirty="0">
                <a:latin typeface="Times New Roman" panose="02020603050405020304" pitchFamily="18" charset="0"/>
                <a:cs typeface="Times New Roman" panose="02020603050405020304" pitchFamily="18" charset="0"/>
              </a:rPr>
              <a:t>Better monitoring of inventory and supplier performance.</a:t>
            </a:r>
          </a:p>
          <a:p>
            <a:pPr marL="571500" lvl="0" indent="-571500">
              <a:buFont typeface="Arial" panose="020B0604020202020204" pitchFamily="34" charset="0"/>
              <a:buChar char="•"/>
            </a:pPr>
            <a:r>
              <a:rPr lang="en-GB" sz="3600" dirty="0">
                <a:latin typeface="Times New Roman" panose="02020603050405020304" pitchFamily="18" charset="0"/>
                <a:cs typeface="Times New Roman" panose="02020603050405020304" pitchFamily="18" charset="0"/>
              </a:rPr>
              <a:t>Identified operational bottlenecks to support better decision-making.</a:t>
            </a:r>
          </a:p>
          <a:p>
            <a:endParaRPr lang="en-GB"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9328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F6FC39-32AD-86B2-D3DF-FA79B7B5233E}"/>
              </a:ext>
            </a:extLst>
          </p:cNvPr>
          <p:cNvSpPr txBox="1"/>
          <p:nvPr/>
        </p:nvSpPr>
        <p:spPr>
          <a:xfrm>
            <a:off x="1219200" y="674757"/>
            <a:ext cx="9829800" cy="707886"/>
          </a:xfrm>
          <a:prstGeom prst="rect">
            <a:avLst/>
          </a:prstGeom>
          <a:noFill/>
        </p:spPr>
        <p:txBody>
          <a:bodyPr wrap="square" rtlCol="0">
            <a:spAutoFit/>
          </a:bodyPr>
          <a:lstStyle/>
          <a:p>
            <a:r>
              <a:rPr lang="en-GB" sz="4000" b="1" dirty="0">
                <a:latin typeface="Times New Roman" panose="02020603050405020304" pitchFamily="18" charset="0"/>
                <a:cs typeface="Times New Roman" panose="02020603050405020304" pitchFamily="18" charset="0"/>
              </a:rPr>
              <a:t>Conclusion</a:t>
            </a:r>
          </a:p>
        </p:txBody>
      </p:sp>
      <p:sp>
        <p:nvSpPr>
          <p:cNvPr id="3" name="TextBox 2">
            <a:extLst>
              <a:ext uri="{FF2B5EF4-FFF2-40B4-BE49-F238E27FC236}">
                <a16:creationId xmlns:a16="http://schemas.microsoft.com/office/drawing/2014/main" id="{AB763AD9-BB18-F405-0AAC-30EA668CD318}"/>
              </a:ext>
            </a:extLst>
          </p:cNvPr>
          <p:cNvSpPr txBox="1"/>
          <p:nvPr/>
        </p:nvSpPr>
        <p:spPr>
          <a:xfrm>
            <a:off x="1219200" y="1790700"/>
            <a:ext cx="12801600" cy="8402300"/>
          </a:xfrm>
          <a:prstGeom prst="rect">
            <a:avLst/>
          </a:prstGeom>
          <a:noFill/>
        </p:spPr>
        <p:txBody>
          <a:bodyPr wrap="square" rtlCol="0">
            <a:spAutoFit/>
          </a:bodyPr>
          <a:lstStyle/>
          <a:p>
            <a:r>
              <a:rPr lang="en-GB" sz="3600" dirty="0">
                <a:latin typeface="Times New Roman" panose="02020603050405020304" pitchFamily="18" charset="0"/>
                <a:cs typeface="Times New Roman" panose="02020603050405020304" pitchFamily="18" charset="0"/>
              </a:rPr>
              <a:t>The </a:t>
            </a:r>
            <a:r>
              <a:rPr lang="en-GB" sz="3600" b="1" dirty="0">
                <a:latin typeface="Times New Roman" panose="02020603050405020304" pitchFamily="18" charset="0"/>
                <a:cs typeface="Times New Roman" panose="02020603050405020304" pitchFamily="18" charset="0"/>
              </a:rPr>
              <a:t>Supply Chain Visibility &amp; Optimization</a:t>
            </a:r>
            <a:r>
              <a:rPr lang="en-GB" sz="3600" dirty="0">
                <a:latin typeface="Times New Roman" panose="02020603050405020304" pitchFamily="18" charset="0"/>
                <a:cs typeface="Times New Roman" panose="02020603050405020304" pitchFamily="18" charset="0"/>
              </a:rPr>
              <a:t> project successfully transformed supply chain data into meaningful insights through data analytics and interactive Power BI dashboards.</a:t>
            </a:r>
          </a:p>
          <a:p>
            <a:endParaRPr lang="en-GB" sz="3600" dirty="0">
              <a:latin typeface="Times New Roman" panose="02020603050405020304" pitchFamily="18" charset="0"/>
              <a:cs typeface="Times New Roman" panose="02020603050405020304" pitchFamily="18" charset="0"/>
            </a:endParaRPr>
          </a:p>
          <a:p>
            <a:r>
              <a:rPr lang="en-GB" sz="3600" b="1" dirty="0">
                <a:latin typeface="Times New Roman" panose="02020603050405020304" pitchFamily="18" charset="0"/>
                <a:cs typeface="Times New Roman" panose="02020603050405020304" pitchFamily="18" charset="0"/>
              </a:rPr>
              <a:t>Technical Skills</a:t>
            </a:r>
          </a:p>
          <a:p>
            <a:pPr marL="571500" lvl="0" indent="-571500">
              <a:buFont typeface="Arial" panose="020B0604020202020204" pitchFamily="34" charset="0"/>
              <a:buChar char="•"/>
            </a:pPr>
            <a:r>
              <a:rPr lang="en-GB" sz="3600" dirty="0">
                <a:latin typeface="Times New Roman" panose="02020603050405020304" pitchFamily="18" charset="0"/>
                <a:cs typeface="Times New Roman" panose="02020603050405020304" pitchFamily="18" charset="0"/>
              </a:rPr>
              <a:t>Power BI &amp; Data Visualization</a:t>
            </a:r>
          </a:p>
          <a:p>
            <a:pPr marL="571500" lvl="0" indent="-571500">
              <a:buFont typeface="Arial" panose="020B0604020202020204" pitchFamily="34" charset="0"/>
              <a:buChar char="•"/>
            </a:pPr>
            <a:r>
              <a:rPr lang="en-GB" sz="3600" dirty="0">
                <a:latin typeface="Times New Roman" panose="02020603050405020304" pitchFamily="18" charset="0"/>
                <a:cs typeface="Times New Roman" panose="02020603050405020304" pitchFamily="18" charset="0"/>
              </a:rPr>
              <a:t>Power Query &amp; DAX</a:t>
            </a:r>
          </a:p>
          <a:p>
            <a:pPr marL="571500" lvl="0" indent="-571500">
              <a:buFont typeface="Arial" panose="020B0604020202020204" pitchFamily="34" charset="0"/>
              <a:buChar char="•"/>
            </a:pPr>
            <a:r>
              <a:rPr lang="en-GB" sz="3600" dirty="0">
                <a:latin typeface="Times New Roman" panose="02020603050405020304" pitchFamily="18" charset="0"/>
                <a:cs typeface="Times New Roman" panose="02020603050405020304" pitchFamily="18" charset="0"/>
              </a:rPr>
              <a:t>Data Cleaning &amp; KPI Analysis</a:t>
            </a:r>
          </a:p>
          <a:p>
            <a:pPr lvl="0"/>
            <a:endParaRPr lang="en-GB" sz="3600" dirty="0">
              <a:latin typeface="Times New Roman" panose="02020603050405020304" pitchFamily="18" charset="0"/>
              <a:cs typeface="Times New Roman" panose="02020603050405020304" pitchFamily="18" charset="0"/>
            </a:endParaRPr>
          </a:p>
          <a:p>
            <a:r>
              <a:rPr lang="en-GB" sz="3600" b="1" dirty="0">
                <a:latin typeface="Times New Roman" panose="02020603050405020304" pitchFamily="18" charset="0"/>
                <a:cs typeface="Times New Roman" panose="02020603050405020304" pitchFamily="18" charset="0"/>
              </a:rPr>
              <a:t>Soft Skills</a:t>
            </a:r>
          </a:p>
          <a:p>
            <a:pPr marL="571500" lvl="0" indent="-571500">
              <a:buFont typeface="Arial" panose="020B0604020202020204" pitchFamily="34" charset="0"/>
              <a:buChar char="•"/>
            </a:pPr>
            <a:r>
              <a:rPr lang="en-GB" sz="3600" dirty="0">
                <a:latin typeface="Times New Roman" panose="02020603050405020304" pitchFamily="18" charset="0"/>
                <a:cs typeface="Times New Roman" panose="02020603050405020304" pitchFamily="18" charset="0"/>
              </a:rPr>
              <a:t>Problem Solving</a:t>
            </a:r>
          </a:p>
          <a:p>
            <a:pPr marL="571500" lvl="0" indent="-571500">
              <a:buFont typeface="Arial" panose="020B0604020202020204" pitchFamily="34" charset="0"/>
              <a:buChar char="•"/>
            </a:pPr>
            <a:r>
              <a:rPr lang="en-GB" sz="3600" dirty="0">
                <a:latin typeface="Times New Roman" panose="02020603050405020304" pitchFamily="18" charset="0"/>
                <a:cs typeface="Times New Roman" panose="02020603050405020304" pitchFamily="18" charset="0"/>
              </a:rPr>
              <a:t>Communication</a:t>
            </a:r>
          </a:p>
          <a:p>
            <a:pPr marL="571500" lvl="0" indent="-571500">
              <a:buFont typeface="Arial" panose="020B0604020202020204" pitchFamily="34" charset="0"/>
              <a:buChar char="•"/>
            </a:pPr>
            <a:r>
              <a:rPr lang="en-GB" sz="3600" dirty="0">
                <a:latin typeface="Times New Roman" panose="02020603050405020304" pitchFamily="18" charset="0"/>
                <a:cs typeface="Times New Roman" panose="02020603050405020304" pitchFamily="18" charset="0"/>
              </a:rPr>
              <a:t>Teamwork</a:t>
            </a:r>
          </a:p>
          <a:p>
            <a:pPr marL="571500" lvl="0" indent="-571500">
              <a:buFont typeface="Arial" panose="020B0604020202020204" pitchFamily="34" charset="0"/>
              <a:buChar char="•"/>
            </a:pPr>
            <a:r>
              <a:rPr lang="en-GB" sz="3600" dirty="0">
                <a:latin typeface="Times New Roman" panose="02020603050405020304" pitchFamily="18" charset="0"/>
                <a:cs typeface="Times New Roman" panose="02020603050405020304" pitchFamily="18" charset="0"/>
              </a:rPr>
              <a:t>Presentation</a:t>
            </a:r>
          </a:p>
          <a:p>
            <a:endParaRPr lang="en-GB"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132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C3E67A-1F66-A161-166B-EB4DD3E0F979}"/>
              </a:ext>
            </a:extLst>
          </p:cNvPr>
          <p:cNvSpPr txBox="1"/>
          <p:nvPr/>
        </p:nvSpPr>
        <p:spPr>
          <a:xfrm>
            <a:off x="914400" y="571500"/>
            <a:ext cx="11582400" cy="707886"/>
          </a:xfrm>
          <a:prstGeom prst="rect">
            <a:avLst/>
          </a:prstGeom>
          <a:noFill/>
        </p:spPr>
        <p:txBody>
          <a:bodyPr wrap="square" rtlCol="0">
            <a:spAutoFit/>
          </a:bodyPr>
          <a:lstStyle/>
          <a:p>
            <a:r>
              <a:rPr lang="en-GB" sz="4000" b="1" dirty="0">
                <a:latin typeface="Times New Roman" panose="02020603050405020304" pitchFamily="18" charset="0"/>
                <a:cs typeface="Times New Roman" panose="02020603050405020304" pitchFamily="18" charset="0"/>
              </a:rPr>
              <a:t>Acknowledgements &amp; References</a:t>
            </a:r>
          </a:p>
        </p:txBody>
      </p:sp>
      <p:sp>
        <p:nvSpPr>
          <p:cNvPr id="3" name="TextBox 2">
            <a:extLst>
              <a:ext uri="{FF2B5EF4-FFF2-40B4-BE49-F238E27FC236}">
                <a16:creationId xmlns:a16="http://schemas.microsoft.com/office/drawing/2014/main" id="{FAE561FD-3253-8317-E6F0-FC1EA7312DF9}"/>
              </a:ext>
            </a:extLst>
          </p:cNvPr>
          <p:cNvSpPr txBox="1"/>
          <p:nvPr/>
        </p:nvSpPr>
        <p:spPr>
          <a:xfrm>
            <a:off x="947057" y="1485900"/>
            <a:ext cx="4005944" cy="1754326"/>
          </a:xfrm>
          <a:prstGeom prst="rect">
            <a:avLst/>
          </a:prstGeom>
          <a:noFill/>
        </p:spPr>
        <p:txBody>
          <a:bodyPr wrap="square" rtlCol="0">
            <a:spAutoFit/>
          </a:bodyPr>
          <a:lstStyle/>
          <a:p>
            <a:r>
              <a:rPr lang="en-GB" sz="3600" b="1" dirty="0">
                <a:latin typeface="Times New Roman" panose="02020603050405020304" pitchFamily="18" charset="0"/>
                <a:cs typeface="Times New Roman" panose="02020603050405020304" pitchFamily="18" charset="0"/>
              </a:rPr>
              <a:t>Acknowledgements</a:t>
            </a:r>
          </a:p>
          <a:p>
            <a:pPr lvl="0"/>
            <a:endParaRPr lang="en-GB" sz="3600" dirty="0">
              <a:latin typeface="Times New Roman" panose="02020603050405020304" pitchFamily="18" charset="0"/>
              <a:cs typeface="Times New Roman" panose="02020603050405020304" pitchFamily="18" charset="0"/>
            </a:endParaRPr>
          </a:p>
          <a:p>
            <a:endParaRPr lang="en-GB" sz="3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9173048-CE82-A546-93A6-975C9A15DC8C}"/>
              </a:ext>
            </a:extLst>
          </p:cNvPr>
          <p:cNvSpPr txBox="1"/>
          <p:nvPr/>
        </p:nvSpPr>
        <p:spPr>
          <a:xfrm>
            <a:off x="1143000" y="2628900"/>
            <a:ext cx="14782800" cy="6001643"/>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We would like to express our sincere gratitude to the Infosys Springboard Team for organizing this highly enriching virtual internship program and for providing a structured, industry-aligned learning platform. The well-designed modules, milestone-based framework, and practical orientation of the internship enabled us to gain meaningful exposure to real-world business intelligence applications.</a:t>
            </a:r>
          </a:p>
          <a:p>
            <a:r>
              <a:rPr lang="en-IN" sz="3200" dirty="0">
                <a:latin typeface="Times New Roman" panose="02020603050405020304" pitchFamily="18" charset="0"/>
                <a:cs typeface="Times New Roman" panose="02020603050405020304" pitchFamily="18" charset="0"/>
              </a:rPr>
              <a:t>We extend our heartfelt appreciation to our mentor, Ms. Nityasree, for her consistent guidance, valuable feedback, and continuous encouragement throughout the project lifecycle. Her insights and structured direction played a significant role in shaping the analytical depth and professional quality of this project. We would also like to acknowledge our team members for their strong collaboration, accountability, and shared commitment toward achieving project objectives. </a:t>
            </a:r>
            <a:endParaRPr lang="en-GB" sz="3200" dirty="0">
              <a:latin typeface="Times New Roman" panose="02020603050405020304" pitchFamily="18" charset="0"/>
              <a:cs typeface="Times New Roman" panose="02020603050405020304" pitchFamily="18" charset="0"/>
            </a:endParaRPr>
          </a:p>
          <a:p>
            <a:endParaRPr lang="en-GB" sz="3200" dirty="0"/>
          </a:p>
        </p:txBody>
      </p:sp>
    </p:spTree>
    <p:extLst>
      <p:ext uri="{BB962C8B-B14F-4D97-AF65-F5344CB8AC3E}">
        <p14:creationId xmlns:p14="http://schemas.microsoft.com/office/powerpoint/2010/main" val="1197838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1D3D73-B1B8-E587-B91F-390D2F017823}"/>
              </a:ext>
            </a:extLst>
          </p:cNvPr>
          <p:cNvSpPr txBox="1"/>
          <p:nvPr/>
        </p:nvSpPr>
        <p:spPr>
          <a:xfrm>
            <a:off x="1143000" y="1104900"/>
            <a:ext cx="15087600" cy="7478970"/>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The coordinated distribution of responsibilities, open communication, and collective problem-solving approach significantly contributed to the successful execution of this project. In addition, we extend our appreciation to the creators and maintainers of Microsoft Power BI documentation and community resources, which served as essential references during dashboard development and KPI implementation. We are also grateful to Kaggle for providing access to publicly available datasets that facilitated practical, hands-on analytical experience. The structured learning resources and practical exposure provided through this internship have significantly strengthened our analytical thinking, technical proficiency, and business interpretation skills. This experience has enhanced our ability to approach data with a strategic mindset, collaborate effectively within a team environment, and execute projects with professional discipline. Overall, this internship has been a meaningful milestone in our academic and professional journey, reinforcing the value of data-driven decision-making and structured analytical execution in modern business environments.</a:t>
            </a:r>
            <a:endParaRPr lang="en-GB" sz="3200" dirty="0">
              <a:latin typeface="Times New Roman" panose="02020603050405020304" pitchFamily="18" charset="0"/>
              <a:cs typeface="Times New Roman" panose="02020603050405020304" pitchFamily="18" charset="0"/>
            </a:endParaRPr>
          </a:p>
          <a:p>
            <a:endParaRPr lang="en-GB"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9694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C55CB0-F84F-8256-D02C-7A3B7964C386}"/>
              </a:ext>
            </a:extLst>
          </p:cNvPr>
          <p:cNvSpPr txBox="1"/>
          <p:nvPr/>
        </p:nvSpPr>
        <p:spPr>
          <a:xfrm>
            <a:off x="1458686" y="1523999"/>
            <a:ext cx="9677400" cy="4062651"/>
          </a:xfrm>
          <a:prstGeom prst="rect">
            <a:avLst/>
          </a:prstGeom>
          <a:noFill/>
        </p:spPr>
        <p:txBody>
          <a:bodyPr wrap="square" rtlCol="0">
            <a:spAutoFit/>
          </a:bodyPr>
          <a:lstStyle/>
          <a:p>
            <a:pPr marL="571500" lvl="0" indent="-571500">
              <a:lnSpc>
                <a:spcPct val="150000"/>
              </a:lnSpc>
              <a:buFont typeface="Arial" panose="020B0604020202020204" pitchFamily="34" charset="0"/>
              <a:buChar char="•"/>
            </a:pPr>
            <a:r>
              <a:rPr lang="en-GB" sz="3200" dirty="0">
                <a:latin typeface="Times New Roman" panose="02020603050405020304" pitchFamily="18" charset="0"/>
                <a:cs typeface="Times New Roman" panose="02020603050405020304" pitchFamily="18" charset="0"/>
              </a:rPr>
              <a:t>Kaggle – Supply Chain Dataset</a:t>
            </a:r>
          </a:p>
          <a:p>
            <a:pPr marL="571500" lvl="0" indent="-571500">
              <a:lnSpc>
                <a:spcPct val="150000"/>
              </a:lnSpc>
              <a:buFont typeface="Arial" panose="020B0604020202020204" pitchFamily="34" charset="0"/>
              <a:buChar char="•"/>
            </a:pPr>
            <a:r>
              <a:rPr lang="en-GB" sz="3200" dirty="0">
                <a:latin typeface="Times New Roman" panose="02020603050405020304" pitchFamily="18" charset="0"/>
                <a:cs typeface="Times New Roman" panose="02020603050405020304" pitchFamily="18" charset="0"/>
              </a:rPr>
              <a:t>Microsoft Power BI</a:t>
            </a:r>
          </a:p>
          <a:p>
            <a:pPr marL="571500" lvl="0" indent="-571500">
              <a:lnSpc>
                <a:spcPct val="150000"/>
              </a:lnSpc>
              <a:buFont typeface="Arial" panose="020B0604020202020204" pitchFamily="34" charset="0"/>
              <a:buChar char="•"/>
            </a:pPr>
            <a:r>
              <a:rPr lang="en-GB" sz="3200" dirty="0">
                <a:latin typeface="Times New Roman" panose="02020603050405020304" pitchFamily="18" charset="0"/>
                <a:cs typeface="Times New Roman" panose="02020603050405020304" pitchFamily="18" charset="0"/>
              </a:rPr>
              <a:t>Infosys Springboard Learning Materials</a:t>
            </a:r>
          </a:p>
          <a:p>
            <a:pPr marL="571500" lvl="0" indent="-571500">
              <a:lnSpc>
                <a:spcPct val="150000"/>
              </a:lnSpc>
              <a:buFont typeface="Arial" panose="020B0604020202020204" pitchFamily="34" charset="0"/>
              <a:buChar char="•"/>
            </a:pPr>
            <a:r>
              <a:rPr lang="en-GB" sz="3200" dirty="0">
                <a:latin typeface="Times New Roman" panose="02020603050405020304" pitchFamily="18" charset="0"/>
                <a:cs typeface="Times New Roman" panose="02020603050405020304" pitchFamily="18" charset="0"/>
              </a:rPr>
              <a:t>Project Dataset, Dashboard &amp; Internship Documentation</a:t>
            </a:r>
          </a:p>
          <a:p>
            <a:endParaRPr lang="en-GB" dirty="0"/>
          </a:p>
        </p:txBody>
      </p:sp>
      <p:sp>
        <p:nvSpPr>
          <p:cNvPr id="3" name="TextBox 2">
            <a:extLst>
              <a:ext uri="{FF2B5EF4-FFF2-40B4-BE49-F238E27FC236}">
                <a16:creationId xmlns:a16="http://schemas.microsoft.com/office/drawing/2014/main" id="{DA910CDF-8261-6216-5BF2-9EE4B4754D1B}"/>
              </a:ext>
            </a:extLst>
          </p:cNvPr>
          <p:cNvSpPr txBox="1"/>
          <p:nvPr/>
        </p:nvSpPr>
        <p:spPr>
          <a:xfrm>
            <a:off x="1480457" y="885735"/>
            <a:ext cx="7010400" cy="1200329"/>
          </a:xfrm>
          <a:prstGeom prst="rect">
            <a:avLst/>
          </a:prstGeom>
          <a:noFill/>
        </p:spPr>
        <p:txBody>
          <a:bodyPr wrap="square" rtlCol="0">
            <a:spAutoFit/>
          </a:bodyPr>
          <a:lstStyle/>
          <a:p>
            <a:r>
              <a:rPr lang="en-GB" sz="3600" b="1" dirty="0">
                <a:latin typeface="Times New Roman" panose="02020603050405020304" pitchFamily="18" charset="0"/>
                <a:cs typeface="Times New Roman" panose="02020603050405020304" pitchFamily="18" charset="0"/>
              </a:rPr>
              <a:t>References</a:t>
            </a:r>
          </a:p>
          <a:p>
            <a:endParaRPr lang="en-GB" sz="3600" dirty="0"/>
          </a:p>
        </p:txBody>
      </p:sp>
    </p:spTree>
    <p:extLst>
      <p:ext uri="{BB962C8B-B14F-4D97-AF65-F5344CB8AC3E}">
        <p14:creationId xmlns:p14="http://schemas.microsoft.com/office/powerpoint/2010/main" val="4028937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331817" y="2794132"/>
            <a:ext cx="9747983" cy="2606226"/>
          </a:xfrm>
          <a:prstGeom prst="rect">
            <a:avLst/>
          </a:prstGeom>
        </p:spPr>
        <p:txBody>
          <a:bodyPr lIns="0" tIns="0" rIns="0" bIns="0" rtlCol="0" anchor="t">
            <a:spAutoFit/>
          </a:bodyPr>
          <a:lstStyle/>
          <a:p>
            <a:pPr algn="ctr">
              <a:lnSpc>
                <a:spcPts val="21412"/>
              </a:lnSpc>
              <a:spcBef>
                <a:spcPct val="0"/>
              </a:spcBef>
            </a:pPr>
            <a:r>
              <a:rPr lang="en-US" sz="15294" b="1">
                <a:solidFill>
                  <a:srgbClr val="000000"/>
                </a:solidFill>
                <a:latin typeface="Canva Sans Bold"/>
                <a:ea typeface="Canva Sans Bold"/>
                <a:cs typeface="Canva Sans Bold"/>
                <a:sym typeface="Canva Sans Bold"/>
              </a:rPr>
              <a:t>Thank You</a:t>
            </a:r>
          </a:p>
        </p:txBody>
      </p:sp>
    </p:spTree>
  </p:cSld>
  <p:clrMapOvr>
    <a:masterClrMapping/>
  </p:clrMapOvr>
</p:sld>
</file>

<file path=ppt/theme/theme1.xml><?xml version="1.0" encoding="utf-8"?>
<a:theme xmlns:a="http://schemas.openxmlformats.org/drawingml/2006/main" name="Facet">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3357</TotalTime>
  <Words>682</Words>
  <Application>Microsoft Office PowerPoint</Application>
  <PresentationFormat>Custom</PresentationFormat>
  <Paragraphs>87</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Canva Sans Bold</vt:lpstr>
      <vt:lpstr>Arial</vt:lpstr>
      <vt:lpstr>Inter Medium</vt:lpstr>
      <vt:lpstr>Trebuchet MS</vt:lpstr>
      <vt:lpstr>Wingdings 3</vt:lpstr>
      <vt:lpstr>Times New Roman</vt:lpstr>
      <vt:lpstr>Canva Sans</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Infosys  INTERNSHIP Milestone 1 presentation</dc:title>
  <dc:creator>Student</dc:creator>
  <cp:lastModifiedBy>Dell</cp:lastModifiedBy>
  <cp:revision>19</cp:revision>
  <dcterms:created xsi:type="dcterms:W3CDTF">2006-08-16T00:00:00Z</dcterms:created>
  <dcterms:modified xsi:type="dcterms:W3CDTF">2026-08-25T14:16:05Z</dcterms:modified>
  <dc:identifier>DAHOw308CdU</dc:identifier>
</cp:coreProperties>
</file>